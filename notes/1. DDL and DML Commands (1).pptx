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4"/>
  </p:sldMasterIdLst>
  <p:notesMasterIdLst>
    <p:notesMasterId r:id="rId38"/>
  </p:notesMasterIdLst>
  <p:sldIdLst>
    <p:sldId id="256" r:id="rId5"/>
    <p:sldId id="285" r:id="rId6"/>
    <p:sldId id="297" r:id="rId7"/>
    <p:sldId id="321" r:id="rId8"/>
    <p:sldId id="320" r:id="rId9"/>
    <p:sldId id="322" r:id="rId10"/>
    <p:sldId id="323" r:id="rId11"/>
    <p:sldId id="324" r:id="rId12"/>
    <p:sldId id="325" r:id="rId13"/>
    <p:sldId id="326" r:id="rId14"/>
    <p:sldId id="327" r:id="rId15"/>
    <p:sldId id="328" r:id="rId16"/>
    <p:sldId id="329" r:id="rId17"/>
    <p:sldId id="330" r:id="rId18"/>
    <p:sldId id="331" r:id="rId19"/>
    <p:sldId id="332" r:id="rId20"/>
    <p:sldId id="333" r:id="rId21"/>
    <p:sldId id="334" r:id="rId22"/>
    <p:sldId id="335" r:id="rId23"/>
    <p:sldId id="336" r:id="rId24"/>
    <p:sldId id="337" r:id="rId25"/>
    <p:sldId id="338" r:id="rId26"/>
    <p:sldId id="339" r:id="rId27"/>
    <p:sldId id="340" r:id="rId28"/>
    <p:sldId id="341" r:id="rId29"/>
    <p:sldId id="342" r:id="rId30"/>
    <p:sldId id="343" r:id="rId31"/>
    <p:sldId id="344" r:id="rId32"/>
    <p:sldId id="345" r:id="rId33"/>
    <p:sldId id="346" r:id="rId34"/>
    <p:sldId id="347" r:id="rId35"/>
    <p:sldId id="348" r:id="rId36"/>
    <p:sldId id="319" r:id="rId37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3"/>
  </p:normalViewPr>
  <p:slideViewPr>
    <p:cSldViewPr>
      <p:cViewPr varScale="1">
        <p:scale>
          <a:sx n="137" d="100"/>
          <a:sy n="137" d="100"/>
        </p:scale>
        <p:origin x="848" y="19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095501-73F2-41BA-85CC-22557878FAFE}" type="datetimeFigureOut">
              <a:rPr lang="en-IN" smtClean="0"/>
              <a:t>10/07/26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6130DD-32EB-4721-81EC-BC5717B4C7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7249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6130DD-32EB-4721-81EC-BC5717B4C7A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00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6130DD-32EB-4721-81EC-BC5717B4C7AA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5394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2914650"/>
            <a:ext cx="6858000" cy="74295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3843338"/>
            <a:ext cx="6858000" cy="40005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4766310"/>
            <a:ext cx="2286000" cy="274320"/>
          </a:xfrm>
        </p:spPr>
        <p:txBody>
          <a:bodyPr/>
          <a:lstStyle>
            <a:lvl1pPr>
              <a:defRPr sz="1400"/>
            </a:lvl1pPr>
          </a:lstStyle>
          <a:p>
            <a:fld id="{03E3DE14-B0D4-4347-8300-FFE061AA914D}" type="datetime1">
              <a:rPr lang="en-US" smtClean="0"/>
              <a:t>7/10/26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4766310"/>
            <a:ext cx="3474720" cy="274320"/>
          </a:xfrm>
        </p:spPr>
        <p:txBody>
          <a:bodyPr/>
          <a:lstStyle/>
          <a:p>
            <a:r>
              <a:rPr lang="en-US"/>
              <a:t>Dr. M. Premalatha, VIT Chennai</a:t>
            </a:r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4766310"/>
            <a:ext cx="1219200" cy="27432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2736056"/>
            <a:ext cx="7315200" cy="96012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3786188"/>
            <a:ext cx="7315200" cy="51435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2736056"/>
            <a:ext cx="228600" cy="96012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3786188"/>
            <a:ext cx="228600" cy="51435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DECFC-73EE-462B-BC6A-5174BEE50442}" type="datetime1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Premalatha, VIT Chennai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8229600" cy="370332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228850"/>
            <a:ext cx="6858000" cy="8001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3200400"/>
            <a:ext cx="6781800" cy="85725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4766310"/>
            <a:ext cx="2286000" cy="274320"/>
          </a:xfrm>
        </p:spPr>
        <p:txBody>
          <a:bodyPr/>
          <a:lstStyle/>
          <a:p>
            <a:fld id="{3E377600-0684-4561-93D9-20DD3D7BA5FB}" type="datetime1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4766310"/>
            <a:ext cx="3474720" cy="274320"/>
          </a:xfrm>
        </p:spPr>
        <p:txBody>
          <a:bodyPr/>
          <a:lstStyle/>
          <a:p>
            <a:r>
              <a:rPr lang="en-US"/>
              <a:t>Dr. M. Premalatha, VIT Chennai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4766310"/>
            <a:ext cx="1520952" cy="27432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114550"/>
            <a:ext cx="7315200" cy="96012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114550"/>
            <a:ext cx="228600" cy="96012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450"/>
            <a:ext cx="8229600" cy="6858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46AD5-DECF-48DA-9755-CF65BEAF0825}" type="datetime1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Premalatha, VIT Chennai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4041648" cy="370332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912114"/>
            <a:ext cx="4041648" cy="370332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450"/>
            <a:ext cx="8229600" cy="6858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64406"/>
            <a:ext cx="4040188" cy="51435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1" y="971550"/>
            <a:ext cx="4041775" cy="51435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F73A-716D-4F8A-A306-281E690DDF2D}" type="datetime1">
              <a:rPr lang="en-US" smtClean="0"/>
              <a:t>7/10/26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Premalatha, VIT Chennai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1600200"/>
            <a:ext cx="4038600" cy="302895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1600200"/>
            <a:ext cx="4038600" cy="302895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450"/>
            <a:ext cx="8229600" cy="6858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C135F-2AA6-41E1-8B71-473C962A7E08}" type="datetime1">
              <a:rPr lang="en-US" smtClean="0"/>
              <a:t>7/10/26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Premalatha, VIT Chennai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42957" y="4835567"/>
            <a:ext cx="143137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89BE0-E3DD-43D0-A2A6-1CE1988BBB54}" type="datetime1">
              <a:rPr lang="en-US" smtClean="0"/>
              <a:t>7/10/26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Premalatha, VIT Chennai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4764881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42957" y="4835567"/>
            <a:ext cx="143137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228600"/>
            <a:ext cx="2514600" cy="62865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914401"/>
            <a:ext cx="2514600" cy="3632597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DD23D-5E46-4DAE-A1C4-EB013C9B6F79}" type="datetime1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Premalatha, VIT Chennai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4764881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915025" y="2493169"/>
            <a:ext cx="452628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42957" y="4835567"/>
            <a:ext cx="143137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228600"/>
            <a:ext cx="5715000" cy="428625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75642"/>
            <a:ext cx="8229600" cy="506016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428750"/>
            <a:ext cx="8229600" cy="3202686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914400"/>
            <a:ext cx="8229600" cy="40005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F13B8-4F45-4138-91C1-A5892F6C4E8E}" type="datetime1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Premalatha, VIT Chennai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4764881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42957" y="4835567"/>
            <a:ext cx="143137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375642"/>
            <a:ext cx="182880" cy="51435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1AD93-825F-4EEE-A2ED-62BD7B01836C}" type="datetime1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Premalatha, VIT Chennai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728EB-D2E5-4D8E-A143-9A280DE2206B}" type="datetime1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Premalatha, VIT Chennai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4764881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42957" y="4835567"/>
            <a:ext cx="143137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4361127" y="2401464"/>
            <a:ext cx="438912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"/>
            <a:ext cx="8229600" cy="74295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914400"/>
            <a:ext cx="8229600" cy="3682746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4767263"/>
            <a:ext cx="2289048" cy="27432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03887399-8E18-455C-AE95-0A2C2F5AD911}" type="datetime1">
              <a:rPr lang="en-US" smtClean="0"/>
              <a:t>7/10/26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4767263"/>
            <a:ext cx="3505200" cy="27432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Dr. M. Premalatha, VIT Chennai</a:t>
            </a: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4767263"/>
            <a:ext cx="1981200" cy="27432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4764881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85725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42957" y="4835567"/>
            <a:ext cx="143137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sldNum="0" hd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209550"/>
            <a:ext cx="8610600" cy="685800"/>
          </a:xfrm>
        </p:spPr>
        <p:txBody>
          <a:bodyPr>
            <a:noAutofit/>
          </a:bodyPr>
          <a:lstStyle/>
          <a:p>
            <a:pPr algn="ctr"/>
            <a:r>
              <a:rPr lang="en-IN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Database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2600" y="2190750"/>
            <a:ext cx="5638800" cy="2209800"/>
          </a:xfrm>
        </p:spPr>
        <p:txBody>
          <a:bodyPr>
            <a:noAutofit/>
          </a:bodyPr>
          <a:lstStyle/>
          <a:p>
            <a:endParaRPr lang="en-IN" sz="38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IN" sz="3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DDL and DML Commands</a:t>
            </a:r>
          </a:p>
        </p:txBody>
      </p:sp>
    </p:spTree>
    <p:extLst>
      <p:ext uri="{BB962C8B-B14F-4D97-AF65-F5344CB8AC3E}">
        <p14:creationId xmlns:p14="http://schemas.microsoft.com/office/powerpoint/2010/main" val="63601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99214" y="-20822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Topics to be Covered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62000" y="1352550"/>
            <a:ext cx="7315200" cy="3276600"/>
          </a:xfrm>
        </p:spPr>
        <p:txBody>
          <a:bodyPr>
            <a:noAutofit/>
          </a:bodyPr>
          <a:lstStyle/>
          <a:p>
            <a:pPr algn="just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Introduction (Data, Database, DBMS)</a:t>
            </a:r>
          </a:p>
          <a:p>
            <a:pPr algn="just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SQL</a:t>
            </a:r>
          </a:p>
          <a:p>
            <a:pPr algn="just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DDL Commands</a:t>
            </a:r>
          </a:p>
          <a:p>
            <a:pPr lvl="1" algn="just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Create table</a:t>
            </a:r>
          </a:p>
          <a:p>
            <a:pPr lvl="1" algn="just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Alter table</a:t>
            </a:r>
          </a:p>
          <a:p>
            <a:pPr lvl="1" algn="just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Truncate table</a:t>
            </a:r>
          </a:p>
          <a:p>
            <a:pPr lvl="1" algn="just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Drop table</a:t>
            </a:r>
          </a:p>
          <a:p>
            <a:pPr algn="just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DML Commands</a:t>
            </a:r>
          </a:p>
          <a:p>
            <a:pPr lvl="1" algn="just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Insert </a:t>
            </a:r>
          </a:p>
          <a:p>
            <a:pPr lvl="1" algn="just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</a:p>
          <a:p>
            <a:pPr lvl="1" algn="just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</a:p>
          <a:p>
            <a:pPr lvl="1" algn="just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</a:p>
          <a:p>
            <a:pPr lvl="1" algn="just"/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3470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1750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87D17-93B8-459A-BF89-974C00CD0E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1276350"/>
            <a:ext cx="7391400" cy="3581400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Database</a:t>
            </a:r>
          </a:p>
          <a:p>
            <a:pPr lvl="1" algn="just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Collection of Interrelated Data</a:t>
            </a:r>
          </a:p>
          <a:p>
            <a:pPr algn="just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Database Management Systems</a:t>
            </a:r>
          </a:p>
          <a:p>
            <a:pPr lvl="1" algn="just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Set of programs used to manipulate database</a:t>
            </a:r>
          </a:p>
          <a:p>
            <a:pPr algn="just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Relational Database</a:t>
            </a:r>
          </a:p>
          <a:p>
            <a:pPr lvl="1" algn="just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 database structured to recognize relations between stored items of information.</a:t>
            </a:r>
          </a:p>
          <a:p>
            <a:pPr algn="just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Table – Real World Object</a:t>
            </a:r>
          </a:p>
          <a:p>
            <a:pPr algn="just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Attribute / Field – Properties if a Table</a:t>
            </a:r>
          </a:p>
          <a:p>
            <a:pPr algn="just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Tuple / Record – an ordered set of data constituting a record</a:t>
            </a:r>
          </a:p>
          <a:p>
            <a:pPr algn="just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Domain / Column – Set of all values of an attribute</a:t>
            </a:r>
          </a:p>
          <a:p>
            <a:pPr algn="just"/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0030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867" y="57150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Introduction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054100"/>
            <a:ext cx="7467600" cy="3727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17562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57150"/>
            <a:ext cx="8001000" cy="86557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Structured Query Language (SQL)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87D17-93B8-459A-BF89-974C00CD0E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1276350"/>
            <a:ext cx="7391400" cy="3581400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1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The ANSI standard language for the definition and manipulation of relational database. </a:t>
            </a:r>
          </a:p>
          <a:p>
            <a:pPr algn="just">
              <a:lnSpc>
                <a:spcPct val="11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Includes data definition language (DDL), statements that specify and modify database schemas.</a:t>
            </a:r>
          </a:p>
          <a:p>
            <a:pPr algn="just">
              <a:lnSpc>
                <a:spcPct val="11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Includes a data manipulation language (DML), statements that manipulate database content.</a:t>
            </a:r>
          </a:p>
        </p:txBody>
      </p:sp>
    </p:spTree>
    <p:extLst>
      <p:ext uri="{BB962C8B-B14F-4D97-AF65-F5344CB8AC3E}">
        <p14:creationId xmlns:p14="http://schemas.microsoft.com/office/powerpoint/2010/main" val="147625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3350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SQL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87D17-93B8-459A-BF89-974C00CD0E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1276350"/>
            <a:ext cx="7391400" cy="358140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90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String types</a:t>
            </a:r>
          </a:p>
          <a:p>
            <a:pPr lvl="1" algn="just">
              <a:lnSpc>
                <a:spcPct val="90000"/>
              </a:lnSpc>
            </a:pPr>
            <a:r>
              <a:rPr lang="en-US" sz="16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(n) – fixed-length character data, n characters long Maximum length = 2000 bytes</a:t>
            </a:r>
          </a:p>
          <a:p>
            <a:pPr lvl="1" algn="just">
              <a:lnSpc>
                <a:spcPct val="90000"/>
              </a:lnSpc>
            </a:pPr>
            <a:r>
              <a:rPr lang="en-US" sz="16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VARCHAR2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(n) – variable length character data, maximum 4000 bytes</a:t>
            </a:r>
          </a:p>
          <a:p>
            <a:pPr lvl="1" algn="just">
              <a:lnSpc>
                <a:spcPct val="90000"/>
              </a:lnSpc>
            </a:pPr>
            <a:r>
              <a:rPr lang="en-US" sz="16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– variable-length character data, up to 4GB. Maximum 1 per table</a:t>
            </a:r>
          </a:p>
          <a:p>
            <a:pPr algn="just">
              <a:lnSpc>
                <a:spcPct val="90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Numeric types</a:t>
            </a:r>
          </a:p>
          <a:p>
            <a:pPr lvl="1" algn="just">
              <a:lnSpc>
                <a:spcPct val="90000"/>
              </a:lnSpc>
            </a:pPr>
            <a:r>
              <a:rPr lang="en-US" sz="16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NUMBER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p,q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– general purpose numeric data type</a:t>
            </a:r>
          </a:p>
          <a:p>
            <a:pPr lvl="1" algn="just">
              <a:lnSpc>
                <a:spcPct val="90000"/>
              </a:lnSpc>
            </a:pPr>
            <a:r>
              <a:rPr lang="en-US" sz="16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(p) – signed integer, p digits wide</a:t>
            </a:r>
          </a:p>
          <a:p>
            <a:pPr lvl="1" algn="just">
              <a:lnSpc>
                <a:spcPct val="90000"/>
              </a:lnSpc>
            </a:pPr>
            <a:r>
              <a:rPr lang="en-US" sz="16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(p) – floating point in scientific notation with p binary digits precision</a:t>
            </a:r>
          </a:p>
          <a:p>
            <a:pPr algn="just">
              <a:lnSpc>
                <a:spcPct val="90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Date/time type</a:t>
            </a:r>
          </a:p>
          <a:p>
            <a:pPr lvl="1" algn="just">
              <a:lnSpc>
                <a:spcPct val="90000"/>
              </a:lnSpc>
            </a:pPr>
            <a:r>
              <a:rPr lang="en-US" sz="16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DATE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– fixed-length date/time in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-mm-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yy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form</a:t>
            </a:r>
          </a:p>
        </p:txBody>
      </p:sp>
    </p:spTree>
    <p:extLst>
      <p:ext uri="{BB962C8B-B14F-4D97-AF65-F5344CB8AC3E}">
        <p14:creationId xmlns:p14="http://schemas.microsoft.com/office/powerpoint/2010/main" val="4071174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350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SQL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87D17-93B8-459A-BF89-974C00CD0E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1276350"/>
            <a:ext cx="7391400" cy="3581400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Catalog </a:t>
            </a:r>
          </a:p>
          <a:p>
            <a:pPr lvl="1" algn="just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A set of schemas that constitute the description of a database</a:t>
            </a:r>
          </a:p>
          <a:p>
            <a:pPr algn="just">
              <a:lnSpc>
                <a:spcPct val="90000"/>
              </a:lnSpc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Schema</a:t>
            </a:r>
          </a:p>
          <a:p>
            <a:pPr lvl="1" algn="just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The structure that contains descriptions of objects created by a user (base tables, views, constraints)</a:t>
            </a:r>
          </a:p>
          <a:p>
            <a:pPr algn="just">
              <a:lnSpc>
                <a:spcPct val="90000"/>
              </a:lnSpc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Data Definition Language (DDL)</a:t>
            </a:r>
          </a:p>
          <a:p>
            <a:pPr lvl="1" algn="just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Commands that define a database, including creating, altering, and dropping tables and establishing constraints</a:t>
            </a:r>
          </a:p>
          <a:p>
            <a:pPr algn="just">
              <a:lnSpc>
                <a:spcPct val="90000"/>
              </a:lnSpc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Data Manipulation Language (DML)</a:t>
            </a:r>
          </a:p>
          <a:p>
            <a:pPr lvl="1" algn="just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Commands that maintain and query a database</a:t>
            </a:r>
          </a:p>
          <a:p>
            <a:pPr algn="just">
              <a:lnSpc>
                <a:spcPct val="90000"/>
              </a:lnSpc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Data Control Language (DCL)</a:t>
            </a:r>
          </a:p>
          <a:p>
            <a:pPr lvl="1" algn="just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Commands that control a database, including administering privileges and committing data</a:t>
            </a:r>
          </a:p>
          <a:p>
            <a:pPr algn="just"/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731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7150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DDL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87D17-93B8-459A-BF89-974C00CD0E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62000" y="1200150"/>
            <a:ext cx="3566160" cy="2695194"/>
          </a:xfrm>
        </p:spPr>
        <p:txBody>
          <a:bodyPr>
            <a:no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Create table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Describe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Alter table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Attribute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Constraints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Rename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Table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Attribute name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2"/>
          </p:nvPr>
        </p:nvSpPr>
        <p:spPr>
          <a:xfrm>
            <a:off x="4572000" y="1200150"/>
            <a:ext cx="3566160" cy="2696765"/>
          </a:xfrm>
        </p:spPr>
        <p:txBody>
          <a:bodyPr>
            <a:normAutofit fontScale="85000" lnSpcReduction="20000"/>
          </a:bodyPr>
          <a:lstStyle/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Modify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Data type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Size of attribute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Constraints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Drop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Attribute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Constraints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Truncate table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Drop table</a:t>
            </a:r>
          </a:p>
        </p:txBody>
      </p:sp>
    </p:spTree>
    <p:extLst>
      <p:ext uri="{BB962C8B-B14F-4D97-AF65-F5344CB8AC3E}">
        <p14:creationId xmlns:p14="http://schemas.microsoft.com/office/powerpoint/2010/main" val="951613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7150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DDL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87D17-93B8-459A-BF89-974C00CD0E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1047750"/>
            <a:ext cx="7391400" cy="3581400"/>
          </a:xfrm>
        </p:spPr>
        <p:txBody>
          <a:bodyPr>
            <a:noAutofit/>
          </a:bodyPr>
          <a:lstStyle/>
          <a:p>
            <a:r>
              <a:rPr lang="en-US" sz="1200" b="1" u="sng" dirty="0">
                <a:latin typeface="Courier New" pitchFamily="49" charset="0"/>
                <a:cs typeface="Courier New" pitchFamily="49" charset="0"/>
              </a:rPr>
              <a:t>Create Table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	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 create table student(name varchar2(15),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rollno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number(8),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dept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varchar2(5),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doj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date);</a:t>
            </a:r>
          </a:p>
          <a:p>
            <a:endParaRPr lang="en-US" sz="1200" b="1" u="sng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200" b="1" u="sng" dirty="0">
                <a:latin typeface="Courier New" pitchFamily="49" charset="0"/>
                <a:cs typeface="Courier New" pitchFamily="49" charset="0"/>
              </a:rPr>
              <a:t>Describe Table</a:t>
            </a:r>
            <a:endParaRPr lang="en-US" sz="12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SQL&gt;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desc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student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Name                                      Null?    Type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----------------------------------------- -------- -------------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NAME                                               VARCHAR2(15)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ROLLNO                                             NUMBER(8)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DEPT                                               VARCHAR2(5)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DOJ                                                DATE</a:t>
            </a:r>
          </a:p>
        </p:txBody>
      </p:sp>
    </p:spTree>
    <p:extLst>
      <p:ext uri="{BB962C8B-B14F-4D97-AF65-F5344CB8AC3E}">
        <p14:creationId xmlns:p14="http://schemas.microsoft.com/office/powerpoint/2010/main" val="1895469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7150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DDL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87D17-93B8-459A-BF89-974C00CD0E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1047750"/>
            <a:ext cx="7391400" cy="3581400"/>
          </a:xfrm>
        </p:spPr>
        <p:txBody>
          <a:bodyPr>
            <a:noAutofit/>
          </a:bodyPr>
          <a:lstStyle/>
          <a:p>
            <a:r>
              <a:rPr lang="en-US" sz="1200" b="1" u="sng" dirty="0">
                <a:latin typeface="Courier New" pitchFamily="49" charset="0"/>
                <a:cs typeface="Courier New" pitchFamily="49" charset="0"/>
              </a:rPr>
              <a:t>Alter Table</a:t>
            </a:r>
            <a:endParaRPr lang="en-US" sz="12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 </a:t>
            </a:r>
            <a:r>
              <a:rPr lang="en-US" sz="1200" b="1" u="sng" dirty="0">
                <a:latin typeface="Courier New" pitchFamily="49" charset="0"/>
                <a:cs typeface="Courier New" pitchFamily="49" charset="0"/>
              </a:rPr>
              <a:t>Add  </a:t>
            </a:r>
            <a:endParaRPr lang="en-US" sz="12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SQL&gt; alter table student add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regno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number(15);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Table altered.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SQL&gt;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desc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student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Name                                      Null?    Type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----------------------------------------- -------- -------------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NAME                                               VARCHAR2(15)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ROLLNO                                             NUMBER(8)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DEPT                                               VARCHAR2(5)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DOJ                                                DATE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REGNO                                              NUMBER(15)</a:t>
            </a:r>
          </a:p>
        </p:txBody>
      </p:sp>
    </p:spTree>
    <p:extLst>
      <p:ext uri="{BB962C8B-B14F-4D97-AF65-F5344CB8AC3E}">
        <p14:creationId xmlns:p14="http://schemas.microsoft.com/office/powerpoint/2010/main" val="1412677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7150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DDL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87D17-93B8-459A-BF89-974C00CD0E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1047750"/>
            <a:ext cx="7391400" cy="4038600"/>
          </a:xfrm>
        </p:spPr>
        <p:txBody>
          <a:bodyPr>
            <a:noAutofit/>
          </a:bodyPr>
          <a:lstStyle/>
          <a:p>
            <a:r>
              <a:rPr lang="en-US" sz="1200" b="1" u="sng" dirty="0">
                <a:latin typeface="Courier New" pitchFamily="49" charset="0"/>
                <a:cs typeface="Courier New" pitchFamily="49" charset="0"/>
              </a:rPr>
              <a:t>Alter Table</a:t>
            </a:r>
            <a:endParaRPr lang="en-US" sz="12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200" b="1" u="sng" dirty="0">
                <a:latin typeface="Courier New" pitchFamily="49" charset="0"/>
                <a:cs typeface="Courier New" pitchFamily="49" charset="0"/>
              </a:rPr>
              <a:t>Modify – Data Type and Attribute Size </a:t>
            </a:r>
            <a:endParaRPr lang="en-US" sz="12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200" b="1" u="sng" dirty="0">
                <a:latin typeface="Courier New" pitchFamily="49" charset="0"/>
                <a:cs typeface="Courier New" pitchFamily="49" charset="0"/>
              </a:rPr>
              <a:t>Modify – Data Type</a:t>
            </a:r>
            <a:endParaRPr lang="en-US" sz="1200" b="1" dirty="0">
              <a:latin typeface="Courier New" pitchFamily="49" charset="0"/>
              <a:cs typeface="Courier New" pitchFamily="49" charset="0"/>
            </a:endParaRPr>
          </a:p>
          <a:p>
            <a:endParaRPr lang="en-US" sz="12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SQL&gt; alter table student modify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rollno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varchar2(7);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Table altered.</a:t>
            </a:r>
          </a:p>
          <a:p>
            <a:endParaRPr lang="en-US" sz="12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SQL&gt;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desc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student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Name                                      Null?    Type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----------------------------------------- -------- -------------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NAME                                               VARCHAR2(15)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ROLLNO                                             VARCHAR2(7)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DEPT                                               VARCHAR2(5)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DOJ                                                DATE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REGNO                                              NUMBER(15)</a:t>
            </a:r>
          </a:p>
        </p:txBody>
      </p:sp>
    </p:spTree>
    <p:extLst>
      <p:ext uri="{BB962C8B-B14F-4D97-AF65-F5344CB8AC3E}">
        <p14:creationId xmlns:p14="http://schemas.microsoft.com/office/powerpoint/2010/main" val="486310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19050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DDL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87D17-93B8-459A-BF89-974C00CD0E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1047750"/>
            <a:ext cx="7391400" cy="3810000"/>
          </a:xfrm>
        </p:spPr>
        <p:txBody>
          <a:bodyPr>
            <a:noAutofit/>
          </a:bodyPr>
          <a:lstStyle/>
          <a:p>
            <a:r>
              <a:rPr lang="en-US" sz="1200" b="1" u="sng" dirty="0">
                <a:latin typeface="Courier New" pitchFamily="49" charset="0"/>
                <a:cs typeface="Courier New" pitchFamily="49" charset="0"/>
              </a:rPr>
              <a:t>Alter Table</a:t>
            </a:r>
            <a:endParaRPr lang="en-US" sz="1200" b="1" dirty="0">
              <a:latin typeface="Courier New" pitchFamily="49" charset="0"/>
              <a:cs typeface="Courier New" pitchFamily="49" charset="0"/>
            </a:endParaRPr>
          </a:p>
          <a:p>
            <a:endParaRPr lang="en-US" sz="1200" b="1" u="sng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200" b="1" u="sng" dirty="0">
                <a:latin typeface="Courier New" pitchFamily="49" charset="0"/>
                <a:cs typeface="Courier New" pitchFamily="49" charset="0"/>
              </a:rPr>
              <a:t>Modify – Attribute Size</a:t>
            </a:r>
            <a:endParaRPr lang="en-US" sz="12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sz="12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SQL&gt; alter table student modify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rollno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varchar2(8);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Table altered.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SQL&gt;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desc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student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Name                                      Null?    Type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----------------------------------------- -------- -------------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NAME                                               VARCHAR2(15)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ROLLNO                                             VARCHAR2(8)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DEPT                                               VARCHAR2(5)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DOJ                                                DATE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REGNO                                              NUMBER(15)</a:t>
            </a:r>
          </a:p>
        </p:txBody>
      </p:sp>
    </p:spTree>
    <p:extLst>
      <p:ext uri="{BB962C8B-B14F-4D97-AF65-F5344CB8AC3E}">
        <p14:creationId xmlns:p14="http://schemas.microsoft.com/office/powerpoint/2010/main" val="1251935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19050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Insert Command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87D17-93B8-459A-BF89-974C00CD0E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1047750"/>
            <a:ext cx="7391400" cy="3810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SQL&gt; insert into student values('kalai','vit1001','cse','01-aug-2021',4001);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1 row created.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SQL&gt; insert into student values('Pon','vit1002','cse','01-jul-2021',4002);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1 row created.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SQL&gt; select * from student;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NAME            ROLLNO   DEPT  DOJ            REGNO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--------------- -------- ----- --------- ----------</a:t>
            </a:r>
          </a:p>
          <a:p>
            <a:pPr>
              <a:buNone/>
            </a:pP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kalai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            vit1001  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cse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  01-AUG-21     4001</a:t>
            </a:r>
          </a:p>
          <a:p>
            <a:pPr>
              <a:buNone/>
            </a:pP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Pon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              vit1002  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cse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  01-JUL-21     4002</a:t>
            </a:r>
          </a:p>
          <a:p>
            <a:pPr>
              <a:buNone/>
            </a:pPr>
            <a:endParaRPr lang="en-US" sz="12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3452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7150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DDL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87D17-93B8-459A-BF89-974C00CD0E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1047750"/>
            <a:ext cx="7391400" cy="3810000"/>
          </a:xfrm>
        </p:spPr>
        <p:txBody>
          <a:bodyPr>
            <a:noAutofit/>
          </a:bodyPr>
          <a:lstStyle/>
          <a:p>
            <a:r>
              <a:rPr lang="en-US" sz="1200" b="1" u="sng" dirty="0">
                <a:latin typeface="Courier New" pitchFamily="49" charset="0"/>
                <a:cs typeface="Courier New" pitchFamily="49" charset="0"/>
              </a:rPr>
              <a:t>Alter Table</a:t>
            </a:r>
            <a:endParaRPr lang="en-US" sz="1200" b="1" dirty="0">
              <a:latin typeface="Courier New" pitchFamily="49" charset="0"/>
              <a:cs typeface="Courier New" pitchFamily="49" charset="0"/>
            </a:endParaRPr>
          </a:p>
          <a:p>
            <a:endParaRPr lang="en-US" sz="1200" b="1" u="sng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200" b="1" u="sng" dirty="0">
                <a:latin typeface="Courier New" pitchFamily="49" charset="0"/>
                <a:cs typeface="Courier New" pitchFamily="49" charset="0"/>
              </a:rPr>
              <a:t>Drop</a:t>
            </a:r>
            <a:endParaRPr lang="en-US" sz="12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sz="12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SQL&gt; alter table student drop column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regno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number(15);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Table altered.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SQL&gt;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desc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student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Name                                      Null?    Type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----------------------------------------- -------- -------------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NAME                                               VARCHAR2(15)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ROLLNO                                             VARCHAR2(8)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DEPT                                               VARCHAR2(5)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DOJ                                                DATE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866840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87D17-93B8-459A-BF89-974C00CD0E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1047750"/>
            <a:ext cx="7391400" cy="3810000"/>
          </a:xfrm>
        </p:spPr>
        <p:txBody>
          <a:bodyPr>
            <a:noAutofit/>
          </a:bodyPr>
          <a:lstStyle/>
          <a:p>
            <a:r>
              <a:rPr lang="en-US" sz="1200" b="1" u="sng" dirty="0">
                <a:latin typeface="Courier New" pitchFamily="49" charset="0"/>
                <a:cs typeface="Courier New" pitchFamily="49" charset="0"/>
              </a:rPr>
              <a:t>Alter Table</a:t>
            </a:r>
            <a:endParaRPr lang="en-US" sz="1200" b="1" dirty="0">
              <a:latin typeface="Courier New" pitchFamily="49" charset="0"/>
              <a:cs typeface="Courier New" pitchFamily="49" charset="0"/>
            </a:endParaRPr>
          </a:p>
          <a:p>
            <a:endParaRPr lang="en-US" sz="1200" b="1" u="sng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200" b="1" u="sng" dirty="0">
                <a:latin typeface="Courier New" pitchFamily="49" charset="0"/>
                <a:cs typeface="Courier New" pitchFamily="49" charset="0"/>
              </a:rPr>
              <a:t>Modify – Drop</a:t>
            </a:r>
            <a:endParaRPr lang="en-US" sz="12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sz="12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SQL&gt; alter table student drop column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regno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number(15);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Table altered.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SQL&gt;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desc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student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Name                                      Null?    Type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----------------------------------------- -------- -------------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NAME                                               VARCHAR2(15)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ROLLNO                                             VARCHAR2(8)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DEPT                                               VARCHAR2(5)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DOJ                                                DATE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6341B94-0C40-41DD-ACC1-5448BD5BF69E}"/>
              </a:ext>
            </a:extLst>
          </p:cNvPr>
          <p:cNvSpPr txBox="1">
            <a:spLocks/>
          </p:cNvSpPr>
          <p:nvPr/>
        </p:nvSpPr>
        <p:spPr>
          <a:xfrm>
            <a:off x="914400" y="57150"/>
            <a:ext cx="7315200" cy="865573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>
                <a:latin typeface="Courier New" panose="02070309020205020404" pitchFamily="49" charset="0"/>
                <a:cs typeface="Courier New" panose="02070309020205020404" pitchFamily="49" charset="0"/>
              </a:rPr>
              <a:t>DDL Commands</a:t>
            </a:r>
            <a:endParaRPr lang="en-US" sz="3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24669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87D17-93B8-459A-BF89-974C00CD0E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1047750"/>
            <a:ext cx="7391400" cy="3810000"/>
          </a:xfrm>
        </p:spPr>
        <p:txBody>
          <a:bodyPr>
            <a:noAutofit/>
          </a:bodyPr>
          <a:lstStyle/>
          <a:p>
            <a:r>
              <a:rPr lang="en-US" sz="1200" b="1" u="sng" dirty="0">
                <a:latin typeface="Courier New" pitchFamily="49" charset="0"/>
                <a:cs typeface="Courier New" pitchFamily="49" charset="0"/>
              </a:rPr>
              <a:t>Truncate Table</a:t>
            </a:r>
            <a:endParaRPr lang="en-US" sz="12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SQL&gt; truncate table student;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Table truncated.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SQL&gt; select * from student;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 no rows selected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SQL&gt;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desc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student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Name                                      Null?    Type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----------------------------------------- -------- -------------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NAME                                               VARCHAR2(15)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ROLLNO                                             VARCHAR2(8)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DEPT                                               VARCHAR2(5)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DOJ                                                DATE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REGNO                                              NUMBER(15)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6341B94-0C40-41DD-ACC1-5448BD5BF69E}"/>
              </a:ext>
            </a:extLst>
          </p:cNvPr>
          <p:cNvSpPr txBox="1">
            <a:spLocks/>
          </p:cNvSpPr>
          <p:nvPr/>
        </p:nvSpPr>
        <p:spPr>
          <a:xfrm>
            <a:off x="914400" y="57150"/>
            <a:ext cx="7315200" cy="865573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>
                <a:latin typeface="Courier New" panose="02070309020205020404" pitchFamily="49" charset="0"/>
                <a:cs typeface="Courier New" panose="02070309020205020404" pitchFamily="49" charset="0"/>
              </a:rPr>
              <a:t>DDL Commands</a:t>
            </a:r>
            <a:endParaRPr lang="en-US" sz="3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0231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87D17-93B8-459A-BF89-974C00CD0E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1047750"/>
            <a:ext cx="7391400" cy="3810000"/>
          </a:xfrm>
        </p:spPr>
        <p:txBody>
          <a:bodyPr>
            <a:noAutofit/>
          </a:bodyPr>
          <a:lstStyle/>
          <a:p>
            <a:r>
              <a:rPr lang="en-US" sz="1200" b="1" u="sng" dirty="0">
                <a:latin typeface="Courier New" pitchFamily="49" charset="0"/>
                <a:cs typeface="Courier New" pitchFamily="49" charset="0"/>
              </a:rPr>
              <a:t>Drop Table</a:t>
            </a:r>
            <a:endParaRPr lang="en-US" sz="12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SQL&gt; drop table student;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Table dropped.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SQL&gt; select * from student;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select * from student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             *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ERROR at line 1: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ORA-00942: table or view does not exist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SQL&gt;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desc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student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ERROR: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ORA-04043: object student does not exist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6341B94-0C40-41DD-ACC1-5448BD5BF69E}"/>
              </a:ext>
            </a:extLst>
          </p:cNvPr>
          <p:cNvSpPr txBox="1">
            <a:spLocks/>
          </p:cNvSpPr>
          <p:nvPr/>
        </p:nvSpPr>
        <p:spPr>
          <a:xfrm>
            <a:off x="914400" y="57150"/>
            <a:ext cx="7315200" cy="865573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>
                <a:latin typeface="Courier New" panose="02070309020205020404" pitchFamily="49" charset="0"/>
                <a:cs typeface="Courier New" panose="02070309020205020404" pitchFamily="49" charset="0"/>
              </a:rPr>
              <a:t>DDL Commands</a:t>
            </a:r>
            <a:endParaRPr lang="en-US" sz="3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5404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87D17-93B8-459A-BF89-974C00CD0E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1047750"/>
            <a:ext cx="7391400" cy="3810000"/>
          </a:xfrm>
        </p:spPr>
        <p:txBody>
          <a:bodyPr>
            <a:noAutofit/>
          </a:bodyPr>
          <a:lstStyle/>
          <a:p>
            <a:r>
              <a:rPr lang="en-US" sz="1200" b="1" u="sng" dirty="0">
                <a:latin typeface="Courier New" pitchFamily="49" charset="0"/>
                <a:cs typeface="Courier New" pitchFamily="49" charset="0"/>
              </a:rPr>
              <a:t>Drop Table</a:t>
            </a:r>
            <a:endParaRPr lang="en-US" sz="12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SQL&gt; drop table student;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Table dropped.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SQL&gt; select * from student;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select * from student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             *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ERROR at line 1: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ORA-00942: table or view does not exist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SQL&gt;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desc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student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ERROR: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ORA-04043: object student does not exist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6341B94-0C40-41DD-ACC1-5448BD5BF69E}"/>
              </a:ext>
            </a:extLst>
          </p:cNvPr>
          <p:cNvSpPr txBox="1">
            <a:spLocks/>
          </p:cNvSpPr>
          <p:nvPr/>
        </p:nvSpPr>
        <p:spPr>
          <a:xfrm>
            <a:off x="914400" y="57150"/>
            <a:ext cx="7315200" cy="865573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>
                <a:latin typeface="Courier New" panose="02070309020205020404" pitchFamily="49" charset="0"/>
                <a:cs typeface="Courier New" panose="02070309020205020404" pitchFamily="49" charset="0"/>
              </a:rPr>
              <a:t>DDL Commands</a:t>
            </a:r>
            <a:endParaRPr lang="en-US" sz="3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99697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87D17-93B8-459A-BF89-974C00CD0E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1047750"/>
            <a:ext cx="7391400" cy="3810000"/>
          </a:xfrm>
        </p:spPr>
        <p:txBody>
          <a:bodyPr>
            <a:noAutofit/>
          </a:bodyPr>
          <a:lstStyle/>
          <a:p>
            <a:r>
              <a:rPr lang="en-US" sz="1400" b="1" u="sng" dirty="0">
                <a:latin typeface="Courier New" pitchFamily="49" charset="0"/>
                <a:cs typeface="Courier New" pitchFamily="49" charset="0"/>
              </a:rPr>
              <a:t>Rename Table / Rename Attribute / Copy a Table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copy a table</a:t>
            </a:r>
          </a:p>
          <a:p>
            <a:pPr marL="457200" indent="-457200"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	create table table_name2 as select * from table_name1;</a:t>
            </a:r>
          </a:p>
          <a:p>
            <a:pPr marL="457200" indent="-457200">
              <a:buFont typeface="Wingdings" pitchFamily="2" charset="2"/>
              <a:buChar char="Ø"/>
            </a:pP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 marL="457200" indent="-457200">
              <a:buFont typeface="Courier New" pitchFamily="49" charset="0"/>
              <a:buChar char="o"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Rename a column name</a:t>
            </a:r>
          </a:p>
          <a:p>
            <a:pPr marL="457200" indent="-457200">
              <a:buNone/>
            </a:pPr>
            <a:r>
              <a:rPr lang="en-IN" sz="1400" b="1" dirty="0">
                <a:latin typeface="Courier New" pitchFamily="49" charset="0"/>
                <a:cs typeface="Courier New" pitchFamily="49" charset="0"/>
              </a:rPr>
              <a:t>	alter table </a:t>
            </a:r>
            <a:r>
              <a:rPr lang="en-IN" sz="1400" b="1" dirty="0" err="1">
                <a:latin typeface="Courier New" pitchFamily="49" charset="0"/>
                <a:cs typeface="Courier New" pitchFamily="49" charset="0"/>
              </a:rPr>
              <a:t>table_name</a:t>
            </a:r>
            <a:r>
              <a:rPr lang="en-IN" sz="1400" b="1" dirty="0">
                <a:latin typeface="Courier New" pitchFamily="49" charset="0"/>
                <a:cs typeface="Courier New" pitchFamily="49" charset="0"/>
              </a:rPr>
              <a:t> rename column </a:t>
            </a:r>
            <a:r>
              <a:rPr lang="en-IN" sz="1400" b="1" dirty="0" err="1">
                <a:latin typeface="Courier New" pitchFamily="49" charset="0"/>
                <a:cs typeface="Courier New" pitchFamily="49" charset="0"/>
              </a:rPr>
              <a:t>old_name</a:t>
            </a:r>
            <a:r>
              <a:rPr lang="en-IN" sz="1400" b="1" dirty="0">
                <a:latin typeface="Courier New" pitchFamily="49" charset="0"/>
                <a:cs typeface="Courier New" pitchFamily="49" charset="0"/>
              </a:rPr>
              <a:t> to </a:t>
            </a:r>
            <a:r>
              <a:rPr lang="en-IN" sz="1400" b="1" dirty="0" err="1">
                <a:latin typeface="Courier New" pitchFamily="49" charset="0"/>
                <a:cs typeface="Courier New" pitchFamily="49" charset="0"/>
              </a:rPr>
              <a:t>new_name</a:t>
            </a:r>
            <a:r>
              <a:rPr lang="en-IN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457200" indent="-457200">
              <a:buFont typeface="Wingdings" pitchFamily="2" charset="2"/>
              <a:buChar char="Ø"/>
            </a:pPr>
            <a:endParaRPr lang="en-IN" sz="1400" b="1" dirty="0">
              <a:latin typeface="Courier New" pitchFamily="49" charset="0"/>
              <a:cs typeface="Courier New" pitchFamily="49" charset="0"/>
            </a:endParaRPr>
          </a:p>
          <a:p>
            <a:pPr marL="457200" indent="-457200">
              <a:buFont typeface="Courier New" pitchFamily="49" charset="0"/>
              <a:buChar char="o"/>
            </a:pPr>
            <a:r>
              <a:rPr lang="en-IN" sz="1400" b="1" dirty="0">
                <a:latin typeface="Courier New" pitchFamily="49" charset="0"/>
                <a:cs typeface="Courier New" pitchFamily="49" charset="0"/>
              </a:rPr>
              <a:t>Rename a table</a:t>
            </a:r>
          </a:p>
          <a:p>
            <a:pPr marL="457200" indent="-457200">
              <a:buNone/>
            </a:pPr>
            <a:r>
              <a:rPr lang="en-IN" sz="1400" b="1" dirty="0">
                <a:latin typeface="Courier New" pitchFamily="49" charset="0"/>
                <a:cs typeface="Courier New" pitchFamily="49" charset="0"/>
              </a:rPr>
              <a:t>	alter table </a:t>
            </a:r>
            <a:r>
              <a:rPr lang="en-IN" sz="1400" b="1" dirty="0" err="1">
                <a:latin typeface="Courier New" pitchFamily="49" charset="0"/>
                <a:cs typeface="Courier New" pitchFamily="49" charset="0"/>
              </a:rPr>
              <a:t>table_name</a:t>
            </a:r>
            <a:r>
              <a:rPr lang="en-IN" sz="1400" b="1" dirty="0">
                <a:latin typeface="Courier New" pitchFamily="49" charset="0"/>
                <a:cs typeface="Courier New" pitchFamily="49" charset="0"/>
              </a:rPr>
              <a:t> rename to </a:t>
            </a:r>
            <a:r>
              <a:rPr lang="en-IN" sz="1400" b="1" dirty="0" err="1">
                <a:latin typeface="Courier New" pitchFamily="49" charset="0"/>
                <a:cs typeface="Courier New" pitchFamily="49" charset="0"/>
              </a:rPr>
              <a:t>new_name</a:t>
            </a:r>
            <a:r>
              <a:rPr lang="en-IN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457200" indent="-457200">
              <a:buFont typeface="Wingdings" pitchFamily="2" charset="2"/>
              <a:buChar char="Ø"/>
            </a:pPr>
            <a:endParaRPr lang="en-US" sz="1400" b="1" u="sng" dirty="0">
              <a:latin typeface="Courier New" pitchFamily="49" charset="0"/>
              <a:cs typeface="Courier New" pitchFamily="49" charset="0"/>
            </a:endParaRPr>
          </a:p>
          <a:p>
            <a:pPr marL="457200" indent="-457200">
              <a:buFont typeface="Courier New" pitchFamily="49" charset="0"/>
              <a:buChar char="o"/>
            </a:pPr>
            <a:r>
              <a:rPr lang="en-US" sz="1400" b="1" u="sng" dirty="0">
                <a:latin typeface="Courier New" pitchFamily="49" charset="0"/>
                <a:cs typeface="Courier New" pitchFamily="49" charset="0"/>
              </a:rPr>
              <a:t>Examples:</a:t>
            </a:r>
          </a:p>
          <a:p>
            <a:pPr marL="457200" indent="-58738">
              <a:buNone/>
            </a:pPr>
            <a:r>
              <a:rPr lang="en-IN" sz="1400" b="1" dirty="0">
                <a:latin typeface="Courier New" pitchFamily="49" charset="0"/>
                <a:cs typeface="Courier New" pitchFamily="49" charset="0"/>
              </a:rPr>
              <a:t>alter table student rename column branch to course; </a:t>
            </a:r>
          </a:p>
          <a:p>
            <a:pPr marL="457200" indent="-58738">
              <a:buNone/>
            </a:pPr>
            <a:r>
              <a:rPr lang="en-IN" sz="1400" b="1" dirty="0">
                <a:latin typeface="Courier New" pitchFamily="49" charset="0"/>
                <a:cs typeface="Courier New" pitchFamily="49" charset="0"/>
              </a:rPr>
              <a:t>alter table student rename to students;</a:t>
            </a:r>
          </a:p>
          <a:p>
            <a:endParaRPr lang="en-US" sz="1200" b="1" u="sng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6341B94-0C40-41DD-ACC1-5448BD5BF69E}"/>
              </a:ext>
            </a:extLst>
          </p:cNvPr>
          <p:cNvSpPr txBox="1">
            <a:spLocks/>
          </p:cNvSpPr>
          <p:nvPr/>
        </p:nvSpPr>
        <p:spPr>
          <a:xfrm>
            <a:off x="914400" y="57150"/>
            <a:ext cx="7315200" cy="865573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>
                <a:latin typeface="Courier New" panose="02070309020205020404" pitchFamily="49" charset="0"/>
                <a:cs typeface="Courier New" panose="02070309020205020404" pitchFamily="49" charset="0"/>
              </a:rPr>
              <a:t>DDL Commands</a:t>
            </a:r>
            <a:endParaRPr lang="en-US" sz="3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18123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94942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DML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87D17-93B8-459A-BF89-974C00CD0E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1047750"/>
            <a:ext cx="7391400" cy="3810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SQL&gt; create table player(name varchar2(20), country varchar2(15), matches number(3), runs number(4),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jersy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number(2));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Table created.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buNone/>
            </a:pPr>
            <a:r>
              <a:rPr lang="en-US" sz="1400" b="1" u="sng" dirty="0">
                <a:latin typeface="Courier New" pitchFamily="49" charset="0"/>
                <a:cs typeface="Courier New" pitchFamily="49" charset="0"/>
              </a:rPr>
              <a:t>Insert Command</a:t>
            </a: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Method 1 - Inserting Single records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SQL&gt; insert into player values('sachin','india',98,999,9);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1 row created.</a:t>
            </a:r>
          </a:p>
        </p:txBody>
      </p:sp>
    </p:spTree>
    <p:extLst>
      <p:ext uri="{BB962C8B-B14F-4D97-AF65-F5344CB8AC3E}">
        <p14:creationId xmlns:p14="http://schemas.microsoft.com/office/powerpoint/2010/main" val="30987325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94942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DML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87D17-93B8-459A-BF89-974C00CD0E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1047750"/>
            <a:ext cx="7391400" cy="3810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Method 2 - Inserting Multiple records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SQL&gt; insert into player values('&amp;name','&amp;country',&amp;matches,&amp;runs,&amp;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jersy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Enter value for name: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shewag</a:t>
            </a: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Enter value for country: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india</a:t>
            </a: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Enter value for matches: 15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Enter value for runs: 750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Enter value for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jersy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: 5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old   1: insert into player values('&amp;name','&amp;country',&amp;matches,&amp;runs,&amp;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jersy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new   1: insert into player values('shewag','india',15,750,5)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1 row created.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397145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94942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DML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87D17-93B8-459A-BF89-974C00CD0E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1047750"/>
            <a:ext cx="7391400" cy="3810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SQL&gt; /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Enter value for name: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gilchrist</a:t>
            </a: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Enter value for country: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australia</a:t>
            </a: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Enter value for matches: 50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Enter value for runs: 5000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Enter value for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jersy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: 3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old   1: insert into player values('&amp;name','&amp;country',&amp;matches,&amp;runs,&amp;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jersy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new   1: insert into player values('gilchrist','australia',50,5000,3)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1 row created.</a:t>
            </a:r>
          </a:p>
        </p:txBody>
      </p:sp>
    </p:spTree>
    <p:extLst>
      <p:ext uri="{BB962C8B-B14F-4D97-AF65-F5344CB8AC3E}">
        <p14:creationId xmlns:p14="http://schemas.microsoft.com/office/powerpoint/2010/main" val="23266359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94942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DML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87D17-93B8-459A-BF89-974C00CD0E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1047750"/>
            <a:ext cx="7391400" cy="3810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Method 3 - Inserting Values for selected attributes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SQL&gt; insert into player(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name,country,matches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) values('pathani','india',02);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1 row created.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7100713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94942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DML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87D17-93B8-459A-BF89-974C00CD0E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1047750"/>
            <a:ext cx="7391400" cy="3810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400" b="1" u="sng" dirty="0">
                <a:latin typeface="Courier New" pitchFamily="49" charset="0"/>
                <a:cs typeface="Courier New" pitchFamily="49" charset="0"/>
              </a:rPr>
              <a:t>Select Command </a:t>
            </a: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Selecting the overall contents (tuples) of the relation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SQL&gt; select * from player;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NAME                 COUNTRY            MATCHES       RUNS      JERSY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-------------------- --------------- ---------- ---------- ----------</a:t>
            </a:r>
          </a:p>
          <a:p>
            <a:pPr>
              <a:buNone/>
            </a:pP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sachin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             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india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                  98        999          9</a:t>
            </a:r>
          </a:p>
          <a:p>
            <a:pPr>
              <a:buNone/>
            </a:pP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shewag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             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india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                  15        750          5</a:t>
            </a:r>
          </a:p>
          <a:p>
            <a:pPr>
              <a:buNone/>
            </a:pP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gilchrist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australia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              50       5000          3</a:t>
            </a:r>
          </a:p>
          <a:p>
            <a:pPr>
              <a:buNone/>
            </a:pP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pathani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            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india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                   2</a:t>
            </a:r>
          </a:p>
          <a:p>
            <a:pPr>
              <a:buNone/>
            </a:pPr>
            <a:endParaRPr lang="en-US" sz="12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4 rows selected.</a:t>
            </a:r>
          </a:p>
          <a:p>
            <a:pPr>
              <a:buNone/>
            </a:pPr>
            <a:endParaRPr lang="en-US" sz="14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39643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94942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DML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87D17-93B8-459A-BF89-974C00CD0E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1047750"/>
            <a:ext cx="7391400" cy="3810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Selecting domain values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SQL&gt; select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name,country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from player;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NAME                 COUNTRY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-------------------- ---------------</a:t>
            </a:r>
          </a:p>
          <a:p>
            <a:pPr>
              <a:buNone/>
            </a:pP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sachin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          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india</a:t>
            </a: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shewag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          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india</a:t>
            </a: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gilchrist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australia</a:t>
            </a: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pathani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         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india</a:t>
            </a: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4 rows selected.</a:t>
            </a:r>
          </a:p>
        </p:txBody>
      </p:sp>
    </p:spTree>
    <p:extLst>
      <p:ext uri="{BB962C8B-B14F-4D97-AF65-F5344CB8AC3E}">
        <p14:creationId xmlns:p14="http://schemas.microsoft.com/office/powerpoint/2010/main" val="36049920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94942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DML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87D17-93B8-459A-BF89-974C00CD0E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1047750"/>
            <a:ext cx="7391400" cy="3810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Selecting values by avoiding repetitions and duplications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SQL&gt; select distinct country from player;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COUNTRY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---------------</a:t>
            </a:r>
          </a:p>
          <a:p>
            <a:pPr>
              <a:buNone/>
            </a:pP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australia</a:t>
            </a: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india</a:t>
            </a: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sz="14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37536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94942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DML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87D17-93B8-459A-BF89-974C00CD0E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1047750"/>
            <a:ext cx="7391400" cy="3810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Selecting tuple values based on conditions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SQL&gt; select * from player where matches&gt;=40;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NAME                 COUNTRY            MATCHES       RUNS      JERSY</a:t>
            </a:r>
          </a:p>
          <a:p>
            <a:pPr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-------------------- --------------- ---------- ---------- ----------</a:t>
            </a:r>
          </a:p>
          <a:p>
            <a:pPr>
              <a:buNone/>
            </a:pP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sachin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             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india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                  98        999          9</a:t>
            </a:r>
          </a:p>
          <a:p>
            <a:pPr>
              <a:buNone/>
            </a:pP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gilchrist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australia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              50       5000          3</a:t>
            </a:r>
          </a:p>
        </p:txBody>
      </p:sp>
    </p:spTree>
    <p:extLst>
      <p:ext uri="{BB962C8B-B14F-4D97-AF65-F5344CB8AC3E}">
        <p14:creationId xmlns:p14="http://schemas.microsoft.com/office/powerpoint/2010/main" val="11183634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94942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DML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87D17-93B8-459A-BF89-974C00CD0E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1047750"/>
            <a:ext cx="7391400" cy="3810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Selecting domain values based on conditions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SQL&gt; select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name,runs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from player where runs&gt;=1000;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NAME                       RUNS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-------------------- ----------</a:t>
            </a:r>
          </a:p>
          <a:p>
            <a:pPr>
              <a:buNone/>
            </a:pP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gilchrist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                 5000</a:t>
            </a:r>
          </a:p>
          <a:p>
            <a:pPr>
              <a:buNone/>
            </a:pPr>
            <a:endParaRPr lang="en-US" sz="14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64764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94942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DML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87D17-93B8-459A-BF89-974C00CD0E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1047750"/>
            <a:ext cx="7391400" cy="3810000"/>
          </a:xfrm>
        </p:spPr>
        <p:txBody>
          <a:bodyPr>
            <a:noAutofit/>
          </a:bodyPr>
          <a:lstStyle/>
          <a:p>
            <a:pPr algn="just"/>
            <a:r>
              <a:rPr lang="en-US" sz="1400" b="1" dirty="0">
                <a:latin typeface="Courier New" pitchFamily="49" charset="0"/>
                <a:cs typeface="Courier New" pitchFamily="49" charset="0"/>
              </a:rPr>
              <a:t>Selecting tuple values based on sorting in ascending order</a:t>
            </a:r>
          </a:p>
          <a:p>
            <a:pPr algn="just"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SQL&gt; select * from player order by matches;</a:t>
            </a:r>
          </a:p>
          <a:p>
            <a:pPr algn="just"/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 algn="just"/>
            <a:r>
              <a:rPr lang="en-US" sz="1400" b="1" dirty="0">
                <a:latin typeface="Courier New" pitchFamily="49" charset="0"/>
                <a:cs typeface="Courier New" pitchFamily="49" charset="0"/>
              </a:rPr>
              <a:t>Selecting tuple values based on sorting in ascending order by specifying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asc</a:t>
            </a: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 algn="just"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SQL&gt; select * from player order by matches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asc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algn="just"/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 algn="just"/>
            <a:r>
              <a:rPr lang="en-US" sz="1400" b="1" dirty="0">
                <a:latin typeface="Courier New" pitchFamily="49" charset="0"/>
                <a:cs typeface="Courier New" pitchFamily="49" charset="0"/>
              </a:rPr>
              <a:t>Selecting tuple values based on sorting in descending order by specifying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desc</a:t>
            </a: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 algn="just"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 SQL&gt; select * from player order by matches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desc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algn="just"/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 algn="just"/>
            <a:r>
              <a:rPr lang="en-US" sz="1400" b="1" dirty="0">
                <a:latin typeface="Courier New" pitchFamily="49" charset="0"/>
                <a:cs typeface="Courier New" pitchFamily="49" charset="0"/>
              </a:rPr>
              <a:t>Selecting tuple values based on sorting with both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asc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and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desc</a:t>
            </a: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 algn="just"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SQL&gt; Select * from player order by matches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asc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, country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desc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algn="just"/>
            <a:endParaRPr lang="en-US" sz="14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69079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94942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DML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87D17-93B8-459A-BF89-974C00CD0E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1047750"/>
            <a:ext cx="7391400" cy="3810000"/>
          </a:xfrm>
        </p:spPr>
        <p:txBody>
          <a:bodyPr>
            <a:noAutofit/>
          </a:bodyPr>
          <a:lstStyle/>
          <a:p>
            <a:r>
              <a:rPr lang="en-US" sz="1400" b="1" dirty="0">
                <a:latin typeface="Courier New" pitchFamily="49" charset="0"/>
                <a:cs typeface="Courier New" pitchFamily="49" charset="0"/>
              </a:rPr>
              <a:t>Selecting tuple values by using string constants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r>
              <a:rPr lang="en-US" sz="1400" b="1" dirty="0">
                <a:latin typeface="Courier New" pitchFamily="49" charset="0"/>
                <a:cs typeface="Courier New" pitchFamily="49" charset="0"/>
              </a:rPr>
              <a:t>Selecting tuple values whose name starts with ‘s’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 SQL&gt; select * from player where name like 's%';</a:t>
            </a:r>
          </a:p>
          <a:p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b="1" dirty="0">
                <a:latin typeface="Courier New" pitchFamily="49" charset="0"/>
                <a:cs typeface="Courier New" pitchFamily="49" charset="0"/>
              </a:rPr>
              <a:t>Selecting tuple values whose 5 character name starts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with‘d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’ and ends with ‘i’ 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SQL&gt; select * from player where name like '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d___i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';</a:t>
            </a:r>
          </a:p>
          <a:p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b="1" dirty="0">
                <a:latin typeface="Courier New" pitchFamily="49" charset="0"/>
                <a:cs typeface="Courier New" pitchFamily="49" charset="0"/>
              </a:rPr>
              <a:t>Selecting tuple values whose name has character ‘c’ 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 SQL&gt; select * from player where name like '%c%';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r>
              <a:rPr lang="en-US" sz="1400" b="1" dirty="0">
                <a:latin typeface="Courier New" pitchFamily="49" charset="0"/>
                <a:cs typeface="Courier New" pitchFamily="49" charset="0"/>
              </a:rPr>
              <a:t>Renaming domain name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 SQL&gt; select name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player,country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nation from player;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endParaRPr lang="en-US" sz="14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10170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94942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DML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87D17-93B8-459A-BF89-974C00CD0E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1047750"/>
            <a:ext cx="7391400" cy="3810000"/>
          </a:xfrm>
        </p:spPr>
        <p:txBody>
          <a:bodyPr>
            <a:noAutofit/>
          </a:bodyPr>
          <a:lstStyle/>
          <a:p>
            <a:r>
              <a:rPr lang="en-US" sz="1400" b="1" u="sng" dirty="0">
                <a:latin typeface="Courier New" pitchFamily="49" charset="0"/>
                <a:cs typeface="Courier New" pitchFamily="49" charset="0"/>
              </a:rPr>
              <a:t>Update Command</a:t>
            </a: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r>
              <a:rPr lang="en-US" sz="1400" b="1" dirty="0">
                <a:latin typeface="Courier New" pitchFamily="49" charset="0"/>
                <a:cs typeface="Courier New" pitchFamily="49" charset="0"/>
              </a:rPr>
              <a:t>Change the runs as 10 whose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jersy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 number is 10</a:t>
            </a:r>
          </a:p>
          <a:p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	SQL&gt; update player set  runs=10 where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jersy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=10;</a:t>
            </a:r>
          </a:p>
          <a:p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b="1" dirty="0">
                <a:latin typeface="Courier New" pitchFamily="49" charset="0"/>
                <a:cs typeface="Courier New" pitchFamily="49" charset="0"/>
              </a:rPr>
              <a:t>Change the runs as 10 whose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jersy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 number is 1null</a:t>
            </a:r>
          </a:p>
          <a:p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	SQL&gt; update player set  runs=10 where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jersy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is null;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	3 rows updated.</a:t>
            </a:r>
          </a:p>
        </p:txBody>
      </p:sp>
    </p:spTree>
    <p:extLst>
      <p:ext uri="{BB962C8B-B14F-4D97-AF65-F5344CB8AC3E}">
        <p14:creationId xmlns:p14="http://schemas.microsoft.com/office/powerpoint/2010/main" val="15705798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94942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DML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87D17-93B8-459A-BF89-974C00CD0E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1047750"/>
            <a:ext cx="7391400" cy="3810000"/>
          </a:xfrm>
        </p:spPr>
        <p:txBody>
          <a:bodyPr>
            <a:noAutofit/>
          </a:bodyPr>
          <a:lstStyle/>
          <a:p>
            <a:r>
              <a:rPr lang="en-US" sz="1400" b="1" u="sng" dirty="0">
                <a:latin typeface="Courier New" pitchFamily="49" charset="0"/>
                <a:cs typeface="Courier New" pitchFamily="49" charset="0"/>
              </a:rPr>
              <a:t>Delete Command</a:t>
            </a: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r>
              <a:rPr lang="en-US" sz="1400" b="1" dirty="0">
                <a:latin typeface="Courier New" pitchFamily="49" charset="0"/>
                <a:cs typeface="Courier New" pitchFamily="49" charset="0"/>
              </a:rPr>
              <a:t>Deleting based on conditions</a:t>
            </a:r>
          </a:p>
          <a:p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	SQL&gt; delete from player where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jersy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is null;</a:t>
            </a:r>
          </a:p>
          <a:p>
            <a:pPr>
              <a:buNone/>
            </a:pP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b="1" dirty="0">
                <a:latin typeface="Courier New" pitchFamily="49" charset="0"/>
                <a:cs typeface="Courier New" pitchFamily="49" charset="0"/>
              </a:rPr>
              <a:t>Deleting overall contents from the relation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	SQL&gt; delete from player;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	SQL&gt; select * from player;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buNone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	no rows selected</a:t>
            </a:r>
          </a:p>
          <a:p>
            <a:pPr>
              <a:buNone/>
            </a:pPr>
            <a:endParaRPr lang="en-US" sz="14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9043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04900" y="1760429"/>
            <a:ext cx="7315200" cy="86557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You…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94485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63AE7DE87AE343A634347F8DDCD9D2" ma:contentTypeVersion="0" ma:contentTypeDescription="Create a new document." ma:contentTypeScope="" ma:versionID="5e82e9ea49d6d623f27666c164887d7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967b7be50301903c78f9c39c6fd9a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8DE7C99-BCE6-4707-8C54-BDC0BA63D0E3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E308F3F1-5932-4842-9E46-F677547D21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2FA3503-92B1-403D-A9BA-2BE39B97FD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3284</TotalTime>
  <Words>1806</Words>
  <Application>Microsoft Macintosh PowerPoint</Application>
  <PresentationFormat>On-screen Show (16:9)</PresentationFormat>
  <Paragraphs>405</Paragraphs>
  <Slides>33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Bookman Old Style</vt:lpstr>
      <vt:lpstr>Calibri</vt:lpstr>
      <vt:lpstr>Courier New</vt:lpstr>
      <vt:lpstr>Gill Sans MT</vt:lpstr>
      <vt:lpstr>Times New Roman</vt:lpstr>
      <vt:lpstr>Wingdings</vt:lpstr>
      <vt:lpstr>Wingdings 3</vt:lpstr>
      <vt:lpstr>Origin</vt:lpstr>
      <vt:lpstr>Database Management System</vt:lpstr>
      <vt:lpstr>Topics to be Covered</vt:lpstr>
      <vt:lpstr>Introduction</vt:lpstr>
      <vt:lpstr>Introduction</vt:lpstr>
      <vt:lpstr>Structured Query Language (SQL)</vt:lpstr>
      <vt:lpstr>SQL Data Types</vt:lpstr>
      <vt:lpstr>SQL Environment</vt:lpstr>
      <vt:lpstr>DDL Commands</vt:lpstr>
      <vt:lpstr>DDL Commands</vt:lpstr>
      <vt:lpstr>DDL Commands</vt:lpstr>
      <vt:lpstr>DDL Commands</vt:lpstr>
      <vt:lpstr>DDL Commands</vt:lpstr>
      <vt:lpstr>Insert Command</vt:lpstr>
      <vt:lpstr>DDL Commands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DML Commands</vt:lpstr>
      <vt:lpstr>DML Commands</vt:lpstr>
      <vt:lpstr>DML Commands</vt:lpstr>
      <vt:lpstr>DML Commands</vt:lpstr>
      <vt:lpstr>DML Commands</vt:lpstr>
      <vt:lpstr>DML Commands</vt:lpstr>
      <vt:lpstr>DML Commands</vt:lpstr>
      <vt:lpstr>DML Commands</vt:lpstr>
      <vt:lpstr>DML Commands</vt:lpstr>
      <vt:lpstr>DML Commands</vt:lpstr>
      <vt:lpstr>DML Commands</vt:lpstr>
      <vt:lpstr>DML Commands</vt:lpstr>
      <vt:lpstr>DML Commands</vt:lpstr>
      <vt:lpstr>Thank You…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vitbpl</dc:creator>
  <cp:lastModifiedBy>Premalatha M</cp:lastModifiedBy>
  <cp:revision>169</cp:revision>
  <dcterms:created xsi:type="dcterms:W3CDTF">2006-08-16T00:00:00Z</dcterms:created>
  <dcterms:modified xsi:type="dcterms:W3CDTF">2026-07-10T05:42:05Z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0x010100EC63AE7DE87AE343A634347F8DDCD9D2</vt:lpwstr>
  </property>
</Properties>
</file>