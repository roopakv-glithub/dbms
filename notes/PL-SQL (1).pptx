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315" r:id="rId7"/>
    <p:sldId id="319" r:id="rId8"/>
    <p:sldId id="320" r:id="rId9"/>
    <p:sldId id="292" r:id="rId10"/>
    <p:sldId id="290" r:id="rId11"/>
    <p:sldId id="322" r:id="rId12"/>
    <p:sldId id="323" r:id="rId13"/>
    <p:sldId id="287" r:id="rId14"/>
    <p:sldId id="288" r:id="rId15"/>
    <p:sldId id="316" r:id="rId16"/>
    <p:sldId id="321" r:id="rId17"/>
    <p:sldId id="294" r:id="rId18"/>
    <p:sldId id="295" r:id="rId19"/>
    <p:sldId id="296" r:id="rId20"/>
    <p:sldId id="297" r:id="rId21"/>
    <p:sldId id="298" r:id="rId22"/>
    <p:sldId id="299" r:id="rId23"/>
    <p:sldId id="301" r:id="rId24"/>
    <p:sldId id="302" r:id="rId25"/>
    <p:sldId id="324" r:id="rId26"/>
    <p:sldId id="304" r:id="rId27"/>
    <p:sldId id="305" r:id="rId28"/>
    <p:sldId id="325" r:id="rId29"/>
    <p:sldId id="307" r:id="rId30"/>
    <p:sldId id="308" r:id="rId31"/>
    <p:sldId id="309" r:id="rId32"/>
    <p:sldId id="262" r:id="rId33"/>
    <p:sldId id="257" r:id="rId34"/>
    <p:sldId id="263" r:id="rId35"/>
    <p:sldId id="264" r:id="rId36"/>
    <p:sldId id="326" r:id="rId37"/>
    <p:sldId id="265" r:id="rId38"/>
    <p:sldId id="266" r:id="rId39"/>
    <p:sldId id="267" r:id="rId40"/>
    <p:sldId id="268" r:id="rId41"/>
    <p:sldId id="269" r:id="rId42"/>
    <p:sldId id="327" r:id="rId43"/>
    <p:sldId id="330" r:id="rId44"/>
    <p:sldId id="270" r:id="rId45"/>
    <p:sldId id="328" r:id="rId46"/>
    <p:sldId id="271" r:id="rId47"/>
    <p:sldId id="313" r:id="rId48"/>
    <p:sldId id="314" r:id="rId49"/>
    <p:sldId id="329" r:id="rId50"/>
    <p:sldId id="272" r:id="rId51"/>
    <p:sldId id="273" r:id="rId52"/>
    <p:sldId id="274" r:id="rId53"/>
    <p:sldId id="275" r:id="rId54"/>
    <p:sldId id="276" r:id="rId55"/>
    <p:sldId id="277" r:id="rId56"/>
    <p:sldId id="278" r:id="rId57"/>
    <p:sldId id="279" r:id="rId58"/>
    <p:sldId id="280" r:id="rId59"/>
    <p:sldId id="281" r:id="rId60"/>
    <p:sldId id="282" r:id="rId61"/>
    <p:sldId id="310" r:id="rId62"/>
    <p:sldId id="311" r:id="rId63"/>
    <p:sldId id="286" r:id="rId64"/>
    <p:sldId id="318" r:id="rId65"/>
    <p:sldId id="331" r:id="rId66"/>
    <p:sldId id="283" r:id="rId67"/>
    <p:sldId id="284" r:id="rId68"/>
    <p:sldId id="285" r:id="rId69"/>
    <p:sldId id="317" r:id="rId70"/>
    <p:sldId id="332" r:id="rId71"/>
    <p:sldId id="333"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46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ACDF6120-F1F0-4C60-9FE9-39AC71A9C79D}" type="datetimeFigureOut">
              <a:rPr lang="en-US" smtClean="0"/>
              <a:pPr/>
              <a:t>3/12/2024</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CDF6120-F1F0-4C60-9FE9-39AC71A9C79D}" type="datetimeFigureOut">
              <a:rPr lang="en-US" smtClean="0"/>
              <a:pPr/>
              <a:t>3/12/2024</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ACDF6120-F1F0-4C60-9FE9-39AC71A9C79D}" type="datetimeFigureOut">
              <a:rPr lang="en-US" smtClean="0"/>
              <a:pPr/>
              <a:t>3/12/2024</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ACDF6120-F1F0-4C60-9FE9-39AC71A9C79D}" type="datetimeFigureOut">
              <a:rPr lang="en-US" smtClean="0"/>
              <a:pPr/>
              <a:t>3/12/2024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ACDF6120-F1F0-4C60-9FE9-39AC71A9C79D}" type="datetimeFigureOut">
              <a:rPr lang="en-US" smtClean="0"/>
              <a:pPr/>
              <a:t>3/12/2024</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CDF6120-F1F0-4C60-9FE9-39AC71A9C79D}" type="datetimeFigureOut">
              <a:rPr lang="en-US" smtClean="0"/>
              <a:pPr/>
              <a:t>3/12/2024</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DF6120-F1F0-4C60-9FE9-39AC71A9C79D}" type="datetimeFigureOut">
              <a:rPr lang="en-US" smtClean="0"/>
              <a:pPr/>
              <a:t>3/12/2024</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CDF6120-F1F0-4C60-9FE9-39AC71A9C79D}" type="datetimeFigureOut">
              <a:rPr lang="en-US" smtClean="0"/>
              <a:pPr/>
              <a:t>3/12/2024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CDF6120-F1F0-4C60-9FE9-39AC71A9C79D}" type="datetimeFigureOut">
              <a:rPr lang="en-US" smtClean="0"/>
              <a:pPr/>
              <a:t>3/12/2024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CDF6120-F1F0-4C60-9FE9-39AC71A9C79D}" type="datetimeFigureOut">
              <a:rPr lang="en-US" smtClean="0"/>
              <a:pPr/>
              <a:t>3/12/2024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CDF6120-F1F0-4C60-9FE9-39AC71A9C79D}" type="datetimeFigureOut">
              <a:rPr lang="en-US" smtClean="0"/>
              <a:pPr/>
              <a:t>3/12/2024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CDF6120-F1F0-4C60-9FE9-39AC71A9C79D}" type="datetimeFigureOut">
              <a:rPr lang="en-US" smtClean="0"/>
              <a:pPr/>
              <a:t>3/12/2024</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Cambria" panose="02040503050406030204" pitchFamily="18" charset="0"/>
                <a:ea typeface="Cambria" panose="02040503050406030204" pitchFamily="18" charset="0"/>
              </a:rPr>
              <a:t>PL/SQL</a:t>
            </a:r>
            <a:endParaRPr lang="en-US" dirty="0">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p:txBody>
          <a:bodyPr/>
          <a:lstStyle/>
          <a:p>
            <a:r>
              <a:rPr lang="en-US" smtClean="0">
                <a:latin typeface="Cambria" panose="02040503050406030204" pitchFamily="18" charset="0"/>
                <a:ea typeface="Cambria" panose="02040503050406030204" pitchFamily="18" charset="0"/>
              </a:rPr>
              <a:t>Basics, Procedures </a:t>
            </a:r>
            <a:r>
              <a:rPr lang="en-US" dirty="0" smtClean="0">
                <a:latin typeface="Cambria" panose="02040503050406030204" pitchFamily="18" charset="0"/>
                <a:ea typeface="Cambria" panose="02040503050406030204" pitchFamily="18" charset="0"/>
              </a:rPr>
              <a:t>and Functions</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Introduction</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algn="just"/>
            <a:r>
              <a:rPr lang="en-US" dirty="0" smtClean="0">
                <a:latin typeface="Cambria" panose="02040503050406030204" pitchFamily="18" charset="0"/>
                <a:ea typeface="Cambria" panose="02040503050406030204" pitchFamily="18" charset="0"/>
              </a:rPr>
              <a:t>A </a:t>
            </a:r>
            <a:r>
              <a:rPr lang="en-US" b="1" dirty="0" smtClean="0">
                <a:latin typeface="Cambria" panose="02040503050406030204" pitchFamily="18" charset="0"/>
                <a:ea typeface="Cambria" panose="02040503050406030204" pitchFamily="18" charset="0"/>
              </a:rPr>
              <a:t>subprogram</a:t>
            </a:r>
            <a:r>
              <a:rPr lang="en-US" dirty="0" smtClean="0">
                <a:latin typeface="Cambria" panose="02040503050406030204" pitchFamily="18" charset="0"/>
                <a:ea typeface="Cambria" panose="02040503050406030204" pitchFamily="18" charset="0"/>
              </a:rPr>
              <a:t> is a program unit/module that performs a particular task</a:t>
            </a:r>
          </a:p>
          <a:p>
            <a:pPr algn="just"/>
            <a:r>
              <a:rPr lang="en-US" dirty="0" smtClean="0">
                <a:latin typeface="Cambria" panose="02040503050406030204" pitchFamily="18" charset="0"/>
                <a:ea typeface="Cambria" panose="02040503050406030204" pitchFamily="18" charset="0"/>
              </a:rPr>
              <a:t>A subprogram can be invoked by another subprogram or program which is called the calling program.</a:t>
            </a:r>
          </a:p>
          <a:p>
            <a:pPr algn="just"/>
            <a:r>
              <a:rPr lang="en-US" dirty="0" smtClean="0">
                <a:latin typeface="Cambria" panose="02040503050406030204" pitchFamily="18" charset="0"/>
                <a:ea typeface="Cambria" panose="02040503050406030204" pitchFamily="18" charset="0"/>
              </a:rPr>
              <a:t>A subprogram can be created:</a:t>
            </a:r>
          </a:p>
          <a:p>
            <a:pPr lvl="1" algn="just"/>
            <a:r>
              <a:rPr lang="en-US" dirty="0" smtClean="0">
                <a:latin typeface="Cambria" panose="02040503050406030204" pitchFamily="18" charset="0"/>
                <a:ea typeface="Cambria" panose="02040503050406030204" pitchFamily="18" charset="0"/>
              </a:rPr>
              <a:t>At schema level</a:t>
            </a:r>
          </a:p>
          <a:p>
            <a:pPr lvl="1" algn="just"/>
            <a:r>
              <a:rPr lang="en-US" dirty="0" smtClean="0">
                <a:latin typeface="Cambria" panose="02040503050406030204" pitchFamily="18" charset="0"/>
                <a:ea typeface="Cambria" panose="02040503050406030204" pitchFamily="18" charset="0"/>
              </a:rPr>
              <a:t>Inside a package</a:t>
            </a:r>
          </a:p>
          <a:p>
            <a:pPr lvl="1" algn="just"/>
            <a:r>
              <a:rPr lang="en-US" dirty="0" smtClean="0">
                <a:latin typeface="Cambria" panose="02040503050406030204" pitchFamily="18" charset="0"/>
                <a:ea typeface="Cambria" panose="02040503050406030204" pitchFamily="18" charset="0"/>
              </a:rPr>
              <a:t>Inside a PL/SQL block</a:t>
            </a:r>
          </a:p>
          <a:p>
            <a:pPr algn="just"/>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Schema Level</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algn="just"/>
            <a:r>
              <a:rPr lang="en-US" dirty="0" smtClean="0">
                <a:latin typeface="Cambria" panose="02040503050406030204" pitchFamily="18" charset="0"/>
                <a:ea typeface="Cambria" panose="02040503050406030204" pitchFamily="18" charset="0"/>
              </a:rPr>
              <a:t>A schema level subprogram is a </a:t>
            </a:r>
            <a:r>
              <a:rPr lang="en-US" b="1" dirty="0" smtClean="0">
                <a:latin typeface="Cambria" panose="02040503050406030204" pitchFamily="18" charset="0"/>
                <a:ea typeface="Cambria" panose="02040503050406030204" pitchFamily="18" charset="0"/>
              </a:rPr>
              <a:t>standalone subprogram</a:t>
            </a:r>
            <a:r>
              <a:rPr lang="en-US" dirty="0" smtClean="0">
                <a:latin typeface="Cambria" panose="02040503050406030204" pitchFamily="18" charset="0"/>
                <a:ea typeface="Cambria" panose="02040503050406030204" pitchFamily="18" charset="0"/>
              </a:rPr>
              <a:t>. It is created with the CREATE PROCEDURE or CREATE FUNCTION statement. It is stored in the database and can be deleted with the DROP PROCEDURE or DROP FUNCTION statement.</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Package Level</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algn="just"/>
            <a:r>
              <a:rPr lang="en-US" dirty="0" smtClean="0">
                <a:latin typeface="Cambria" panose="02040503050406030204" pitchFamily="18" charset="0"/>
                <a:ea typeface="Cambria" panose="02040503050406030204" pitchFamily="18" charset="0"/>
              </a:rPr>
              <a:t>A subprogram created inside a package is a </a:t>
            </a:r>
            <a:r>
              <a:rPr lang="en-US" b="1" dirty="0" smtClean="0">
                <a:latin typeface="Cambria" panose="02040503050406030204" pitchFamily="18" charset="0"/>
                <a:ea typeface="Cambria" panose="02040503050406030204" pitchFamily="18" charset="0"/>
              </a:rPr>
              <a:t>packaged subprogram</a:t>
            </a:r>
            <a:r>
              <a:rPr lang="en-US" dirty="0" smtClean="0">
                <a:latin typeface="Cambria" panose="02040503050406030204" pitchFamily="18" charset="0"/>
                <a:ea typeface="Cambria" panose="02040503050406030204" pitchFamily="18" charset="0"/>
              </a:rPr>
              <a:t>. It is stored in the database and can be deleted only when the package is deleted with the DROP PACKAGE statement.</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algn="just"/>
            <a:r>
              <a:rPr lang="en-US" dirty="0" smtClean="0">
                <a:latin typeface="Cambria" panose="02040503050406030204" pitchFamily="18" charset="0"/>
                <a:ea typeface="Cambria" panose="02040503050406030204" pitchFamily="18" charset="0"/>
              </a:rPr>
              <a:t>PL/SQL subprograms are named PL/SQL blocks that can be invoked with a set of parameters. PL/SQL provides two kinds of subprograms:</a:t>
            </a:r>
          </a:p>
          <a:p>
            <a:pPr algn="just"/>
            <a:r>
              <a:rPr lang="en-US" b="1" dirty="0" smtClean="0">
                <a:latin typeface="Cambria" panose="02040503050406030204" pitchFamily="18" charset="0"/>
                <a:ea typeface="Cambria" panose="02040503050406030204" pitchFamily="18" charset="0"/>
              </a:rPr>
              <a:t>Functions</a:t>
            </a:r>
            <a:r>
              <a:rPr lang="en-US" dirty="0" smtClean="0">
                <a:latin typeface="Cambria" panose="02040503050406030204" pitchFamily="18" charset="0"/>
                <a:ea typeface="Cambria" panose="02040503050406030204" pitchFamily="18" charset="0"/>
              </a:rPr>
              <a:t>: these subprograms return a single value, mainly used to compute and return a value.</a:t>
            </a:r>
          </a:p>
          <a:p>
            <a:pPr algn="just"/>
            <a:r>
              <a:rPr lang="en-US" b="1" dirty="0" smtClean="0">
                <a:latin typeface="Cambria" panose="02040503050406030204" pitchFamily="18" charset="0"/>
                <a:ea typeface="Cambria" panose="02040503050406030204" pitchFamily="18" charset="0"/>
              </a:rPr>
              <a:t>Procedures</a:t>
            </a:r>
            <a:r>
              <a:rPr lang="en-US" dirty="0" smtClean="0">
                <a:latin typeface="Cambria" panose="02040503050406030204" pitchFamily="18" charset="0"/>
                <a:ea typeface="Cambria" panose="02040503050406030204" pitchFamily="18" charset="0"/>
              </a:rPr>
              <a:t>: these subprograms do not return a value directly, mainly used to perform an action.</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Simple Add – Addition of 2 Numbers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endParaRPr lang="en-US" dirty="0" smtClean="0">
              <a:latin typeface="Cambria" panose="02040503050406030204" pitchFamily="18" charset="0"/>
              <a:ea typeface="Cambria" panose="02040503050406030204" pitchFamily="18" charset="0"/>
            </a:endParaRPr>
          </a:p>
          <a:p>
            <a:pPr marL="0" indent="0">
              <a:buNone/>
            </a:pPr>
            <a:r>
              <a:rPr lang="en-US" dirty="0" smtClean="0">
                <a:latin typeface="Cambria" panose="02040503050406030204" pitchFamily="18" charset="0"/>
                <a:ea typeface="Cambria" panose="02040503050406030204" pitchFamily="18" charset="0"/>
              </a:rPr>
              <a:t>declare</a:t>
            </a: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a integer:=2;</a:t>
            </a:r>
          </a:p>
          <a:p>
            <a:pPr marL="0" indent="0">
              <a:buNone/>
            </a:pPr>
            <a:r>
              <a:rPr lang="en-US" dirty="0">
                <a:latin typeface="Cambria" panose="02040503050406030204" pitchFamily="18" charset="0"/>
                <a:ea typeface="Cambria" panose="02040503050406030204" pitchFamily="18" charset="0"/>
              </a:rPr>
              <a:t>b integer:=5;</a:t>
            </a:r>
          </a:p>
          <a:p>
            <a:pPr marL="0" indent="0">
              <a:buNone/>
            </a:pPr>
            <a:r>
              <a:rPr lang="en-US" dirty="0">
                <a:latin typeface="Cambria" panose="02040503050406030204" pitchFamily="18" charset="0"/>
                <a:ea typeface="Cambria" panose="02040503050406030204" pitchFamily="18" charset="0"/>
              </a:rPr>
              <a:t>c integer;</a:t>
            </a:r>
          </a:p>
          <a:p>
            <a:pPr marL="0" indent="0">
              <a:buNone/>
            </a:pPr>
            <a:r>
              <a:rPr lang="en-US" dirty="0">
                <a:latin typeface="Cambria" panose="02040503050406030204" pitchFamily="18" charset="0"/>
                <a:ea typeface="Cambria" panose="02040503050406030204" pitchFamily="18" charset="0"/>
              </a:rPr>
              <a:t>begin</a:t>
            </a:r>
          </a:p>
          <a:p>
            <a:pPr marL="0" indent="0">
              <a:buNone/>
            </a:pPr>
            <a:r>
              <a:rPr lang="en-US" dirty="0">
                <a:latin typeface="Cambria" panose="02040503050406030204" pitchFamily="18" charset="0"/>
                <a:ea typeface="Cambria" panose="02040503050406030204" pitchFamily="18" charset="0"/>
              </a:rPr>
              <a:t>c:=a+b;</a:t>
            </a:r>
          </a:p>
          <a:p>
            <a:pPr marL="0" indent="0">
              <a:buNone/>
            </a:pPr>
            <a:r>
              <a:rPr lang="en-US" dirty="0" err="1" smtClean="0">
                <a:latin typeface="Cambria" panose="02040503050406030204" pitchFamily="18" charset="0"/>
                <a:ea typeface="Cambria" panose="02040503050406030204" pitchFamily="18" charset="0"/>
              </a:rPr>
              <a:t>dbms_output.put_line</a:t>
            </a:r>
            <a:r>
              <a:rPr lang="en-US" dirty="0" smtClean="0">
                <a:latin typeface="Cambria" panose="02040503050406030204" pitchFamily="18" charset="0"/>
                <a:ea typeface="Cambria" panose="02040503050406030204" pitchFamily="18" charset="0"/>
              </a:rPr>
              <a:t>(‘sum=‘||</a:t>
            </a:r>
            <a:r>
              <a:rPr lang="en-US" dirty="0">
                <a:latin typeface="Cambria" panose="02040503050406030204" pitchFamily="18" charset="0"/>
                <a:ea typeface="Cambria" panose="02040503050406030204" pitchFamily="18" charset="0"/>
              </a:rPr>
              <a:t>c);</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229544"/>
            <a:ext cx="5380571" cy="3266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19073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Getting input </a:t>
            </a:r>
            <a:br>
              <a:rPr lang="en-US" dirty="0" smtClean="0">
                <a:latin typeface="Cambria" panose="02040503050406030204" pitchFamily="18" charset="0"/>
                <a:ea typeface="Cambria" panose="02040503050406030204" pitchFamily="18" charset="0"/>
              </a:rPr>
            </a:br>
            <a:r>
              <a:rPr lang="en-US" dirty="0" smtClean="0">
                <a:latin typeface="Cambria" panose="02040503050406030204" pitchFamily="18" charset="0"/>
                <a:ea typeface="Cambria" panose="02040503050406030204" pitchFamily="18" charset="0"/>
              </a:rPr>
              <a:t>from user</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r>
              <a:rPr lang="en-US" dirty="0">
                <a:latin typeface="Cambria" panose="02040503050406030204" pitchFamily="18" charset="0"/>
                <a:ea typeface="Cambria" panose="02040503050406030204" pitchFamily="18" charset="0"/>
              </a:rPr>
              <a:t> declare</a:t>
            </a:r>
          </a:p>
          <a:p>
            <a:pPr marL="0" indent="0">
              <a:buNone/>
            </a:pPr>
            <a:r>
              <a:rPr lang="en-US" dirty="0">
                <a:latin typeface="Cambria" panose="02040503050406030204" pitchFamily="18" charset="0"/>
                <a:ea typeface="Cambria" panose="02040503050406030204" pitchFamily="18" charset="0"/>
              </a:rPr>
              <a:t> a number;</a:t>
            </a:r>
          </a:p>
          <a:p>
            <a:pPr marL="0" indent="0">
              <a:buNone/>
            </a:pPr>
            <a:r>
              <a:rPr lang="en-US" dirty="0">
                <a:latin typeface="Cambria" panose="02040503050406030204" pitchFamily="18" charset="0"/>
                <a:ea typeface="Cambria" panose="02040503050406030204" pitchFamily="18" charset="0"/>
              </a:rPr>
              <a:t> b number;</a:t>
            </a:r>
          </a:p>
          <a:p>
            <a:pPr marL="0" indent="0">
              <a:buNone/>
            </a:pPr>
            <a:r>
              <a:rPr lang="en-US" dirty="0">
                <a:latin typeface="Cambria" panose="02040503050406030204" pitchFamily="18" charset="0"/>
                <a:ea typeface="Cambria" panose="02040503050406030204" pitchFamily="18" charset="0"/>
              </a:rPr>
              <a:t> begin</a:t>
            </a:r>
          </a:p>
          <a:p>
            <a:pPr marL="0" indent="0">
              <a:buNone/>
            </a:pPr>
            <a:r>
              <a:rPr lang="en-US" dirty="0">
                <a:latin typeface="Cambria" panose="02040503050406030204" pitchFamily="18" charset="0"/>
                <a:ea typeface="Cambria" panose="02040503050406030204" pitchFamily="18" charset="0"/>
              </a:rPr>
              <a:t> b := &amp;a;</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('The value of a is '||b);</a:t>
            </a:r>
          </a:p>
          <a:p>
            <a:pPr marL="0" indent="0">
              <a:buNone/>
            </a:pPr>
            <a:r>
              <a:rPr lang="en-US" dirty="0">
                <a:latin typeface="Cambria" panose="02040503050406030204" pitchFamily="18" charset="0"/>
                <a:ea typeface="Cambria" panose="02040503050406030204" pitchFamily="18" charset="0"/>
              </a:rPr>
              <a:t> end;</a:t>
            </a:r>
          </a:p>
          <a:p>
            <a:pPr marL="0" indent="0">
              <a:buNone/>
            </a:pPr>
            <a:r>
              <a:rPr lang="en-US" dirty="0">
                <a:latin typeface="Cambria" panose="02040503050406030204" pitchFamily="18" charset="0"/>
                <a:ea typeface="Cambria" panose="02040503050406030204" pitchFamily="18" charset="0"/>
              </a:rPr>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52400"/>
            <a:ext cx="5820458"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00970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add</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lnSpcReduction="10000"/>
          </a:bodyPr>
          <a:lstStyle/>
          <a:p>
            <a:pPr marL="0" indent="0">
              <a:buNone/>
            </a:pPr>
            <a:r>
              <a:rPr lang="en-US" dirty="0">
                <a:latin typeface="Cambria" panose="02040503050406030204" pitchFamily="18" charset="0"/>
                <a:ea typeface="Cambria" panose="02040503050406030204" pitchFamily="18" charset="0"/>
              </a:rPr>
              <a:t> declare</a:t>
            </a:r>
          </a:p>
          <a:p>
            <a:pPr marL="0" indent="0">
              <a:buNone/>
            </a:pPr>
            <a:r>
              <a:rPr lang="en-US" dirty="0">
                <a:latin typeface="Cambria" panose="02040503050406030204" pitchFamily="18" charset="0"/>
                <a:ea typeface="Cambria" panose="02040503050406030204" pitchFamily="18" charset="0"/>
              </a:rPr>
              <a:t> a number;</a:t>
            </a:r>
          </a:p>
          <a:p>
            <a:pPr marL="0" indent="0">
              <a:buNone/>
            </a:pPr>
            <a:r>
              <a:rPr lang="en-US" dirty="0">
                <a:latin typeface="Cambria" panose="02040503050406030204" pitchFamily="18" charset="0"/>
                <a:ea typeface="Cambria" panose="02040503050406030204" pitchFamily="18" charset="0"/>
              </a:rPr>
              <a:t> b number</a:t>
            </a:r>
            <a:r>
              <a:rPr lang="en-US" dirty="0" smtClean="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c number;</a:t>
            </a: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 begin</a:t>
            </a:r>
          </a:p>
          <a:p>
            <a:pPr marL="0" indent="0">
              <a:buNone/>
            </a:pPr>
            <a:r>
              <a:rPr lang="en-US" dirty="0">
                <a:latin typeface="Cambria" panose="02040503050406030204" pitchFamily="18" charset="0"/>
                <a:ea typeface="Cambria" panose="02040503050406030204" pitchFamily="18" charset="0"/>
              </a:rPr>
              <a:t> a := &amp;a;</a:t>
            </a:r>
          </a:p>
          <a:p>
            <a:pPr marL="0" indent="0">
              <a:buNone/>
            </a:pPr>
            <a:r>
              <a:rPr lang="en-US" dirty="0">
                <a:latin typeface="Cambria" panose="02040503050406030204" pitchFamily="18" charset="0"/>
                <a:ea typeface="Cambria" panose="02040503050406030204" pitchFamily="18" charset="0"/>
              </a:rPr>
              <a:t> b := &amp;b;</a:t>
            </a:r>
          </a:p>
          <a:p>
            <a:pPr marL="0" indent="0">
              <a:buNone/>
            </a:pPr>
            <a:r>
              <a:rPr lang="en-US" dirty="0">
                <a:latin typeface="Cambria" panose="02040503050406030204" pitchFamily="18" charset="0"/>
                <a:ea typeface="Cambria" panose="02040503050406030204" pitchFamily="18" charset="0"/>
              </a:rPr>
              <a:t> c := </a:t>
            </a:r>
            <a:r>
              <a:rPr lang="en-US" dirty="0" err="1">
                <a:latin typeface="Cambria" panose="02040503050406030204" pitchFamily="18" charset="0"/>
                <a:ea typeface="Cambria" panose="02040503050406030204" pitchFamily="18" charset="0"/>
              </a:rPr>
              <a:t>a+b</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('The Sum is '||c);</a:t>
            </a:r>
          </a:p>
          <a:p>
            <a:pPr marL="0" indent="0">
              <a:buNone/>
            </a:pPr>
            <a:r>
              <a:rPr lang="en-US" dirty="0">
                <a:latin typeface="Cambria" panose="02040503050406030204" pitchFamily="18" charset="0"/>
                <a:ea typeface="Cambria" panose="02040503050406030204" pitchFamily="18" charset="0"/>
              </a:rPr>
              <a:t> end;</a:t>
            </a:r>
          </a:p>
          <a:p>
            <a:pPr marL="0" indent="0">
              <a:buNone/>
            </a:pPr>
            <a:r>
              <a:rPr lang="en-US" dirty="0">
                <a:latin typeface="Cambria" panose="02040503050406030204" pitchFamily="18" charset="0"/>
                <a:ea typeface="Cambria" panose="02040503050406030204" pitchFamily="18" charset="0"/>
              </a:rPr>
              <a: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0"/>
            <a:ext cx="5486400" cy="465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9435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PL/SQL Variables – Print an integer and float values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fontScale="92500" lnSpcReduction="10000"/>
          </a:bodyPr>
          <a:lstStyle/>
          <a:p>
            <a:pPr>
              <a:buNone/>
            </a:pPr>
            <a:r>
              <a:rPr lang="en-US" dirty="0" smtClean="0">
                <a:latin typeface="Cambria" panose="02040503050406030204" pitchFamily="18" charset="0"/>
                <a:ea typeface="Cambria" panose="02040503050406030204" pitchFamily="18" charset="0"/>
              </a:rPr>
              <a:t>declare</a:t>
            </a:r>
          </a:p>
          <a:p>
            <a:pPr>
              <a:buNone/>
            </a:pPr>
            <a:r>
              <a:rPr lang="en-US" dirty="0" smtClean="0">
                <a:latin typeface="Cambria" panose="02040503050406030204" pitchFamily="18" charset="0"/>
                <a:ea typeface="Cambria" panose="02040503050406030204" pitchFamily="18" charset="0"/>
              </a:rPr>
              <a:t>a integer := 30;</a:t>
            </a:r>
          </a:p>
          <a:p>
            <a:pPr>
              <a:buNone/>
            </a:pPr>
            <a:r>
              <a:rPr lang="en-US" dirty="0" smtClean="0">
                <a:latin typeface="Cambria" panose="02040503050406030204" pitchFamily="18" charset="0"/>
                <a:ea typeface="Cambria" panose="02040503050406030204" pitchFamily="18" charset="0"/>
              </a:rPr>
              <a:t>b integer := 20;</a:t>
            </a:r>
          </a:p>
          <a:p>
            <a:pPr>
              <a:buNone/>
            </a:pPr>
            <a:r>
              <a:rPr lang="en-US" dirty="0" smtClean="0">
                <a:latin typeface="Cambria" panose="02040503050406030204" pitchFamily="18" charset="0"/>
                <a:ea typeface="Cambria" panose="02040503050406030204" pitchFamily="18" charset="0"/>
              </a:rPr>
              <a:t>c integer;</a:t>
            </a:r>
          </a:p>
          <a:p>
            <a:pPr>
              <a:buNone/>
            </a:pPr>
            <a:r>
              <a:rPr lang="en-US" dirty="0" smtClean="0">
                <a:latin typeface="Cambria" panose="02040503050406030204" pitchFamily="18" charset="0"/>
                <a:ea typeface="Cambria" panose="02040503050406030204" pitchFamily="18" charset="0"/>
              </a:rPr>
              <a:t>f real;</a:t>
            </a:r>
          </a:p>
          <a:p>
            <a:pPr>
              <a:buNone/>
            </a:pPr>
            <a:r>
              <a:rPr lang="en-US" dirty="0" smtClean="0">
                <a:latin typeface="Cambria" panose="02040503050406030204" pitchFamily="18" charset="0"/>
                <a:ea typeface="Cambria" panose="02040503050406030204" pitchFamily="18" charset="0"/>
              </a:rPr>
              <a:t>begin</a:t>
            </a:r>
          </a:p>
          <a:p>
            <a:pPr>
              <a:buNone/>
            </a:pPr>
            <a:r>
              <a:rPr lang="en-US" dirty="0" smtClean="0">
                <a:latin typeface="Cambria" panose="02040503050406030204" pitchFamily="18" charset="0"/>
                <a:ea typeface="Cambria" panose="02040503050406030204" pitchFamily="18" charset="0"/>
              </a:rPr>
              <a:t>c:=</a:t>
            </a:r>
            <a:r>
              <a:rPr lang="en-US" dirty="0" err="1" smtClean="0">
                <a:latin typeface="Cambria" panose="02040503050406030204" pitchFamily="18" charset="0"/>
                <a:ea typeface="Cambria" panose="02040503050406030204" pitchFamily="18" charset="0"/>
              </a:rPr>
              <a:t>a+b</a:t>
            </a:r>
            <a:r>
              <a:rPr lang="en-US" dirty="0" smtClean="0">
                <a:latin typeface="Cambria" panose="02040503050406030204" pitchFamily="18" charset="0"/>
                <a:ea typeface="Cambria" panose="02040503050406030204" pitchFamily="18" charset="0"/>
              </a:rPr>
              <a:t>;</a:t>
            </a:r>
          </a:p>
          <a:p>
            <a:pPr>
              <a:buNone/>
            </a:pPr>
            <a:r>
              <a:rPr lang="en-US" dirty="0" smtClean="0">
                <a:latin typeface="Cambria" panose="02040503050406030204" pitchFamily="18" charset="0"/>
                <a:ea typeface="Cambria" panose="02040503050406030204" pitchFamily="18" charset="0"/>
              </a:rPr>
              <a:t>f:=100.0/3.0;</a:t>
            </a:r>
          </a:p>
          <a:p>
            <a:pPr>
              <a:buNone/>
            </a:pPr>
            <a:r>
              <a:rPr lang="en-US" dirty="0" err="1" smtClean="0">
                <a:latin typeface="Cambria" panose="02040503050406030204" pitchFamily="18" charset="0"/>
                <a:ea typeface="Cambria" panose="02040503050406030204" pitchFamily="18" charset="0"/>
              </a:rPr>
              <a:t>dbms_output.put_line</a:t>
            </a:r>
            <a:r>
              <a:rPr lang="en-US" dirty="0" smtClean="0">
                <a:latin typeface="Cambria" panose="02040503050406030204" pitchFamily="18" charset="0"/>
                <a:ea typeface="Cambria" panose="02040503050406030204" pitchFamily="18" charset="0"/>
              </a:rPr>
              <a:t>('c : '||c);</a:t>
            </a:r>
          </a:p>
          <a:p>
            <a:pPr>
              <a:buNone/>
            </a:pPr>
            <a:r>
              <a:rPr lang="en-US" dirty="0" err="1" smtClean="0">
                <a:latin typeface="Cambria" panose="02040503050406030204" pitchFamily="18" charset="0"/>
                <a:ea typeface="Cambria" panose="02040503050406030204" pitchFamily="18" charset="0"/>
              </a:rPr>
              <a:t>dbms_output.put_line</a:t>
            </a:r>
            <a:r>
              <a:rPr lang="en-US" dirty="0" smtClean="0">
                <a:latin typeface="Cambria" panose="02040503050406030204" pitchFamily="18" charset="0"/>
                <a:ea typeface="Cambria" panose="02040503050406030204" pitchFamily="18" charset="0"/>
              </a:rPr>
              <a:t>('f : '||f);</a:t>
            </a:r>
          </a:p>
          <a:p>
            <a:pPr>
              <a:buNone/>
            </a:pPr>
            <a:r>
              <a:rPr lang="en-US" dirty="0" smtClean="0">
                <a:latin typeface="Cambria" panose="02040503050406030204" pitchFamily="18" charset="0"/>
                <a:ea typeface="Cambria" panose="02040503050406030204" pitchFamily="18" charset="0"/>
              </a:rPr>
              <a:t>end;</a:t>
            </a:r>
          </a:p>
          <a:p>
            <a:pPr>
              <a:buNone/>
            </a:pP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762000"/>
            <a:ext cx="4953000" cy="370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PL/SQL – Constants – Find diameter, circumference, area</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1800" dirty="0" smtClean="0">
                <a:latin typeface="Cambria" panose="02040503050406030204" pitchFamily="18" charset="0"/>
                <a:ea typeface="Cambria" panose="02040503050406030204" pitchFamily="18" charset="0"/>
              </a:rPr>
              <a:t>declare</a:t>
            </a:r>
          </a:p>
          <a:p>
            <a:pPr>
              <a:buNone/>
            </a:pPr>
            <a:r>
              <a:rPr lang="en-US" sz="1800" dirty="0" smtClean="0">
                <a:latin typeface="Cambria" panose="02040503050406030204" pitchFamily="18" charset="0"/>
                <a:ea typeface="Cambria" panose="02040503050406030204" pitchFamily="18" charset="0"/>
              </a:rPr>
              <a:t>area number(15,11);</a:t>
            </a:r>
          </a:p>
          <a:p>
            <a:pPr>
              <a:buNone/>
            </a:pPr>
            <a:r>
              <a:rPr lang="en-US" sz="1800" dirty="0" smtClean="0">
                <a:latin typeface="Cambria" panose="02040503050406030204" pitchFamily="18" charset="0"/>
                <a:ea typeface="Cambria" panose="02040503050406030204" pitchFamily="18" charset="0"/>
              </a:rPr>
              <a:t>pi constant number := 3.141592654;</a:t>
            </a:r>
          </a:p>
          <a:p>
            <a:pPr>
              <a:buNone/>
            </a:pPr>
            <a:r>
              <a:rPr lang="en-US" sz="1800" dirty="0" smtClean="0">
                <a:latin typeface="Cambria" panose="02040503050406030204" pitchFamily="18" charset="0"/>
                <a:ea typeface="Cambria" panose="02040503050406030204" pitchFamily="18" charset="0"/>
              </a:rPr>
              <a:t>radius number(5,2) := 9.5;</a:t>
            </a:r>
          </a:p>
          <a:p>
            <a:pPr>
              <a:buNone/>
            </a:pPr>
            <a:r>
              <a:rPr lang="en-US" sz="1800" dirty="0" smtClean="0">
                <a:latin typeface="Cambria" panose="02040503050406030204" pitchFamily="18" charset="0"/>
                <a:ea typeface="Cambria" panose="02040503050406030204" pitchFamily="18" charset="0"/>
              </a:rPr>
              <a:t>diameter number(5,2);</a:t>
            </a:r>
          </a:p>
          <a:p>
            <a:pPr>
              <a:buNone/>
            </a:pPr>
            <a:r>
              <a:rPr lang="en-US" sz="1800" dirty="0" smtClean="0">
                <a:latin typeface="Cambria" panose="02040503050406030204" pitchFamily="18" charset="0"/>
                <a:ea typeface="Cambria" panose="02040503050406030204" pitchFamily="18" charset="0"/>
              </a:rPr>
              <a:t>circumference number(7,2);</a:t>
            </a:r>
          </a:p>
          <a:p>
            <a:pPr>
              <a:buNone/>
            </a:pPr>
            <a:r>
              <a:rPr lang="en-US" sz="1800" dirty="0" smtClean="0">
                <a:latin typeface="Cambria" panose="02040503050406030204" pitchFamily="18" charset="0"/>
                <a:ea typeface="Cambria" panose="02040503050406030204" pitchFamily="18" charset="0"/>
              </a:rPr>
              <a:t>begin</a:t>
            </a:r>
          </a:p>
          <a:p>
            <a:pPr>
              <a:buNone/>
            </a:pPr>
            <a:r>
              <a:rPr lang="en-US" sz="1800" dirty="0" smtClean="0">
                <a:latin typeface="Cambria" panose="02040503050406030204" pitchFamily="18" charset="0"/>
                <a:ea typeface="Cambria" panose="02040503050406030204" pitchFamily="18" charset="0"/>
              </a:rPr>
              <a:t>diameter:=radius*2;</a:t>
            </a:r>
          </a:p>
          <a:p>
            <a:pPr>
              <a:buNone/>
            </a:pPr>
            <a:r>
              <a:rPr lang="en-US" sz="1800" dirty="0" smtClean="0">
                <a:latin typeface="Cambria" panose="02040503050406030204" pitchFamily="18" charset="0"/>
                <a:ea typeface="Cambria" panose="02040503050406030204" pitchFamily="18" charset="0"/>
              </a:rPr>
              <a:t>circumference:=2*pi*radius;</a:t>
            </a:r>
          </a:p>
          <a:p>
            <a:pPr>
              <a:buNone/>
            </a:pPr>
            <a:r>
              <a:rPr lang="en-US" sz="1800" dirty="0" smtClean="0">
                <a:latin typeface="Cambria" panose="02040503050406030204" pitchFamily="18" charset="0"/>
                <a:ea typeface="Cambria" panose="02040503050406030204" pitchFamily="18" charset="0"/>
              </a:rPr>
              <a:t>area := pi*radius*radius;</a:t>
            </a:r>
          </a:p>
          <a:p>
            <a:pPr>
              <a:buNone/>
            </a:pPr>
            <a:r>
              <a:rPr lang="en-US" sz="1800" dirty="0" err="1" smtClean="0">
                <a:latin typeface="Cambria" panose="02040503050406030204" pitchFamily="18" charset="0"/>
                <a:ea typeface="Cambria" panose="02040503050406030204" pitchFamily="18" charset="0"/>
              </a:rPr>
              <a:t>dbms_output.put_line</a:t>
            </a:r>
            <a:r>
              <a:rPr lang="en-US" sz="1800" dirty="0" smtClean="0">
                <a:latin typeface="Cambria" panose="02040503050406030204" pitchFamily="18" charset="0"/>
                <a:ea typeface="Cambria" panose="02040503050406030204" pitchFamily="18" charset="0"/>
              </a:rPr>
              <a:t>('radius: '||radius);</a:t>
            </a:r>
          </a:p>
          <a:p>
            <a:pPr>
              <a:buNone/>
            </a:pPr>
            <a:r>
              <a:rPr lang="en-US" sz="1800" dirty="0" err="1" smtClean="0">
                <a:latin typeface="Cambria" panose="02040503050406030204" pitchFamily="18" charset="0"/>
                <a:ea typeface="Cambria" panose="02040503050406030204" pitchFamily="18" charset="0"/>
              </a:rPr>
              <a:t>dbms_output.put_line</a:t>
            </a:r>
            <a:r>
              <a:rPr lang="en-US" sz="1800" dirty="0" smtClean="0">
                <a:latin typeface="Cambria" panose="02040503050406030204" pitchFamily="18" charset="0"/>
                <a:ea typeface="Cambria" panose="02040503050406030204" pitchFamily="18" charset="0"/>
              </a:rPr>
              <a:t>('diameter: '||diameter);</a:t>
            </a:r>
          </a:p>
          <a:p>
            <a:pPr>
              <a:buNone/>
            </a:pPr>
            <a:r>
              <a:rPr lang="en-US" sz="1800" dirty="0" err="1" smtClean="0">
                <a:latin typeface="Cambria" panose="02040503050406030204" pitchFamily="18" charset="0"/>
                <a:ea typeface="Cambria" panose="02040503050406030204" pitchFamily="18" charset="0"/>
              </a:rPr>
              <a:t>dbms_output.put_line</a:t>
            </a:r>
            <a:r>
              <a:rPr lang="en-US" sz="1800" dirty="0" smtClean="0">
                <a:latin typeface="Cambria" panose="02040503050406030204" pitchFamily="18" charset="0"/>
                <a:ea typeface="Cambria" panose="02040503050406030204" pitchFamily="18" charset="0"/>
              </a:rPr>
              <a:t>('circumference: '||circumference);</a:t>
            </a:r>
          </a:p>
          <a:p>
            <a:pPr>
              <a:buNone/>
            </a:pPr>
            <a:r>
              <a:rPr lang="en-US" sz="1800" dirty="0" err="1" smtClean="0">
                <a:latin typeface="Cambria" panose="02040503050406030204" pitchFamily="18" charset="0"/>
                <a:ea typeface="Cambria" panose="02040503050406030204" pitchFamily="18" charset="0"/>
              </a:rPr>
              <a:t>dbms_output.put_line</a:t>
            </a:r>
            <a:r>
              <a:rPr lang="en-US" sz="1800" dirty="0" smtClean="0">
                <a:latin typeface="Cambria" panose="02040503050406030204" pitchFamily="18" charset="0"/>
                <a:ea typeface="Cambria" panose="02040503050406030204" pitchFamily="18" charset="0"/>
              </a:rPr>
              <a:t>('area: '||area);</a:t>
            </a:r>
          </a:p>
          <a:p>
            <a:pPr>
              <a:buNone/>
            </a:pPr>
            <a:r>
              <a:rPr lang="en-US" sz="1800" dirty="0" smtClean="0">
                <a:latin typeface="Cambria" panose="02040503050406030204" pitchFamily="18" charset="0"/>
                <a:ea typeface="Cambria" panose="02040503050406030204" pitchFamily="18" charset="0"/>
              </a:rPr>
              <a:t>end;</a:t>
            </a:r>
          </a:p>
          <a:p>
            <a:pPr>
              <a:buNone/>
            </a:pPr>
            <a:r>
              <a:rPr lang="en-US" sz="1800" dirty="0" smtClean="0">
                <a:latin typeface="Cambria" panose="02040503050406030204" pitchFamily="18" charset="0"/>
                <a:ea typeface="Cambria" panose="02040503050406030204" pitchFamily="18" charset="0"/>
              </a:rPr>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2925" y="1219200"/>
            <a:ext cx="46386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ambria" panose="02040503050406030204" pitchFamily="18" charset="0"/>
                <a:ea typeface="Cambria" panose="02040503050406030204" pitchFamily="18" charset="0"/>
              </a:rPr>
              <a:t>Input from the user</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r>
              <a:rPr lang="en-US" dirty="0">
                <a:latin typeface="Cambria" panose="02040503050406030204" pitchFamily="18" charset="0"/>
                <a:ea typeface="Cambria" panose="02040503050406030204" pitchFamily="18" charset="0"/>
              </a:rPr>
              <a:t>declare</a:t>
            </a:r>
          </a:p>
          <a:p>
            <a:pPr marL="0" indent="0">
              <a:buNone/>
            </a:pPr>
            <a:r>
              <a:rPr lang="en-US" dirty="0">
                <a:latin typeface="Cambria" panose="02040503050406030204" pitchFamily="18" charset="0"/>
                <a:ea typeface="Cambria" panose="02040503050406030204" pitchFamily="18" charset="0"/>
              </a:rPr>
              <a:t>t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begin</a:t>
            </a:r>
          </a:p>
          <a:p>
            <a:pPr marL="0" indent="0">
              <a:buNone/>
            </a:pPr>
            <a:r>
              <a:rPr lang="en-US" dirty="0">
                <a:latin typeface="Cambria" panose="02040503050406030204" pitchFamily="18" charset="0"/>
                <a:ea typeface="Cambria" panose="02040503050406030204" pitchFamily="18" charset="0"/>
              </a:rPr>
              <a:t>t := &amp;t;</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('Value of t is: '||t);</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657600"/>
            <a:ext cx="4971914" cy="2973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48118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r>
              <a:rPr lang="en-US" dirty="0">
                <a:latin typeface="Cambria" panose="02040503050406030204" pitchFamily="18" charset="0"/>
                <a:ea typeface="Cambria" panose="02040503050406030204" pitchFamily="18" charset="0"/>
              </a:rPr>
              <a:t>declare</a:t>
            </a:r>
          </a:p>
          <a:p>
            <a:pPr marL="0" indent="0">
              <a:buNone/>
            </a:pPr>
            <a:r>
              <a:rPr lang="en-US" dirty="0">
                <a:latin typeface="Cambria" panose="02040503050406030204" pitchFamily="18" charset="0"/>
                <a:ea typeface="Cambria" panose="02040503050406030204" pitchFamily="18" charset="0"/>
              </a:rPr>
              <a:t>t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s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begin</a:t>
            </a:r>
          </a:p>
          <a:p>
            <a:pPr marL="0" indent="0">
              <a:buNone/>
            </a:pPr>
            <a:r>
              <a:rPr lang="en-US" dirty="0">
                <a:latin typeface="Cambria" panose="02040503050406030204" pitchFamily="18" charset="0"/>
                <a:ea typeface="Cambria" panose="02040503050406030204" pitchFamily="18" charset="0"/>
              </a:rPr>
              <a:t>t := &amp;t;</a:t>
            </a:r>
          </a:p>
          <a:p>
            <a:pPr marL="0" indent="0">
              <a:buNone/>
            </a:pPr>
            <a:r>
              <a:rPr lang="en-US" dirty="0">
                <a:latin typeface="Cambria" panose="02040503050406030204" pitchFamily="18" charset="0"/>
                <a:ea typeface="Cambria" panose="02040503050406030204" pitchFamily="18" charset="0"/>
              </a:rPr>
              <a:t>s := &amp;s;</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('Sum is: '||(</a:t>
            </a:r>
            <a:r>
              <a:rPr lang="en-US" dirty="0" err="1">
                <a:latin typeface="Cambria" panose="02040503050406030204" pitchFamily="18" charset="0"/>
                <a:ea typeface="Cambria" panose="02040503050406030204" pitchFamily="18" charset="0"/>
              </a:rPr>
              <a:t>s+t</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457200"/>
            <a:ext cx="5251984"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37812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If Structure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a:buNone/>
            </a:pPr>
            <a:r>
              <a:rPr lang="en-US" dirty="0" smtClean="0">
                <a:latin typeface="Cambria" panose="02040503050406030204" pitchFamily="18" charset="0"/>
                <a:ea typeface="Cambria" panose="02040503050406030204" pitchFamily="18" charset="0"/>
              </a:rPr>
              <a:t>IF condition1   </a:t>
            </a:r>
          </a:p>
          <a:p>
            <a:pPr>
              <a:buNone/>
            </a:pPr>
            <a:r>
              <a:rPr lang="en-US" dirty="0" smtClean="0">
                <a:latin typeface="Cambria" panose="02040503050406030204" pitchFamily="18" charset="0"/>
                <a:ea typeface="Cambria" panose="02040503050406030204" pitchFamily="18" charset="0"/>
              </a:rPr>
              <a:t>THEN    </a:t>
            </a:r>
          </a:p>
          <a:p>
            <a:pPr>
              <a:buNone/>
            </a:pPr>
            <a:r>
              <a:rPr lang="en-US" dirty="0" smtClean="0">
                <a:latin typeface="Cambria" panose="02040503050406030204" pitchFamily="18" charset="0"/>
                <a:ea typeface="Cambria" panose="02040503050406030204" pitchFamily="18" charset="0"/>
              </a:rPr>
              <a:t> {...statements to execute when condition1 is TRUE...}  </a:t>
            </a:r>
          </a:p>
          <a:p>
            <a:pPr>
              <a:buNone/>
            </a:pPr>
            <a:r>
              <a:rPr lang="en-US" dirty="0" smtClean="0">
                <a:latin typeface="Cambria" panose="02040503050406030204" pitchFamily="18" charset="0"/>
                <a:ea typeface="Cambria" panose="02040503050406030204" pitchFamily="18" charset="0"/>
              </a:rPr>
              <a:t>ELSIF condition2  </a:t>
            </a:r>
          </a:p>
          <a:p>
            <a:pPr>
              <a:buNone/>
            </a:pPr>
            <a:r>
              <a:rPr lang="en-US" dirty="0" smtClean="0">
                <a:latin typeface="Cambria" panose="02040503050406030204" pitchFamily="18" charset="0"/>
                <a:ea typeface="Cambria" panose="02040503050406030204" pitchFamily="18" charset="0"/>
              </a:rPr>
              <a:t> THEN    </a:t>
            </a:r>
          </a:p>
          <a:p>
            <a:pPr>
              <a:buNone/>
            </a:pPr>
            <a:r>
              <a:rPr lang="en-US" dirty="0" smtClean="0">
                <a:latin typeface="Cambria" panose="02040503050406030204" pitchFamily="18" charset="0"/>
                <a:ea typeface="Cambria" panose="02040503050406030204" pitchFamily="18" charset="0"/>
              </a:rPr>
              <a:t> {...statements to execute when condition2 is TRUE...} </a:t>
            </a:r>
          </a:p>
          <a:p>
            <a:pPr>
              <a:buNone/>
            </a:pPr>
            <a:r>
              <a:rPr lang="en-US" dirty="0" smtClean="0">
                <a:latin typeface="Cambria" panose="02040503050406030204" pitchFamily="18" charset="0"/>
                <a:ea typeface="Cambria" panose="02040503050406030204" pitchFamily="18" charset="0"/>
              </a:rPr>
              <a:t> ELSE   </a:t>
            </a:r>
          </a:p>
          <a:p>
            <a:pPr>
              <a:buNone/>
            </a:pPr>
            <a:r>
              <a:rPr lang="en-US" dirty="0" smtClean="0">
                <a:latin typeface="Cambria" panose="02040503050406030204" pitchFamily="18" charset="0"/>
                <a:ea typeface="Cambria" panose="02040503050406030204" pitchFamily="18" charset="0"/>
              </a:rPr>
              <a:t>  {...statements to execute when both condition1 and condition2 are FALSE...} </a:t>
            </a:r>
          </a:p>
          <a:p>
            <a:pPr>
              <a:buNone/>
            </a:pPr>
            <a:r>
              <a:rPr lang="en-US" dirty="0" smtClean="0">
                <a:latin typeface="Cambria" panose="02040503050406030204" pitchFamily="18" charset="0"/>
                <a:ea typeface="Cambria" panose="02040503050406030204" pitchFamily="18" charset="0"/>
              </a:rPr>
              <a:t> END IF; </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PL/SQL Basics – If – Example – </a:t>
            </a:r>
            <a:br>
              <a:rPr lang="en-US" dirty="0" smtClean="0">
                <a:latin typeface="Cambria" panose="02040503050406030204" pitchFamily="18" charset="0"/>
                <a:ea typeface="Cambria" panose="02040503050406030204" pitchFamily="18" charset="0"/>
              </a:rPr>
            </a:br>
            <a:r>
              <a:rPr lang="en-US" dirty="0" smtClean="0">
                <a:latin typeface="Cambria" panose="02040503050406030204" pitchFamily="18" charset="0"/>
                <a:ea typeface="Cambria" panose="02040503050406030204" pitchFamily="18" charset="0"/>
              </a:rPr>
              <a:t>Given number is Greater or lesser</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fontScale="92500" lnSpcReduction="20000"/>
          </a:bodyPr>
          <a:lstStyle/>
          <a:p>
            <a:pPr marL="0" indent="0">
              <a:buNone/>
            </a:pPr>
            <a:r>
              <a:rPr lang="en-US" dirty="0">
                <a:latin typeface="Cambria" panose="02040503050406030204" pitchFamily="18" charset="0"/>
                <a:ea typeface="Cambria" panose="02040503050406030204" pitchFamily="18" charset="0"/>
              </a:rPr>
              <a:t>declare  </a:t>
            </a:r>
          </a:p>
          <a:p>
            <a:pPr marL="0" indent="0">
              <a:buNone/>
            </a:pPr>
            <a:r>
              <a:rPr lang="en-US" dirty="0">
                <a:latin typeface="Cambria" panose="02040503050406030204" pitchFamily="18" charset="0"/>
                <a:ea typeface="Cambria" panose="02040503050406030204" pitchFamily="18" charset="0"/>
              </a:rPr>
              <a:t>   a number(3) := 500;  </a:t>
            </a:r>
          </a:p>
          <a:p>
            <a:pPr marL="0" indent="0">
              <a:buNone/>
            </a:pPr>
            <a:r>
              <a:rPr lang="en-US" dirty="0">
                <a:latin typeface="Cambria" panose="02040503050406030204" pitchFamily="18" charset="0"/>
                <a:ea typeface="Cambria" panose="02040503050406030204" pitchFamily="18" charset="0"/>
              </a:rPr>
              <a:t>begin  </a:t>
            </a:r>
          </a:p>
          <a:p>
            <a:pPr marL="0" indent="0">
              <a:buNone/>
            </a:pPr>
            <a:r>
              <a:rPr lang="en-US" dirty="0">
                <a:latin typeface="Cambria" panose="02040503050406030204" pitchFamily="18" charset="0"/>
                <a:ea typeface="Cambria" panose="02040503050406030204" pitchFamily="18" charset="0"/>
              </a:rPr>
              <a:t>   -- check the </a:t>
            </a:r>
            <a:r>
              <a:rPr lang="en-US" dirty="0" err="1">
                <a:latin typeface="Cambria" panose="02040503050406030204" pitchFamily="18" charset="0"/>
                <a:ea typeface="Cambria" panose="02040503050406030204" pitchFamily="18" charset="0"/>
              </a:rPr>
              <a:t>boolean</a:t>
            </a:r>
            <a:r>
              <a:rPr lang="en-US" dirty="0">
                <a:latin typeface="Cambria" panose="02040503050406030204" pitchFamily="18" charset="0"/>
                <a:ea typeface="Cambria" panose="02040503050406030204" pitchFamily="18" charset="0"/>
              </a:rPr>
              <a:t> condition using if statement   </a:t>
            </a:r>
          </a:p>
          <a:p>
            <a:pPr marL="0" indent="0">
              <a:buNone/>
            </a:pPr>
            <a:r>
              <a:rPr lang="en-US" dirty="0">
                <a:latin typeface="Cambria" panose="02040503050406030204" pitchFamily="18" charset="0"/>
                <a:ea typeface="Cambria" panose="02040503050406030204" pitchFamily="18" charset="0"/>
              </a:rPr>
              <a:t>   if( a &lt; 20 ) then  </a:t>
            </a:r>
          </a:p>
          <a:p>
            <a:pPr marL="0" indent="0">
              <a:buNone/>
            </a:pPr>
            <a:r>
              <a:rPr lang="en-US" dirty="0">
                <a:latin typeface="Cambria" panose="02040503050406030204" pitchFamily="18" charset="0"/>
                <a:ea typeface="Cambria" panose="02040503050406030204" pitchFamily="18" charset="0"/>
              </a:rPr>
              <a:t>      -- if condition is true then print the following    </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('a is less than 20 ' );  </a:t>
            </a:r>
          </a:p>
          <a:p>
            <a:pPr marL="0" indent="0">
              <a:buNone/>
            </a:pPr>
            <a:r>
              <a:rPr lang="en-US" dirty="0">
                <a:latin typeface="Cambria" panose="02040503050406030204" pitchFamily="18" charset="0"/>
                <a:ea typeface="Cambria" panose="02040503050406030204" pitchFamily="18" charset="0"/>
              </a:rPr>
              <a:t>   else  </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('a is not less than 20 ' );  </a:t>
            </a:r>
          </a:p>
          <a:p>
            <a:pPr marL="0" indent="0">
              <a:buNone/>
            </a:pPr>
            <a:r>
              <a:rPr lang="en-US" dirty="0">
                <a:latin typeface="Cambria" panose="02040503050406030204" pitchFamily="18" charset="0"/>
                <a:ea typeface="Cambria" panose="02040503050406030204" pitchFamily="18" charset="0"/>
              </a:rPr>
              <a:t>   end if;  </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('value of a is : ' || a);  </a:t>
            </a:r>
          </a:p>
          <a:p>
            <a:pPr marL="0" indent="0">
              <a:buNone/>
            </a:pPr>
            <a:r>
              <a:rPr lang="en-US" dirty="0">
                <a:latin typeface="Cambria" panose="02040503050406030204" pitchFamily="18" charset="0"/>
                <a:ea typeface="Cambria" panose="02040503050406030204" pitchFamily="18" charset="0"/>
              </a:rPr>
              <a:t>end;  </a:t>
            </a:r>
          </a:p>
          <a:p>
            <a:pPr marL="0" indent="0">
              <a:buNone/>
            </a:pPr>
            <a:r>
              <a:rPr lang="en-US" dirty="0">
                <a:latin typeface="Cambria" panose="02040503050406030204" pitchFamily="18" charset="0"/>
                <a:ea typeface="Cambria" panose="02040503050406030204" pitchFamily="18" charset="0"/>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PL/SQL Basics – If – Example – </a:t>
            </a:r>
            <a:br>
              <a:rPr lang="en-US" dirty="0" smtClean="0"/>
            </a:br>
            <a:r>
              <a:rPr lang="en-US" dirty="0" smtClean="0"/>
              <a:t>Given number is Greater or lesser</a:t>
            </a:r>
            <a:endParaRPr lang="en-US" dirty="0"/>
          </a:p>
        </p:txBody>
      </p:sp>
      <p:sp>
        <p:nvSpPr>
          <p:cNvPr id="3" name="Content Placeholder 2"/>
          <p:cNvSpPr>
            <a:spLocks noGrp="1"/>
          </p:cNvSpPr>
          <p:nvPr>
            <p:ph sz="quarter" idx="1"/>
          </p:nvPr>
        </p:nvSpPr>
        <p:spPr/>
        <p:txBody>
          <a:bodyPr>
            <a:normAutofit/>
          </a:bodyPr>
          <a:lstStyle/>
          <a:p>
            <a:pPr marL="0" indent="0">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95400"/>
            <a:ext cx="743414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82912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ambria" panose="02040503050406030204" pitchFamily="18" charset="0"/>
                <a:ea typeface="Cambria" panose="02040503050406030204" pitchFamily="18" charset="0"/>
              </a:rPr>
              <a:t>Greatest of 3 numbers</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fontScale="77500" lnSpcReduction="20000"/>
          </a:bodyPr>
          <a:lstStyle/>
          <a:p>
            <a:pPr marL="0" indent="0">
              <a:buNone/>
            </a:pPr>
            <a:r>
              <a:rPr lang="en-US" dirty="0">
                <a:latin typeface="Cambria" panose="02040503050406030204" pitchFamily="18" charset="0"/>
                <a:ea typeface="Cambria" panose="02040503050406030204" pitchFamily="18" charset="0"/>
              </a:rPr>
              <a:t>declare</a:t>
            </a:r>
          </a:p>
          <a:p>
            <a:pPr marL="0" indent="0">
              <a:buNone/>
            </a:pPr>
            <a:r>
              <a:rPr lang="en-US" dirty="0">
                <a:latin typeface="Cambria" panose="02040503050406030204" pitchFamily="18" charset="0"/>
                <a:ea typeface="Cambria" panose="02040503050406030204" pitchFamily="18" charset="0"/>
              </a:rPr>
              <a:t>a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:=2;</a:t>
            </a:r>
          </a:p>
          <a:p>
            <a:pPr marL="0" indent="0">
              <a:buNone/>
            </a:pPr>
            <a:r>
              <a:rPr lang="en-US" dirty="0">
                <a:latin typeface="Cambria" panose="02040503050406030204" pitchFamily="18" charset="0"/>
                <a:ea typeface="Cambria" panose="02040503050406030204" pitchFamily="18" charset="0"/>
              </a:rPr>
              <a:t>b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:=3;</a:t>
            </a:r>
          </a:p>
          <a:p>
            <a:pPr marL="0" indent="0">
              <a:buNone/>
            </a:pPr>
            <a:r>
              <a:rPr lang="en-US" dirty="0">
                <a:latin typeface="Cambria" panose="02040503050406030204" pitchFamily="18" charset="0"/>
                <a:ea typeface="Cambria" panose="02040503050406030204" pitchFamily="18" charset="0"/>
              </a:rPr>
              <a:t>c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:=4;</a:t>
            </a:r>
          </a:p>
          <a:p>
            <a:pPr marL="0" indent="0">
              <a:buNone/>
            </a:pPr>
            <a:r>
              <a:rPr lang="en-US" dirty="0">
                <a:latin typeface="Cambria" panose="02040503050406030204" pitchFamily="18" charset="0"/>
                <a:ea typeface="Cambria" panose="02040503050406030204" pitchFamily="18" charset="0"/>
              </a:rPr>
              <a:t>begin</a:t>
            </a:r>
          </a:p>
          <a:p>
            <a:pPr marL="0" indent="0">
              <a:buNone/>
            </a:pPr>
            <a:r>
              <a:rPr lang="en-US" dirty="0">
                <a:latin typeface="Cambria" panose="02040503050406030204" pitchFamily="18" charset="0"/>
                <a:ea typeface="Cambria" panose="02040503050406030204" pitchFamily="18" charset="0"/>
              </a:rPr>
              <a:t>if ( a &gt; b and a &gt; c) then</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('a is greater');</a:t>
            </a:r>
          </a:p>
          <a:p>
            <a:pPr marL="0" indent="0">
              <a:buNone/>
            </a:pPr>
            <a:r>
              <a:rPr lang="en-US" dirty="0">
                <a:latin typeface="Cambria" panose="02040503050406030204" pitchFamily="18" charset="0"/>
                <a:ea typeface="Cambria" panose="02040503050406030204" pitchFamily="18" charset="0"/>
              </a:rPr>
              <a:t>else if( b &gt; c) then</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('b is greater');</a:t>
            </a:r>
          </a:p>
          <a:p>
            <a:pPr marL="0" indent="0">
              <a:buNone/>
            </a:pPr>
            <a:r>
              <a:rPr lang="en-US" dirty="0">
                <a:latin typeface="Cambria" panose="02040503050406030204" pitchFamily="18" charset="0"/>
                <a:ea typeface="Cambria" panose="02040503050406030204" pitchFamily="18" charset="0"/>
              </a:rPr>
              <a:t>else</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('c is greater');</a:t>
            </a:r>
          </a:p>
          <a:p>
            <a:pPr marL="0" indent="0">
              <a:buNone/>
            </a:pPr>
            <a:r>
              <a:rPr lang="en-US" dirty="0">
                <a:latin typeface="Cambria" panose="02040503050406030204" pitchFamily="18" charset="0"/>
                <a:ea typeface="Cambria" panose="02040503050406030204" pitchFamily="18" charset="0"/>
              </a:rPr>
              <a:t>end if;</a:t>
            </a:r>
          </a:p>
          <a:p>
            <a:pPr marL="0" indent="0">
              <a:buNone/>
            </a:pPr>
            <a:r>
              <a:rPr lang="en-US" dirty="0">
                <a:latin typeface="Cambria" panose="02040503050406030204" pitchFamily="18" charset="0"/>
                <a:ea typeface="Cambria" panose="02040503050406030204" pitchFamily="18" charset="0"/>
              </a:rPr>
              <a:t>end if;</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199" y="1676400"/>
            <a:ext cx="4507833"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24369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Case Structure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Cambria" panose="02040503050406030204" pitchFamily="18" charset="0"/>
                <a:ea typeface="Cambria" panose="02040503050406030204" pitchFamily="18" charset="0"/>
              </a:rPr>
              <a:t>CASE [ expression ]  </a:t>
            </a:r>
          </a:p>
          <a:p>
            <a:pPr>
              <a:buNone/>
            </a:pPr>
            <a:r>
              <a:rPr lang="en-US" dirty="0" smtClean="0">
                <a:latin typeface="Cambria" panose="02040503050406030204" pitchFamily="18" charset="0"/>
                <a:ea typeface="Cambria" panose="02040503050406030204" pitchFamily="18" charset="0"/>
              </a:rPr>
              <a:t>WHEN condition_1 THEN result_1  </a:t>
            </a:r>
          </a:p>
          <a:p>
            <a:pPr>
              <a:buNone/>
            </a:pPr>
            <a:r>
              <a:rPr lang="en-US" dirty="0" smtClean="0">
                <a:latin typeface="Cambria" panose="02040503050406030204" pitchFamily="18" charset="0"/>
                <a:ea typeface="Cambria" panose="02040503050406030204" pitchFamily="18" charset="0"/>
              </a:rPr>
              <a:t>   WHEN condition_2 THEN result_2  </a:t>
            </a:r>
          </a:p>
          <a:p>
            <a:pPr>
              <a:buNone/>
            </a:pPr>
            <a:r>
              <a:rPr lang="en-US" dirty="0" smtClean="0">
                <a:latin typeface="Cambria" panose="02040503050406030204" pitchFamily="18" charset="0"/>
                <a:ea typeface="Cambria" panose="02040503050406030204" pitchFamily="18" charset="0"/>
              </a:rPr>
              <a:t>   ...  </a:t>
            </a:r>
          </a:p>
          <a:p>
            <a:pPr>
              <a:buNone/>
            </a:pPr>
            <a:r>
              <a:rPr lang="en-US" dirty="0" smtClean="0">
                <a:latin typeface="Cambria" panose="02040503050406030204" pitchFamily="18" charset="0"/>
                <a:ea typeface="Cambria" panose="02040503050406030204" pitchFamily="18" charset="0"/>
              </a:rPr>
              <a:t>   WHEN </a:t>
            </a:r>
            <a:r>
              <a:rPr lang="en-US" dirty="0" err="1" smtClean="0">
                <a:latin typeface="Cambria" panose="02040503050406030204" pitchFamily="18" charset="0"/>
                <a:ea typeface="Cambria" panose="02040503050406030204" pitchFamily="18" charset="0"/>
              </a:rPr>
              <a:t>condition_n</a:t>
            </a:r>
            <a:r>
              <a:rPr lang="en-US" dirty="0" smtClean="0">
                <a:latin typeface="Cambria" panose="02040503050406030204" pitchFamily="18" charset="0"/>
                <a:ea typeface="Cambria" panose="02040503050406030204" pitchFamily="18" charset="0"/>
              </a:rPr>
              <a:t> THEN </a:t>
            </a:r>
            <a:r>
              <a:rPr lang="en-US" dirty="0" err="1" smtClean="0">
                <a:latin typeface="Cambria" panose="02040503050406030204" pitchFamily="18" charset="0"/>
                <a:ea typeface="Cambria" panose="02040503050406030204" pitchFamily="18" charset="0"/>
              </a:rPr>
              <a:t>result_n</a:t>
            </a:r>
            <a:r>
              <a:rPr lang="en-US" dirty="0" smtClean="0">
                <a:latin typeface="Cambria" panose="02040503050406030204" pitchFamily="18" charset="0"/>
                <a:ea typeface="Cambria" panose="02040503050406030204" pitchFamily="18" charset="0"/>
              </a:rPr>
              <a:t>  </a:t>
            </a:r>
          </a:p>
          <a:p>
            <a:pPr>
              <a:buNone/>
            </a:pPr>
            <a:r>
              <a:rPr lang="en-US" dirty="0" smtClean="0">
                <a:latin typeface="Cambria" panose="02040503050406030204" pitchFamily="18" charset="0"/>
                <a:ea typeface="Cambria" panose="02040503050406030204" pitchFamily="18" charset="0"/>
              </a:rPr>
              <a:t> ELSE result  </a:t>
            </a:r>
          </a:p>
          <a:p>
            <a:pPr>
              <a:buNone/>
            </a:pPr>
            <a:r>
              <a:rPr lang="en-US" dirty="0" smtClean="0">
                <a:latin typeface="Cambria" panose="02040503050406030204" pitchFamily="18" charset="0"/>
                <a:ea typeface="Cambria" panose="02040503050406030204" pitchFamily="18" charset="0"/>
              </a:rPr>
              <a:t>END   </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Case - Example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fontScale="85000" lnSpcReduction="20000"/>
          </a:bodyPr>
          <a:lstStyle/>
          <a:p>
            <a:pPr marL="0" indent="0">
              <a:buNone/>
            </a:pPr>
            <a:r>
              <a:rPr lang="en-US" dirty="0">
                <a:latin typeface="Cambria" panose="02040503050406030204" pitchFamily="18" charset="0"/>
                <a:ea typeface="Cambria" panose="02040503050406030204" pitchFamily="18" charset="0"/>
              </a:rPr>
              <a:t>declare  </a:t>
            </a:r>
          </a:p>
          <a:p>
            <a:pPr marL="0" indent="0">
              <a:buNone/>
            </a:pPr>
            <a:r>
              <a:rPr lang="en-US" dirty="0">
                <a:latin typeface="Cambria" panose="02040503050406030204" pitchFamily="18" charset="0"/>
                <a:ea typeface="Cambria" panose="02040503050406030204" pitchFamily="18" charset="0"/>
              </a:rPr>
              <a:t>   grade char(1) := 'a';  </a:t>
            </a:r>
          </a:p>
          <a:p>
            <a:pPr marL="0" indent="0">
              <a:buNone/>
            </a:pPr>
            <a:r>
              <a:rPr lang="en-US" dirty="0">
                <a:latin typeface="Cambria" panose="02040503050406030204" pitchFamily="18" charset="0"/>
                <a:ea typeface="Cambria" panose="02040503050406030204" pitchFamily="18" charset="0"/>
              </a:rPr>
              <a:t>begin  </a:t>
            </a:r>
          </a:p>
          <a:p>
            <a:pPr marL="0" indent="0">
              <a:buNone/>
            </a:pPr>
            <a:r>
              <a:rPr lang="en-US" dirty="0">
                <a:latin typeface="Cambria" panose="02040503050406030204" pitchFamily="18" charset="0"/>
                <a:ea typeface="Cambria" panose="02040503050406030204" pitchFamily="18" charset="0"/>
              </a:rPr>
              <a:t>   case grade  </a:t>
            </a:r>
          </a:p>
          <a:p>
            <a:pPr marL="0" indent="0">
              <a:buNone/>
            </a:pPr>
            <a:r>
              <a:rPr lang="en-US" dirty="0">
                <a:latin typeface="Cambria" panose="02040503050406030204" pitchFamily="18" charset="0"/>
                <a:ea typeface="Cambria" panose="02040503050406030204" pitchFamily="18" charset="0"/>
              </a:rPr>
              <a:t>      when 'a' then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('excellent');  </a:t>
            </a:r>
          </a:p>
          <a:p>
            <a:pPr marL="0" indent="0">
              <a:buNone/>
            </a:pPr>
            <a:r>
              <a:rPr lang="en-US" dirty="0">
                <a:latin typeface="Cambria" panose="02040503050406030204" pitchFamily="18" charset="0"/>
                <a:ea typeface="Cambria" panose="02040503050406030204" pitchFamily="18" charset="0"/>
              </a:rPr>
              <a:t>      when 'b' then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('very good');  </a:t>
            </a:r>
          </a:p>
          <a:p>
            <a:pPr marL="0" indent="0">
              <a:buNone/>
            </a:pPr>
            <a:r>
              <a:rPr lang="en-US" dirty="0">
                <a:latin typeface="Cambria" panose="02040503050406030204" pitchFamily="18" charset="0"/>
                <a:ea typeface="Cambria" panose="02040503050406030204" pitchFamily="18" charset="0"/>
              </a:rPr>
              <a:t>      when 'c' then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('good');  </a:t>
            </a:r>
          </a:p>
          <a:p>
            <a:pPr marL="0" indent="0">
              <a:buNone/>
            </a:pPr>
            <a:r>
              <a:rPr lang="en-US" dirty="0">
                <a:latin typeface="Cambria" panose="02040503050406030204" pitchFamily="18" charset="0"/>
                <a:ea typeface="Cambria" panose="02040503050406030204" pitchFamily="18" charset="0"/>
              </a:rPr>
              <a:t>      when 'd' then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('average');  </a:t>
            </a:r>
          </a:p>
          <a:p>
            <a:pPr marL="0" indent="0">
              <a:buNone/>
            </a:pPr>
            <a:r>
              <a:rPr lang="en-US" dirty="0">
                <a:latin typeface="Cambria" panose="02040503050406030204" pitchFamily="18" charset="0"/>
                <a:ea typeface="Cambria" panose="02040503050406030204" pitchFamily="18" charset="0"/>
              </a:rPr>
              <a:t>      when 'f' then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('passed with grace');  </a:t>
            </a:r>
          </a:p>
          <a:p>
            <a:pPr marL="0" indent="0">
              <a:buNone/>
            </a:pPr>
            <a:r>
              <a:rPr lang="en-US" dirty="0">
                <a:latin typeface="Cambria" panose="02040503050406030204" pitchFamily="18" charset="0"/>
                <a:ea typeface="Cambria" panose="02040503050406030204" pitchFamily="18" charset="0"/>
              </a:rPr>
              <a:t>      else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('failed');  </a:t>
            </a:r>
          </a:p>
          <a:p>
            <a:pPr marL="0" indent="0">
              <a:buNone/>
            </a:pPr>
            <a:r>
              <a:rPr lang="en-US" dirty="0">
                <a:latin typeface="Cambria" panose="02040503050406030204" pitchFamily="18" charset="0"/>
                <a:ea typeface="Cambria" panose="02040503050406030204" pitchFamily="18" charset="0"/>
              </a:rPr>
              <a:t>   end case;  </a:t>
            </a:r>
          </a:p>
          <a:p>
            <a:pPr marL="0" indent="0">
              <a:buNone/>
            </a:pPr>
            <a:r>
              <a:rPr lang="en-US" dirty="0">
                <a:latin typeface="Cambria" panose="02040503050406030204" pitchFamily="18" charset="0"/>
                <a:ea typeface="Cambria" panose="02040503050406030204" pitchFamily="18" charset="0"/>
              </a:rPr>
              <a:t>end;  </a:t>
            </a:r>
          </a:p>
          <a:p>
            <a:pPr marL="0" indent="0">
              <a:buNone/>
            </a:pPr>
            <a:r>
              <a:rPr lang="en-US" dirty="0">
                <a:latin typeface="Cambria" panose="02040503050406030204" pitchFamily="18" charset="0"/>
                <a:ea typeface="Cambria" panose="02040503050406030204" pitchFamily="18" charset="0"/>
              </a:rPr>
              <a:t>/</a:t>
            </a:r>
          </a:p>
          <a:p>
            <a:pPr marL="0" indent="0">
              <a:buNone/>
            </a:pPr>
            <a:r>
              <a:rPr lang="en-US" dirty="0" smtClean="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Case - Output</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endParaRPr lang="en-US" dirty="0">
              <a:latin typeface="Cambria" panose="02040503050406030204" pitchFamily="18" charset="0"/>
              <a:ea typeface="Cambria" panose="020405030504060302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46123"/>
            <a:ext cx="839724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Loop - Structure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Cambria" panose="02040503050406030204" pitchFamily="18" charset="0"/>
                <a:ea typeface="Cambria" panose="02040503050406030204" pitchFamily="18" charset="0"/>
              </a:rPr>
              <a:t>LOOP  </a:t>
            </a:r>
          </a:p>
          <a:p>
            <a:pPr>
              <a:buNone/>
            </a:pPr>
            <a:r>
              <a:rPr lang="en-US" dirty="0" smtClean="0">
                <a:latin typeface="Cambria" panose="02040503050406030204" pitchFamily="18" charset="0"/>
                <a:ea typeface="Cambria" panose="02040503050406030204" pitchFamily="18" charset="0"/>
              </a:rPr>
              <a:t>  Sequence of statements;  </a:t>
            </a:r>
          </a:p>
          <a:p>
            <a:pPr>
              <a:buNone/>
            </a:pPr>
            <a:r>
              <a:rPr lang="en-US" dirty="0" smtClean="0">
                <a:latin typeface="Cambria" panose="02040503050406030204" pitchFamily="18" charset="0"/>
                <a:ea typeface="Cambria" panose="02040503050406030204" pitchFamily="18" charset="0"/>
              </a:rPr>
              <a:t>END LOOP;  </a:t>
            </a:r>
          </a:p>
          <a:p>
            <a:pPr>
              <a:buNone/>
            </a:pPr>
            <a:endParaRPr lang="en-US" dirty="0" smtClean="0">
              <a:latin typeface="Cambria" panose="02040503050406030204" pitchFamily="18" charset="0"/>
              <a:ea typeface="Cambria" panose="02040503050406030204" pitchFamily="18" charset="0"/>
            </a:endParaRPr>
          </a:p>
          <a:p>
            <a:pPr>
              <a:buNone/>
            </a:pPr>
            <a:r>
              <a:rPr lang="en-US" dirty="0" smtClean="0">
                <a:latin typeface="Cambria" panose="02040503050406030204" pitchFamily="18" charset="0"/>
                <a:ea typeface="Cambria" panose="02040503050406030204" pitchFamily="18" charset="0"/>
              </a:rPr>
              <a:t>Types:</a:t>
            </a:r>
          </a:p>
          <a:p>
            <a:r>
              <a:rPr lang="en-US" dirty="0" smtClean="0">
                <a:latin typeface="Cambria" panose="02040503050406030204" pitchFamily="18" charset="0"/>
                <a:ea typeface="Cambria" panose="02040503050406030204" pitchFamily="18" charset="0"/>
              </a:rPr>
              <a:t>There are 4 types of PL/SQL Loops.</a:t>
            </a:r>
          </a:p>
          <a:p>
            <a:pPr marL="514350" indent="-514350">
              <a:buFont typeface="+mj-lt"/>
              <a:buAutoNum type="arabicPeriod"/>
            </a:pPr>
            <a:r>
              <a:rPr lang="en-US" dirty="0" smtClean="0">
                <a:latin typeface="Cambria" panose="02040503050406030204" pitchFamily="18" charset="0"/>
                <a:ea typeface="Cambria" panose="02040503050406030204" pitchFamily="18" charset="0"/>
              </a:rPr>
              <a:t>Basic Loop / Exit Loop</a:t>
            </a:r>
          </a:p>
          <a:p>
            <a:pPr marL="514350" indent="-514350">
              <a:buFont typeface="+mj-lt"/>
              <a:buAutoNum type="arabicPeriod"/>
            </a:pPr>
            <a:r>
              <a:rPr lang="en-US" dirty="0" smtClean="0">
                <a:latin typeface="Cambria" panose="02040503050406030204" pitchFamily="18" charset="0"/>
                <a:ea typeface="Cambria" panose="02040503050406030204" pitchFamily="18" charset="0"/>
              </a:rPr>
              <a:t>While Loop</a:t>
            </a:r>
          </a:p>
          <a:p>
            <a:pPr marL="514350" indent="-514350">
              <a:buFont typeface="+mj-lt"/>
              <a:buAutoNum type="arabicPeriod"/>
            </a:pPr>
            <a:r>
              <a:rPr lang="en-US" dirty="0" smtClean="0">
                <a:latin typeface="Cambria" panose="02040503050406030204" pitchFamily="18" charset="0"/>
                <a:ea typeface="Cambria" panose="02040503050406030204" pitchFamily="18" charset="0"/>
              </a:rPr>
              <a:t>For Loop</a:t>
            </a:r>
          </a:p>
          <a:p>
            <a:pPr marL="514350" indent="-514350">
              <a:buFont typeface="+mj-lt"/>
              <a:buAutoNum type="arabicPeriod"/>
            </a:pPr>
            <a:r>
              <a:rPr lang="en-US" dirty="0" smtClean="0">
                <a:latin typeface="Cambria" panose="02040503050406030204" pitchFamily="18" charset="0"/>
                <a:ea typeface="Cambria" panose="02040503050406030204" pitchFamily="18" charset="0"/>
              </a:rPr>
              <a:t>Cursor For Loop</a:t>
            </a:r>
          </a:p>
          <a:p>
            <a:pPr>
              <a:buNone/>
            </a:pP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Basic Loop - Structure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Cambria" panose="02040503050406030204" pitchFamily="18" charset="0"/>
                <a:ea typeface="Cambria" panose="02040503050406030204" pitchFamily="18" charset="0"/>
              </a:rPr>
              <a:t>LOOP      statements;      </a:t>
            </a:r>
          </a:p>
          <a:p>
            <a:pPr>
              <a:buNone/>
            </a:pPr>
            <a:r>
              <a:rPr lang="en-US" dirty="0" smtClean="0">
                <a:latin typeface="Cambria" panose="02040503050406030204" pitchFamily="18" charset="0"/>
                <a:ea typeface="Cambria" panose="02040503050406030204" pitchFamily="18" charset="0"/>
              </a:rPr>
              <a:t>EXIT;      </a:t>
            </a:r>
          </a:p>
          <a:p>
            <a:pPr>
              <a:buNone/>
            </a:pPr>
            <a:r>
              <a:rPr lang="en-US" dirty="0" smtClean="0">
                <a:latin typeface="Cambria" panose="02040503050406030204" pitchFamily="18" charset="0"/>
                <a:ea typeface="Cambria" panose="02040503050406030204" pitchFamily="18" charset="0"/>
              </a:rPr>
              <a:t>{</a:t>
            </a:r>
          </a:p>
          <a:p>
            <a:pPr>
              <a:buNone/>
            </a:pPr>
            <a:r>
              <a:rPr lang="en-US" dirty="0" smtClean="0">
                <a:latin typeface="Cambria" panose="02040503050406030204" pitchFamily="18" charset="0"/>
                <a:ea typeface="Cambria" panose="02040503050406030204" pitchFamily="18" charset="0"/>
              </a:rPr>
              <a:t>or EXIT WHEN condition;</a:t>
            </a:r>
          </a:p>
          <a:p>
            <a:pPr>
              <a:buNone/>
            </a:pPr>
            <a:r>
              <a:rPr lang="en-US" dirty="0" smtClean="0">
                <a:latin typeface="Cambria" panose="02040503050406030204" pitchFamily="18" charset="0"/>
                <a:ea typeface="Cambria" panose="02040503050406030204" pitchFamily="18" charset="0"/>
              </a:rPr>
              <a:t>}  </a:t>
            </a:r>
          </a:p>
          <a:p>
            <a:pPr>
              <a:buNone/>
            </a:pPr>
            <a:r>
              <a:rPr lang="en-US" dirty="0" smtClean="0">
                <a:latin typeface="Cambria" panose="02040503050406030204" pitchFamily="18" charset="0"/>
                <a:ea typeface="Cambria" panose="02040503050406030204" pitchFamily="18" charset="0"/>
              </a:rPr>
              <a:t>END LOOP</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PL/SQL Basics – Basic Loop – Example – Print 1 to 10</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marL="0" indent="0">
              <a:buNone/>
            </a:pPr>
            <a:r>
              <a:rPr lang="en-US" dirty="0">
                <a:latin typeface="Cambria" panose="02040503050406030204" pitchFamily="18" charset="0"/>
                <a:ea typeface="Cambria" panose="02040503050406030204" pitchFamily="18" charset="0"/>
              </a:rPr>
              <a:t>declare  </a:t>
            </a:r>
          </a:p>
          <a:p>
            <a:pPr marL="0" indent="0">
              <a:buNone/>
            </a:pPr>
            <a:r>
              <a:rPr lang="en-US" dirty="0">
                <a:latin typeface="Cambria" panose="02040503050406030204" pitchFamily="18" charset="0"/>
                <a:ea typeface="Cambria" panose="02040503050406030204" pitchFamily="18" charset="0"/>
              </a:rPr>
              <a:t>i number := 1;  </a:t>
            </a:r>
          </a:p>
          <a:p>
            <a:pPr marL="0" indent="0">
              <a:buNone/>
            </a:pPr>
            <a:r>
              <a:rPr lang="en-US" dirty="0">
                <a:latin typeface="Cambria" panose="02040503050406030204" pitchFamily="18" charset="0"/>
                <a:ea typeface="Cambria" panose="02040503050406030204" pitchFamily="18" charset="0"/>
              </a:rPr>
              <a:t>begin  </a:t>
            </a:r>
          </a:p>
          <a:p>
            <a:pPr marL="0" indent="0">
              <a:buNone/>
            </a:pPr>
            <a:r>
              <a:rPr lang="en-US" dirty="0">
                <a:latin typeface="Cambria" panose="02040503050406030204" pitchFamily="18" charset="0"/>
                <a:ea typeface="Cambria" panose="02040503050406030204" pitchFamily="18" charset="0"/>
              </a:rPr>
              <a:t>loop  </a:t>
            </a:r>
          </a:p>
          <a:p>
            <a:pPr marL="0" indent="0">
              <a:buNone/>
            </a:pPr>
            <a:r>
              <a:rPr lang="en-US" dirty="0">
                <a:latin typeface="Cambria" panose="02040503050406030204" pitchFamily="18" charset="0"/>
                <a:ea typeface="Cambria" panose="02040503050406030204" pitchFamily="18" charset="0"/>
              </a:rPr>
              <a:t>exit when i</a:t>
            </a:r>
            <a:r>
              <a:rPr lang="en-US" dirty="0" smtClean="0">
                <a:latin typeface="Cambria" panose="02040503050406030204" pitchFamily="18" charset="0"/>
                <a:ea typeface="Cambria" panose="02040503050406030204" pitchFamily="18" charset="0"/>
              </a:rPr>
              <a:t>&gt;=10</a:t>
            </a:r>
            <a:r>
              <a:rPr lang="en-US" dirty="0">
                <a:latin typeface="Cambria" panose="02040503050406030204" pitchFamily="18" charset="0"/>
                <a:ea typeface="Cambria" panose="02040503050406030204" pitchFamily="18" charset="0"/>
              </a:rPr>
              <a:t>;  </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(i);  </a:t>
            </a:r>
          </a:p>
          <a:p>
            <a:pPr marL="0" indent="0">
              <a:buNone/>
            </a:pPr>
            <a:r>
              <a:rPr lang="en-US" dirty="0">
                <a:latin typeface="Cambria" panose="02040503050406030204" pitchFamily="18" charset="0"/>
                <a:ea typeface="Cambria" panose="02040503050406030204" pitchFamily="18" charset="0"/>
              </a:rPr>
              <a:t>i := i+1;  </a:t>
            </a:r>
          </a:p>
          <a:p>
            <a:pPr marL="0" indent="0">
              <a:buNone/>
            </a:pPr>
            <a:r>
              <a:rPr lang="en-US" dirty="0">
                <a:latin typeface="Cambria" panose="02040503050406030204" pitchFamily="18" charset="0"/>
                <a:ea typeface="Cambria" panose="02040503050406030204" pitchFamily="18" charset="0"/>
              </a:rPr>
              <a:t>end loop;  </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990600"/>
            <a:ext cx="4572000" cy="5355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While Loop - Structure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Cambria" panose="02040503050406030204" pitchFamily="18" charset="0"/>
                <a:ea typeface="Cambria" panose="02040503050406030204" pitchFamily="18" charset="0"/>
              </a:rPr>
              <a:t>WHILE &lt;condition&gt;    </a:t>
            </a:r>
          </a:p>
          <a:p>
            <a:pPr>
              <a:buNone/>
            </a:pPr>
            <a:r>
              <a:rPr lang="en-US" dirty="0" smtClean="0">
                <a:latin typeface="Cambria" panose="02040503050406030204" pitchFamily="18" charset="0"/>
                <a:ea typeface="Cambria" panose="02040503050406030204" pitchFamily="18" charset="0"/>
              </a:rPr>
              <a:t>LOOP statements;   </a:t>
            </a:r>
          </a:p>
          <a:p>
            <a:pPr>
              <a:buNone/>
            </a:pPr>
            <a:r>
              <a:rPr lang="en-US" dirty="0" smtClean="0">
                <a:latin typeface="Cambria" panose="02040503050406030204" pitchFamily="18" charset="0"/>
                <a:ea typeface="Cambria" panose="02040503050406030204" pitchFamily="18" charset="0"/>
              </a:rPr>
              <a:t>END LOOP; </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While Loop - Example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marL="0" indent="0">
              <a:buNone/>
            </a:pPr>
            <a:r>
              <a:rPr lang="en-US" dirty="0">
                <a:latin typeface="Cambria" panose="02040503050406030204" pitchFamily="18" charset="0"/>
                <a:ea typeface="Cambria" panose="02040503050406030204" pitchFamily="18" charset="0"/>
              </a:rPr>
              <a:t>declare  </a:t>
            </a:r>
          </a:p>
          <a:p>
            <a:pPr marL="0" indent="0">
              <a:buNone/>
            </a:pPr>
            <a:r>
              <a:rPr lang="en-US" dirty="0">
                <a:latin typeface="Cambria" panose="02040503050406030204" pitchFamily="18" charset="0"/>
                <a:ea typeface="Cambria" panose="02040503050406030204" pitchFamily="18" charset="0"/>
              </a:rPr>
              <a:t>i integer := 1;  </a:t>
            </a:r>
          </a:p>
          <a:p>
            <a:pPr marL="0" indent="0">
              <a:buNone/>
            </a:pPr>
            <a:r>
              <a:rPr lang="en-US" dirty="0">
                <a:latin typeface="Cambria" panose="02040503050406030204" pitchFamily="18" charset="0"/>
                <a:ea typeface="Cambria" panose="02040503050406030204" pitchFamily="18" charset="0"/>
              </a:rPr>
              <a:t>begin  </a:t>
            </a:r>
          </a:p>
          <a:p>
            <a:pPr marL="0" indent="0">
              <a:buNone/>
            </a:pPr>
            <a:r>
              <a:rPr lang="en-US" dirty="0">
                <a:latin typeface="Cambria" panose="02040503050406030204" pitchFamily="18" charset="0"/>
                <a:ea typeface="Cambria" panose="02040503050406030204" pitchFamily="18" charset="0"/>
              </a:rPr>
              <a:t>while i &lt;= 10 </a:t>
            </a:r>
          </a:p>
          <a:p>
            <a:pPr marL="0" indent="0">
              <a:buNone/>
            </a:pPr>
            <a:r>
              <a:rPr lang="en-US" dirty="0">
                <a:latin typeface="Cambria" panose="02040503050406030204" pitchFamily="18" charset="0"/>
                <a:ea typeface="Cambria" panose="02040503050406030204" pitchFamily="18" charset="0"/>
              </a:rPr>
              <a:t>loop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(i); </a:t>
            </a:r>
          </a:p>
          <a:p>
            <a:pPr marL="0" indent="0">
              <a:buNone/>
            </a:pPr>
            <a:r>
              <a:rPr lang="en-US" dirty="0">
                <a:latin typeface="Cambria" panose="02040503050406030204" pitchFamily="18" charset="0"/>
                <a:ea typeface="Cambria" panose="02040503050406030204" pitchFamily="18" charset="0"/>
              </a:rPr>
              <a:t>i := i+1;  </a:t>
            </a:r>
          </a:p>
          <a:p>
            <a:pPr marL="0" indent="0">
              <a:buNone/>
            </a:pPr>
            <a:r>
              <a:rPr lang="en-US" dirty="0">
                <a:latin typeface="Cambria" panose="02040503050406030204" pitchFamily="18" charset="0"/>
                <a:ea typeface="Cambria" panose="02040503050406030204" pitchFamily="18" charset="0"/>
              </a:rPr>
              <a:t>end loop;  </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7207" y="1828800"/>
            <a:ext cx="4176793" cy="4050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ambria" panose="02040503050406030204" pitchFamily="18" charset="0"/>
                <a:ea typeface="Cambria" panose="02040503050406030204" pitchFamily="18" charset="0"/>
              </a:rPr>
              <a:t>Multiples of 7</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latin typeface="Cambria" panose="02040503050406030204" pitchFamily="18" charset="0"/>
                <a:ea typeface="Cambria" panose="02040503050406030204" pitchFamily="18" charset="0"/>
              </a:rPr>
              <a:t>declare  </a:t>
            </a:r>
          </a:p>
          <a:p>
            <a:pPr marL="0" indent="0">
              <a:buNone/>
            </a:pPr>
            <a:r>
              <a:rPr lang="en-US" dirty="0">
                <a:latin typeface="Cambria" panose="02040503050406030204" pitchFamily="18" charset="0"/>
                <a:ea typeface="Cambria" panose="02040503050406030204" pitchFamily="18" charset="0"/>
              </a:rPr>
              <a:t>i integer := 1;  </a:t>
            </a:r>
          </a:p>
          <a:p>
            <a:pPr marL="0" indent="0">
              <a:buNone/>
            </a:pPr>
            <a:r>
              <a:rPr lang="en-US" dirty="0">
                <a:latin typeface="Cambria" panose="02040503050406030204" pitchFamily="18" charset="0"/>
                <a:ea typeface="Cambria" panose="02040503050406030204" pitchFamily="18" charset="0"/>
              </a:rPr>
              <a:t>begin  </a:t>
            </a:r>
          </a:p>
          <a:p>
            <a:pPr marL="0" indent="0">
              <a:buNone/>
            </a:pPr>
            <a:r>
              <a:rPr lang="en-US" dirty="0">
                <a:latin typeface="Cambria" panose="02040503050406030204" pitchFamily="18" charset="0"/>
                <a:ea typeface="Cambria" panose="02040503050406030204" pitchFamily="18" charset="0"/>
              </a:rPr>
              <a:t>while i &lt;= 70 </a:t>
            </a:r>
          </a:p>
          <a:p>
            <a:pPr marL="0" indent="0">
              <a:buNone/>
            </a:pPr>
            <a:r>
              <a:rPr lang="en-US" dirty="0">
                <a:latin typeface="Cambria" panose="02040503050406030204" pitchFamily="18" charset="0"/>
                <a:ea typeface="Cambria" panose="02040503050406030204" pitchFamily="18" charset="0"/>
              </a:rPr>
              <a:t>loop </a:t>
            </a:r>
          </a:p>
          <a:p>
            <a:pPr marL="0" indent="0">
              <a:buNone/>
            </a:pPr>
            <a:r>
              <a:rPr lang="en-US" dirty="0">
                <a:latin typeface="Cambria" panose="02040503050406030204" pitchFamily="18" charset="0"/>
                <a:ea typeface="Cambria" panose="02040503050406030204" pitchFamily="18" charset="0"/>
              </a:rPr>
              <a:t>if mod(i,7)=0 then</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(i); </a:t>
            </a:r>
          </a:p>
          <a:p>
            <a:pPr marL="0" indent="0">
              <a:buNone/>
            </a:pPr>
            <a:r>
              <a:rPr lang="en-US" dirty="0">
                <a:latin typeface="Cambria" panose="02040503050406030204" pitchFamily="18" charset="0"/>
                <a:ea typeface="Cambria" panose="02040503050406030204" pitchFamily="18" charset="0"/>
              </a:rPr>
              <a:t>end if; </a:t>
            </a:r>
          </a:p>
          <a:p>
            <a:pPr marL="0" indent="0">
              <a:buNone/>
            </a:pPr>
            <a:r>
              <a:rPr lang="en-US" dirty="0">
                <a:latin typeface="Cambria" panose="02040503050406030204" pitchFamily="18" charset="0"/>
                <a:ea typeface="Cambria" panose="02040503050406030204" pitchFamily="18" charset="0"/>
              </a:rPr>
              <a:t>i := i+1; </a:t>
            </a:r>
          </a:p>
          <a:p>
            <a:pPr marL="0" indent="0">
              <a:buNone/>
            </a:pPr>
            <a:r>
              <a:rPr lang="en-US" dirty="0">
                <a:latin typeface="Cambria" panose="02040503050406030204" pitchFamily="18" charset="0"/>
                <a:ea typeface="Cambria" panose="02040503050406030204" pitchFamily="18" charset="0"/>
              </a:rPr>
              <a:t>end loop;  </a:t>
            </a:r>
          </a:p>
          <a:p>
            <a:pPr marL="0" indent="0">
              <a:buNone/>
            </a:pPr>
            <a:r>
              <a:rPr lang="en-US" dirty="0">
                <a:latin typeface="Cambria" panose="02040503050406030204" pitchFamily="18" charset="0"/>
                <a:ea typeface="Cambria" panose="02040503050406030204" pitchFamily="18" charset="0"/>
              </a:rPr>
              <a:t>end;</a:t>
            </a:r>
          </a:p>
          <a:p>
            <a:pPr marL="0" indent="0">
              <a:buNone/>
            </a:pP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4438" y="692488"/>
            <a:ext cx="4203700"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41393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For Loop - Structure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Cambria" panose="02040503050406030204" pitchFamily="18" charset="0"/>
                <a:ea typeface="Cambria" panose="02040503050406030204" pitchFamily="18" charset="0"/>
              </a:rPr>
              <a:t>FOR counter IN </a:t>
            </a:r>
            <a:r>
              <a:rPr lang="en-US" dirty="0" err="1" smtClean="0">
                <a:latin typeface="Cambria" panose="02040503050406030204" pitchFamily="18" charset="0"/>
                <a:ea typeface="Cambria" panose="02040503050406030204" pitchFamily="18" charset="0"/>
              </a:rPr>
              <a:t>initial_value</a:t>
            </a:r>
            <a:r>
              <a:rPr lang="en-US" dirty="0" smtClean="0">
                <a:latin typeface="Cambria" panose="02040503050406030204" pitchFamily="18" charset="0"/>
                <a:ea typeface="Cambria" panose="02040503050406030204" pitchFamily="18" charset="0"/>
              </a:rPr>
              <a:t> .. </a:t>
            </a:r>
            <a:r>
              <a:rPr lang="en-US" dirty="0" err="1" smtClean="0">
                <a:latin typeface="Cambria" panose="02040503050406030204" pitchFamily="18" charset="0"/>
                <a:ea typeface="Cambria" panose="02040503050406030204" pitchFamily="18" charset="0"/>
              </a:rPr>
              <a:t>final_value</a:t>
            </a:r>
            <a:r>
              <a:rPr lang="en-US" dirty="0" smtClean="0">
                <a:latin typeface="Cambria" panose="02040503050406030204" pitchFamily="18" charset="0"/>
                <a:ea typeface="Cambria" panose="02040503050406030204" pitchFamily="18" charset="0"/>
              </a:rPr>
              <a:t> LOOP    </a:t>
            </a:r>
          </a:p>
          <a:p>
            <a:pPr>
              <a:buNone/>
            </a:pPr>
            <a:r>
              <a:rPr lang="en-US" dirty="0" smtClean="0">
                <a:latin typeface="Cambria" panose="02040503050406030204" pitchFamily="18" charset="0"/>
                <a:ea typeface="Cambria" panose="02040503050406030204" pitchFamily="18" charset="0"/>
              </a:rPr>
              <a:t>LOOP statements;   </a:t>
            </a:r>
          </a:p>
          <a:p>
            <a:pPr>
              <a:buNone/>
            </a:pPr>
            <a:r>
              <a:rPr lang="en-US" dirty="0" smtClean="0">
                <a:latin typeface="Cambria" panose="02040503050406030204" pitchFamily="18" charset="0"/>
                <a:ea typeface="Cambria" panose="02040503050406030204" pitchFamily="18" charset="0"/>
              </a:rPr>
              <a:t>END LOOP;</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PL/SQL Basics – For Loop – Example – </a:t>
            </a:r>
            <a:br>
              <a:rPr lang="en-US" dirty="0" smtClean="0">
                <a:latin typeface="Cambria" panose="02040503050406030204" pitchFamily="18" charset="0"/>
                <a:ea typeface="Cambria" panose="02040503050406030204" pitchFamily="18" charset="0"/>
              </a:rPr>
            </a:br>
            <a:r>
              <a:rPr lang="en-US" dirty="0" smtClean="0">
                <a:latin typeface="Cambria" panose="02040503050406030204" pitchFamily="18" charset="0"/>
                <a:ea typeface="Cambria" panose="02040503050406030204" pitchFamily="18" charset="0"/>
              </a:rPr>
              <a:t>Print 1 to 10</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endParaRPr lang="en-US" dirty="0">
              <a:latin typeface="Cambria" panose="02040503050406030204" pitchFamily="18" charset="0"/>
              <a:ea typeface="Cambria" panose="02040503050406030204" pitchFamily="18" charset="0"/>
            </a:endParaRPr>
          </a:p>
          <a:p>
            <a:pPr>
              <a:buNone/>
            </a:pPr>
            <a:r>
              <a:rPr lang="en-US" dirty="0">
                <a:latin typeface="Cambria" panose="02040503050406030204" pitchFamily="18" charset="0"/>
                <a:ea typeface="Cambria" panose="02040503050406030204" pitchFamily="18" charset="0"/>
              </a:rPr>
              <a:t>begin</a:t>
            </a:r>
          </a:p>
          <a:p>
            <a:pPr>
              <a:buNone/>
            </a:pPr>
            <a:r>
              <a:rPr lang="en-US" dirty="0">
                <a:latin typeface="Cambria" panose="02040503050406030204" pitchFamily="18" charset="0"/>
                <a:ea typeface="Cambria" panose="02040503050406030204" pitchFamily="18" charset="0"/>
              </a:rPr>
              <a:t>for i in 1..10</a:t>
            </a:r>
          </a:p>
          <a:p>
            <a:pPr>
              <a:buNone/>
            </a:pPr>
            <a:r>
              <a:rPr lang="en-US" dirty="0">
                <a:latin typeface="Cambria" panose="02040503050406030204" pitchFamily="18" charset="0"/>
                <a:ea typeface="Cambria" panose="02040503050406030204" pitchFamily="18" charset="0"/>
              </a:rPr>
              <a:t>loop</a:t>
            </a:r>
          </a:p>
          <a:p>
            <a:pPr>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(i); </a:t>
            </a:r>
          </a:p>
          <a:p>
            <a:pPr>
              <a:buNone/>
            </a:pPr>
            <a:r>
              <a:rPr lang="en-US" dirty="0">
                <a:latin typeface="Cambria" panose="02040503050406030204" pitchFamily="18" charset="0"/>
                <a:ea typeface="Cambria" panose="02040503050406030204" pitchFamily="18" charset="0"/>
              </a:rPr>
              <a:t>end loop;</a:t>
            </a:r>
          </a:p>
          <a:p>
            <a:pPr>
              <a:buNone/>
            </a:pPr>
            <a:r>
              <a:rPr lang="en-US" dirty="0">
                <a:latin typeface="Cambria" panose="02040503050406030204" pitchFamily="18" charset="0"/>
                <a:ea typeface="Cambria" panose="02040503050406030204" pitchFamily="18" charset="0"/>
              </a:rPr>
              <a:t>end;</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914400"/>
            <a:ext cx="4579432" cy="479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ambria" panose="02040503050406030204" pitchFamily="18" charset="0"/>
                <a:ea typeface="Cambria" panose="02040503050406030204" pitchFamily="18" charset="0"/>
              </a:rPr>
              <a:t>Incrementing the for loop &gt;2</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r>
              <a:rPr lang="en-US" dirty="0">
                <a:latin typeface="Cambria" panose="02040503050406030204" pitchFamily="18" charset="0"/>
                <a:ea typeface="Cambria" panose="02040503050406030204" pitchFamily="18" charset="0"/>
              </a:rPr>
              <a:t>declare</a:t>
            </a:r>
          </a:p>
          <a:p>
            <a:pPr marL="0" indent="0">
              <a:buNone/>
            </a:pPr>
            <a:r>
              <a:rPr lang="en-US" dirty="0">
                <a:latin typeface="Cambria" panose="02040503050406030204" pitchFamily="18" charset="0"/>
                <a:ea typeface="Cambria" panose="02040503050406030204" pitchFamily="18" charset="0"/>
              </a:rPr>
              <a:t>a integer:=0;</a:t>
            </a:r>
          </a:p>
          <a:p>
            <a:pPr marL="0" indent="0">
              <a:buNone/>
            </a:pPr>
            <a:r>
              <a:rPr lang="en-US" dirty="0">
                <a:latin typeface="Cambria" panose="02040503050406030204" pitchFamily="18" charset="0"/>
                <a:ea typeface="Cambria" panose="02040503050406030204" pitchFamily="18" charset="0"/>
              </a:rPr>
              <a:t>begin</a:t>
            </a:r>
          </a:p>
          <a:p>
            <a:pPr marL="0" indent="0">
              <a:buNone/>
            </a:pPr>
            <a:r>
              <a:rPr lang="en-US" dirty="0">
                <a:latin typeface="Cambria" panose="02040503050406030204" pitchFamily="18" charset="0"/>
                <a:ea typeface="Cambria" panose="02040503050406030204" pitchFamily="18" charset="0"/>
              </a:rPr>
              <a:t>for i in 1..10</a:t>
            </a:r>
          </a:p>
          <a:p>
            <a:pPr marL="0" indent="0">
              <a:buNone/>
            </a:pPr>
            <a:r>
              <a:rPr lang="en-US" dirty="0">
                <a:latin typeface="Cambria" panose="02040503050406030204" pitchFamily="18" charset="0"/>
                <a:ea typeface="Cambria" panose="02040503050406030204" pitchFamily="18" charset="0"/>
              </a:rPr>
              <a:t>loop</a:t>
            </a:r>
          </a:p>
          <a:p>
            <a:pPr marL="0" indent="0">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(a); </a:t>
            </a:r>
          </a:p>
          <a:p>
            <a:pPr marL="0" indent="0">
              <a:buNone/>
            </a:pPr>
            <a:r>
              <a:rPr lang="en-US" dirty="0">
                <a:latin typeface="Cambria" panose="02040503050406030204" pitchFamily="18" charset="0"/>
                <a:ea typeface="Cambria" panose="02040503050406030204" pitchFamily="18" charset="0"/>
              </a:rPr>
              <a:t>a:=a+2;</a:t>
            </a:r>
          </a:p>
          <a:p>
            <a:pPr marL="0" indent="0">
              <a:buNone/>
            </a:pPr>
            <a:r>
              <a:rPr lang="en-US" dirty="0">
                <a:latin typeface="Cambria" panose="02040503050406030204" pitchFamily="18" charset="0"/>
                <a:ea typeface="Cambria" panose="02040503050406030204" pitchFamily="18" charset="0"/>
              </a:rPr>
              <a:t>end loop;</a:t>
            </a:r>
          </a:p>
          <a:p>
            <a:pPr marL="0" indent="0">
              <a:buNone/>
            </a:pPr>
            <a:r>
              <a:rPr lang="en-US" dirty="0">
                <a:latin typeface="Cambria" panose="02040503050406030204" pitchFamily="18" charset="0"/>
                <a:ea typeface="Cambria" panose="02040503050406030204" pitchFamily="18" charset="0"/>
              </a:rPr>
              <a:t>end;</a:t>
            </a:r>
            <a:endParaRPr lang="en-IN" dirty="0">
              <a:latin typeface="Cambria" panose="02040503050406030204" pitchFamily="18" charset="0"/>
              <a:ea typeface="Cambria" panose="020405030504060302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371600"/>
            <a:ext cx="4197350" cy="513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37321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Continue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Cambria" panose="02040503050406030204" pitchFamily="18" charset="0"/>
                <a:ea typeface="Cambria" panose="02040503050406030204" pitchFamily="18" charset="0"/>
              </a:rPr>
              <a:t>	Syntax:</a:t>
            </a:r>
          </a:p>
          <a:p>
            <a:pPr>
              <a:buNone/>
            </a:pPr>
            <a:r>
              <a:rPr lang="en-US" dirty="0" smtClean="0">
                <a:latin typeface="Cambria" panose="02040503050406030204" pitchFamily="18" charset="0"/>
                <a:ea typeface="Cambria" panose="02040503050406030204" pitchFamily="18" charset="0"/>
              </a:rPr>
              <a:t>		continue;</a:t>
            </a:r>
          </a:p>
          <a:p>
            <a:pPr>
              <a:buNone/>
            </a:pPr>
            <a:endParaRPr lang="en-US" dirty="0" smtClean="0">
              <a:latin typeface="Cambria" panose="02040503050406030204" pitchFamily="18" charset="0"/>
              <a:ea typeface="Cambria" panose="02040503050406030204" pitchFamily="18" charset="0"/>
            </a:endParaRPr>
          </a:p>
          <a:p>
            <a:pPr algn="just">
              <a:buNone/>
            </a:pPr>
            <a:r>
              <a:rPr lang="en-US" dirty="0" smtClean="0">
                <a:latin typeface="Cambria" panose="02040503050406030204" pitchFamily="18" charset="0"/>
                <a:ea typeface="Cambria" panose="02040503050406030204" pitchFamily="18" charset="0"/>
              </a:rPr>
              <a:t>	If a continue statement exits a cursor FOR LOOP prematurely then it exits an inner loop and transfer control to the next iteration of an outer loop, the cursor closes (in this context, CONTINUE works like GOTO).</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PL/SQL Basics – Continue – Example </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fontScale="70000" lnSpcReduction="20000"/>
          </a:bodyPr>
          <a:lstStyle/>
          <a:p>
            <a:pPr marL="0" indent="0">
              <a:buNone/>
            </a:pPr>
            <a:r>
              <a:rPr lang="en-US" dirty="0">
                <a:latin typeface="Cambria" panose="02040503050406030204" pitchFamily="18" charset="0"/>
                <a:ea typeface="Cambria" panose="02040503050406030204" pitchFamily="18" charset="0"/>
              </a:rPr>
              <a:t>declare  </a:t>
            </a:r>
          </a:p>
          <a:p>
            <a:pPr marL="0" indent="0">
              <a:buNone/>
            </a:pPr>
            <a:r>
              <a:rPr lang="en-US" dirty="0">
                <a:latin typeface="Cambria" panose="02040503050406030204" pitchFamily="18" charset="0"/>
                <a:ea typeface="Cambria" panose="02040503050406030204" pitchFamily="18" charset="0"/>
              </a:rPr>
              <a:t>  x number := 0;  </a:t>
            </a:r>
          </a:p>
          <a:p>
            <a:pPr marL="0" indent="0">
              <a:buNone/>
            </a:pPr>
            <a:r>
              <a:rPr lang="en-US" dirty="0">
                <a:latin typeface="Cambria" panose="02040503050406030204" pitchFamily="18" charset="0"/>
                <a:ea typeface="Cambria" panose="02040503050406030204" pitchFamily="18" charset="0"/>
              </a:rPr>
              <a:t>begin  </a:t>
            </a:r>
          </a:p>
          <a:p>
            <a:pPr marL="0" indent="0">
              <a:buNone/>
            </a:pPr>
            <a:r>
              <a:rPr lang="en-US" dirty="0">
                <a:latin typeface="Cambria" panose="02040503050406030204" pitchFamily="18" charset="0"/>
                <a:ea typeface="Cambria" panose="02040503050406030204" pitchFamily="18" charset="0"/>
              </a:rPr>
              <a:t>  loop -- after continue statement, control resumes here  </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 ('inside loop:  x = ' || </a:t>
            </a:r>
            <a:r>
              <a:rPr lang="en-US" dirty="0" err="1">
                <a:latin typeface="Cambria" panose="02040503050406030204" pitchFamily="18" charset="0"/>
                <a:ea typeface="Cambria" panose="02040503050406030204" pitchFamily="18" charset="0"/>
              </a:rPr>
              <a:t>to_char</a:t>
            </a:r>
            <a:r>
              <a:rPr lang="en-US" dirty="0">
                <a:latin typeface="Cambria" panose="02040503050406030204" pitchFamily="18" charset="0"/>
                <a:ea typeface="Cambria" panose="02040503050406030204" pitchFamily="18" charset="0"/>
              </a:rPr>
              <a:t>(x));  </a:t>
            </a:r>
          </a:p>
          <a:p>
            <a:pPr marL="0" indent="0">
              <a:buNone/>
            </a:pPr>
            <a:r>
              <a:rPr lang="en-US" dirty="0">
                <a:latin typeface="Cambria" panose="02040503050406030204" pitchFamily="18" charset="0"/>
                <a:ea typeface="Cambria" panose="02040503050406030204" pitchFamily="18" charset="0"/>
              </a:rPr>
              <a:t>    x := x + 1;  </a:t>
            </a:r>
          </a:p>
          <a:p>
            <a:pPr marL="0" indent="0">
              <a:buNone/>
            </a:pPr>
            <a:r>
              <a:rPr lang="en-US" dirty="0">
                <a:latin typeface="Cambria" panose="02040503050406030204" pitchFamily="18" charset="0"/>
                <a:ea typeface="Cambria" panose="02040503050406030204" pitchFamily="18" charset="0"/>
              </a:rPr>
              <a:t>    if x &lt; 3 then  </a:t>
            </a:r>
          </a:p>
          <a:p>
            <a:pPr marL="0" indent="0">
              <a:buNone/>
            </a:pPr>
            <a:r>
              <a:rPr lang="en-US" dirty="0">
                <a:latin typeface="Cambria" panose="02040503050406030204" pitchFamily="18" charset="0"/>
                <a:ea typeface="Cambria" panose="02040503050406030204" pitchFamily="18" charset="0"/>
              </a:rPr>
              <a:t>      continue;  </a:t>
            </a:r>
          </a:p>
          <a:p>
            <a:pPr marL="0" indent="0">
              <a:buNone/>
            </a:pPr>
            <a:r>
              <a:rPr lang="en-US" dirty="0">
                <a:latin typeface="Cambria" panose="02040503050406030204" pitchFamily="18" charset="0"/>
                <a:ea typeface="Cambria" panose="02040503050406030204" pitchFamily="18" charset="0"/>
              </a:rPr>
              <a:t>    end if;  </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  </a:t>
            </a:r>
          </a:p>
          <a:p>
            <a:pPr marL="0" indent="0">
              <a:buNone/>
            </a:pPr>
            <a:r>
              <a:rPr lang="en-US" dirty="0">
                <a:latin typeface="Cambria" panose="02040503050406030204" pitchFamily="18" charset="0"/>
                <a:ea typeface="Cambria" panose="02040503050406030204" pitchFamily="18" charset="0"/>
              </a:rPr>
              <a:t>      ('inside loop, after continue:  x = ' || </a:t>
            </a:r>
            <a:r>
              <a:rPr lang="en-US" dirty="0" err="1">
                <a:latin typeface="Cambria" panose="02040503050406030204" pitchFamily="18" charset="0"/>
                <a:ea typeface="Cambria" panose="02040503050406030204" pitchFamily="18" charset="0"/>
              </a:rPr>
              <a:t>to_char</a:t>
            </a:r>
            <a:r>
              <a:rPr lang="en-US" dirty="0">
                <a:latin typeface="Cambria" panose="02040503050406030204" pitchFamily="18" charset="0"/>
                <a:ea typeface="Cambria" panose="02040503050406030204" pitchFamily="18" charset="0"/>
              </a:rPr>
              <a:t>(x));  </a:t>
            </a:r>
          </a:p>
          <a:p>
            <a:pPr marL="0" indent="0">
              <a:buNone/>
            </a:pPr>
            <a:r>
              <a:rPr lang="en-US" dirty="0">
                <a:latin typeface="Cambria" panose="02040503050406030204" pitchFamily="18" charset="0"/>
                <a:ea typeface="Cambria" panose="02040503050406030204" pitchFamily="18" charset="0"/>
              </a:rPr>
              <a:t>    exit when x = 5;  </a:t>
            </a:r>
          </a:p>
          <a:p>
            <a:pPr marL="0" indent="0">
              <a:buNone/>
            </a:pPr>
            <a:r>
              <a:rPr lang="en-US" dirty="0">
                <a:latin typeface="Cambria" panose="02040503050406030204" pitchFamily="18" charset="0"/>
                <a:ea typeface="Cambria" panose="02040503050406030204" pitchFamily="18" charset="0"/>
              </a:rPr>
              <a:t>  end loop;  </a:t>
            </a:r>
          </a:p>
          <a:p>
            <a:pPr marL="0" indent="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 (' after loop:  x = ' || </a:t>
            </a:r>
            <a:r>
              <a:rPr lang="en-US" dirty="0" err="1">
                <a:latin typeface="Cambria" panose="02040503050406030204" pitchFamily="18" charset="0"/>
                <a:ea typeface="Cambria" panose="02040503050406030204" pitchFamily="18" charset="0"/>
              </a:rPr>
              <a:t>to_char</a:t>
            </a:r>
            <a:r>
              <a:rPr lang="en-US" dirty="0">
                <a:latin typeface="Cambria" panose="02040503050406030204" pitchFamily="18" charset="0"/>
                <a:ea typeface="Cambria" panose="02040503050406030204" pitchFamily="18" charset="0"/>
              </a:rPr>
              <a:t>(x));  </a:t>
            </a:r>
          </a:p>
          <a:p>
            <a:pPr marL="0" indent="0">
              <a:buNone/>
            </a:pPr>
            <a:r>
              <a:rPr lang="en-US" dirty="0">
                <a:latin typeface="Cambria" panose="02040503050406030204" pitchFamily="18" charset="0"/>
                <a:ea typeface="Cambria" panose="02040503050406030204" pitchFamily="18" charset="0"/>
              </a:rPr>
              <a:t>end;  </a:t>
            </a:r>
          </a:p>
          <a:p>
            <a:pPr marL="0" indent="0">
              <a:buNone/>
            </a:pPr>
            <a:r>
              <a:rPr lang="en-US"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PL/SQL Basics – Continue – Output </a:t>
            </a:r>
            <a:endParaRPr lang="en-US" dirty="0"/>
          </a:p>
        </p:txBody>
      </p:sp>
      <p:sp>
        <p:nvSpPr>
          <p:cNvPr id="3" name="Content Placeholder 2"/>
          <p:cNvSpPr>
            <a:spLocks noGrp="1"/>
          </p:cNvSpPr>
          <p:nvPr>
            <p:ph sz="quarter" idx="1"/>
          </p:nvPr>
        </p:nvSpPr>
        <p:spPr/>
        <p:txBody>
          <a:bodyPr>
            <a:normAutofit/>
          </a:bodyPr>
          <a:lstStyle/>
          <a:p>
            <a:pPr>
              <a:buNone/>
            </a:pP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2" y="1314450"/>
            <a:ext cx="5400675" cy="422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Parts of a PL/SQL Subprogram </a:t>
            </a:r>
            <a:endParaRPr lang="en-US" dirty="0">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975413152"/>
              </p:ext>
            </p:extLst>
          </p:nvPr>
        </p:nvGraphicFramePr>
        <p:xfrm>
          <a:off x="609600" y="1295400"/>
          <a:ext cx="8001001" cy="5312231"/>
        </p:xfrm>
        <a:graphic>
          <a:graphicData uri="http://schemas.openxmlformats.org/drawingml/2006/table">
            <a:tbl>
              <a:tblPr/>
              <a:tblGrid>
                <a:gridCol w="609600"/>
                <a:gridCol w="7391401"/>
              </a:tblGrid>
              <a:tr h="239486">
                <a:tc>
                  <a:txBody>
                    <a:bodyPr/>
                    <a:lstStyle/>
                    <a:p>
                      <a:pPr algn="just"/>
                      <a:r>
                        <a:rPr lang="en-US" sz="2000" dirty="0"/>
                        <a:t>S.N.</a:t>
                      </a:r>
                    </a:p>
                  </a:txBody>
                  <a:tcPr marL="58057" marR="58057" marT="29029" marB="29029" anchor="ctr">
                    <a:lnL>
                      <a:noFill/>
                    </a:lnL>
                    <a:lnR>
                      <a:noFill/>
                    </a:lnR>
                    <a:lnT>
                      <a:noFill/>
                    </a:lnT>
                    <a:lnB>
                      <a:noFill/>
                    </a:lnB>
                  </a:tcPr>
                </a:tc>
                <a:tc>
                  <a:txBody>
                    <a:bodyPr/>
                    <a:lstStyle/>
                    <a:p>
                      <a:pPr algn="just"/>
                      <a:r>
                        <a:rPr lang="en-US" sz="2000"/>
                        <a:t>Parts &amp; Description</a:t>
                      </a:r>
                    </a:p>
                  </a:txBody>
                  <a:tcPr marL="58057" marR="58057" marT="29029" marB="29029" anchor="ctr">
                    <a:lnL>
                      <a:noFill/>
                    </a:lnL>
                    <a:lnR>
                      <a:noFill/>
                    </a:lnR>
                    <a:lnT>
                      <a:noFill/>
                    </a:lnT>
                    <a:lnB>
                      <a:noFill/>
                    </a:lnB>
                  </a:tcPr>
                </a:tc>
              </a:tr>
              <a:tr h="2394857">
                <a:tc>
                  <a:txBody>
                    <a:bodyPr/>
                    <a:lstStyle/>
                    <a:p>
                      <a:pPr algn="just"/>
                      <a:r>
                        <a:rPr lang="en-US" sz="2000" dirty="0"/>
                        <a:t>1</a:t>
                      </a:r>
                    </a:p>
                  </a:txBody>
                  <a:tcPr marL="58057" marR="58057" marT="29029" marB="29029" anchor="ctr">
                    <a:lnL>
                      <a:noFill/>
                    </a:lnL>
                    <a:lnR>
                      <a:noFill/>
                    </a:lnR>
                    <a:lnT>
                      <a:noFill/>
                    </a:lnT>
                    <a:lnB>
                      <a:noFill/>
                    </a:lnB>
                  </a:tcPr>
                </a:tc>
                <a:tc>
                  <a:txBody>
                    <a:bodyPr/>
                    <a:lstStyle/>
                    <a:p>
                      <a:pPr algn="just"/>
                      <a:r>
                        <a:rPr lang="en-US" sz="2000" b="1" dirty="0"/>
                        <a:t>Declarative </a:t>
                      </a:r>
                      <a:r>
                        <a:rPr lang="en-US" sz="2000" b="1" dirty="0" smtClean="0"/>
                        <a:t>Part</a:t>
                      </a:r>
                    </a:p>
                    <a:p>
                      <a:pPr algn="just"/>
                      <a:r>
                        <a:rPr lang="en-US" sz="2000" dirty="0"/>
                        <a:t/>
                      </a:r>
                      <a:br>
                        <a:rPr lang="en-US" sz="2000" dirty="0"/>
                      </a:br>
                      <a:r>
                        <a:rPr lang="en-US" sz="2000" dirty="0"/>
                        <a:t>It is an optional part. However, the declarative part for a subprogram does not start with the DECLARE keyword. It contains declarations of types, cursors, constants, variables, exceptions, and nested subprograms. These items are local to the subprogram and cease to exist when the subprogram completes execution.</a:t>
                      </a:r>
                    </a:p>
                  </a:txBody>
                  <a:tcPr marL="58057" marR="58057" marT="29029" marB="29029" anchor="ctr">
                    <a:lnL>
                      <a:noFill/>
                    </a:lnL>
                    <a:lnR>
                      <a:noFill/>
                    </a:lnR>
                    <a:lnT>
                      <a:noFill/>
                    </a:lnT>
                    <a:lnB>
                      <a:noFill/>
                    </a:lnB>
                  </a:tcPr>
                </a:tc>
              </a:tr>
              <a:tr h="778329">
                <a:tc>
                  <a:txBody>
                    <a:bodyPr/>
                    <a:lstStyle/>
                    <a:p>
                      <a:pPr algn="just"/>
                      <a:r>
                        <a:rPr lang="en-US" sz="2000" dirty="0"/>
                        <a:t>2</a:t>
                      </a:r>
                    </a:p>
                  </a:txBody>
                  <a:tcPr marL="58057" marR="58057" marT="29029" marB="29029" anchor="ctr">
                    <a:lnL>
                      <a:noFill/>
                    </a:lnL>
                    <a:lnR>
                      <a:noFill/>
                    </a:lnR>
                    <a:lnT>
                      <a:noFill/>
                    </a:lnT>
                    <a:lnB>
                      <a:noFill/>
                    </a:lnB>
                  </a:tcPr>
                </a:tc>
                <a:tc>
                  <a:txBody>
                    <a:bodyPr/>
                    <a:lstStyle/>
                    <a:p>
                      <a:pPr algn="just"/>
                      <a:r>
                        <a:rPr lang="en-US" sz="2000" b="1" dirty="0"/>
                        <a:t>Executable </a:t>
                      </a:r>
                      <a:r>
                        <a:rPr lang="en-US" sz="2000" b="1" dirty="0" smtClean="0"/>
                        <a:t>Part</a:t>
                      </a:r>
                    </a:p>
                    <a:p>
                      <a:pPr algn="just"/>
                      <a:r>
                        <a:rPr lang="en-US" sz="2000" dirty="0"/>
                        <a:t/>
                      </a:r>
                      <a:br>
                        <a:rPr lang="en-US" sz="2000" dirty="0"/>
                      </a:br>
                      <a:r>
                        <a:rPr lang="en-US" sz="2000" dirty="0"/>
                        <a:t>This is a mandatory part and contains statements that perform the designated action. </a:t>
                      </a:r>
                    </a:p>
                  </a:txBody>
                  <a:tcPr marL="58057" marR="58057" marT="29029" marB="29029" anchor="ctr">
                    <a:lnL>
                      <a:noFill/>
                    </a:lnL>
                    <a:lnR>
                      <a:noFill/>
                    </a:lnR>
                    <a:lnT>
                      <a:noFill/>
                    </a:lnT>
                    <a:lnB>
                      <a:noFill/>
                    </a:lnB>
                  </a:tcPr>
                </a:tc>
              </a:tr>
              <a:tr h="778329">
                <a:tc>
                  <a:txBody>
                    <a:bodyPr/>
                    <a:lstStyle/>
                    <a:p>
                      <a:pPr algn="just"/>
                      <a:r>
                        <a:rPr lang="en-US" sz="2000" dirty="0"/>
                        <a:t>3</a:t>
                      </a:r>
                    </a:p>
                  </a:txBody>
                  <a:tcPr marL="58057" marR="58057" marT="29029" marB="29029" anchor="ctr">
                    <a:lnL>
                      <a:noFill/>
                    </a:lnL>
                    <a:lnR>
                      <a:noFill/>
                    </a:lnR>
                    <a:lnT>
                      <a:noFill/>
                    </a:lnT>
                    <a:lnB>
                      <a:noFill/>
                    </a:lnB>
                  </a:tcPr>
                </a:tc>
                <a:tc>
                  <a:txBody>
                    <a:bodyPr/>
                    <a:lstStyle/>
                    <a:p>
                      <a:pPr algn="just"/>
                      <a:r>
                        <a:rPr lang="en-US" sz="2000" b="1" dirty="0" smtClean="0"/>
                        <a:t>Exception-handling</a:t>
                      </a:r>
                    </a:p>
                    <a:p>
                      <a:pPr algn="just"/>
                      <a:r>
                        <a:rPr lang="en-US" sz="2000" dirty="0"/>
                        <a:t/>
                      </a:r>
                      <a:br>
                        <a:rPr lang="en-US" sz="2000" dirty="0"/>
                      </a:br>
                      <a:r>
                        <a:rPr lang="en-US" sz="2000" dirty="0"/>
                        <a:t>This is again an optional part. It contains the code that handles run-time errors.</a:t>
                      </a:r>
                    </a:p>
                  </a:txBody>
                  <a:tcPr marL="58057" marR="58057" marT="29029" marB="29029"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Cambria" panose="02040503050406030204" pitchFamily="18" charset="0"/>
                <a:ea typeface="Cambria" panose="02040503050406030204" pitchFamily="18" charset="0"/>
              </a:rPr>
              <a:t>Creating a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lgn="just"/>
            <a:r>
              <a:rPr lang="en-US" dirty="0" smtClean="0">
                <a:latin typeface="Cambria" panose="02040503050406030204" pitchFamily="18" charset="0"/>
                <a:ea typeface="Cambria" panose="02040503050406030204" pitchFamily="18" charset="0"/>
              </a:rPr>
              <a:t>A procedure is created with the CREATE OR REPLACE PROCEDURE statement. The simplified syntax for the CREATE OR REPLACE PROCEDURE statement is as follows:</a:t>
            </a:r>
          </a:p>
          <a:p>
            <a:pPr algn="just">
              <a:buNone/>
            </a:pPr>
            <a:r>
              <a:rPr lang="en-US" dirty="0" smtClean="0">
                <a:latin typeface="Cambria" panose="02040503050406030204" pitchFamily="18" charset="0"/>
                <a:ea typeface="Cambria" panose="02040503050406030204" pitchFamily="18" charset="0"/>
              </a:rPr>
              <a:t>  </a:t>
            </a:r>
          </a:p>
          <a:p>
            <a:pPr algn="just">
              <a:buNone/>
            </a:pPr>
            <a:r>
              <a:rPr lang="en-US" dirty="0" smtClean="0">
                <a:latin typeface="Cambria" panose="02040503050406030204" pitchFamily="18" charset="0"/>
                <a:ea typeface="Cambria" panose="02040503050406030204" pitchFamily="18" charset="0"/>
              </a:rPr>
              <a:t>   CREATE [OR REPLACE] PROCEDURE </a:t>
            </a:r>
            <a:r>
              <a:rPr lang="en-US" dirty="0" err="1" smtClean="0">
                <a:latin typeface="Cambria" panose="02040503050406030204" pitchFamily="18" charset="0"/>
                <a:ea typeface="Cambria" panose="02040503050406030204" pitchFamily="18" charset="0"/>
              </a:rPr>
              <a:t>procedure_name</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parameter_name</a:t>
            </a:r>
            <a:r>
              <a:rPr lang="en-US" dirty="0" smtClean="0">
                <a:latin typeface="Cambria" panose="02040503050406030204" pitchFamily="18" charset="0"/>
                <a:ea typeface="Cambria" panose="02040503050406030204" pitchFamily="18" charset="0"/>
              </a:rPr>
              <a:t> [IN | OUT | IN OUT] type [, ...])] {IS | AS} BEGIN &lt; </a:t>
            </a:r>
            <a:r>
              <a:rPr lang="en-US" dirty="0" err="1" smtClean="0">
                <a:latin typeface="Cambria" panose="02040503050406030204" pitchFamily="18" charset="0"/>
                <a:ea typeface="Cambria" panose="02040503050406030204" pitchFamily="18" charset="0"/>
              </a:rPr>
              <a:t>procedure_body</a:t>
            </a:r>
            <a:r>
              <a:rPr lang="en-US" dirty="0" smtClean="0">
                <a:latin typeface="Cambria" panose="02040503050406030204" pitchFamily="18" charset="0"/>
                <a:ea typeface="Cambria" panose="02040503050406030204" pitchFamily="18" charset="0"/>
              </a:rPr>
              <a:t> &gt; END </a:t>
            </a:r>
            <a:r>
              <a:rPr lang="en-US" dirty="0" err="1" smtClean="0">
                <a:latin typeface="Cambria" panose="02040503050406030204" pitchFamily="18" charset="0"/>
                <a:ea typeface="Cambria" panose="02040503050406030204" pitchFamily="18" charset="0"/>
              </a:rPr>
              <a:t>procedure_name</a:t>
            </a:r>
            <a:r>
              <a:rPr lang="en-US" dirty="0" smtClean="0">
                <a:latin typeface="Cambria" panose="02040503050406030204" pitchFamily="18" charset="0"/>
                <a:ea typeface="Cambria" panose="02040503050406030204" pitchFamily="18" charset="0"/>
              </a:rPr>
              <a:t>;</a:t>
            </a:r>
          </a:p>
          <a:p>
            <a:pPr algn="just">
              <a:buNone/>
            </a:pPr>
            <a:endParaRPr lang="en-US" dirty="0" smtClean="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Cambria" panose="02040503050406030204" pitchFamily="18" charset="0"/>
                <a:ea typeface="Cambria" panose="02040503050406030204" pitchFamily="18" charset="0"/>
              </a:rPr>
              <a:t>Creating a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lgn="just"/>
            <a:r>
              <a:rPr lang="en-US" i="1" dirty="0" smtClean="0">
                <a:latin typeface="Cambria" panose="02040503050406030204" pitchFamily="18" charset="0"/>
                <a:ea typeface="Cambria" panose="02040503050406030204" pitchFamily="18" charset="0"/>
              </a:rPr>
              <a:t>procedure-name</a:t>
            </a:r>
            <a:r>
              <a:rPr lang="en-US" dirty="0" smtClean="0">
                <a:latin typeface="Cambria" panose="02040503050406030204" pitchFamily="18" charset="0"/>
                <a:ea typeface="Cambria" panose="02040503050406030204" pitchFamily="18" charset="0"/>
              </a:rPr>
              <a:t> specifies the name of the procedure.</a:t>
            </a:r>
          </a:p>
          <a:p>
            <a:pPr algn="just"/>
            <a:r>
              <a:rPr lang="en-US" dirty="0" smtClean="0">
                <a:latin typeface="Cambria" panose="02040503050406030204" pitchFamily="18" charset="0"/>
                <a:ea typeface="Cambria" panose="02040503050406030204" pitchFamily="18" charset="0"/>
              </a:rPr>
              <a:t>[OR REPLACE] option allows modifying an existing procedure.</a:t>
            </a:r>
          </a:p>
          <a:p>
            <a:pPr algn="just"/>
            <a:r>
              <a:rPr lang="en-US" dirty="0" smtClean="0">
                <a:latin typeface="Cambria" panose="02040503050406030204" pitchFamily="18" charset="0"/>
                <a:ea typeface="Cambria" panose="02040503050406030204" pitchFamily="18" charset="0"/>
              </a:rPr>
              <a:t>The optional parameter list contains name, mode and types of the parameters. IN represents that value will be passed from outside and OUT represents that this parameter will be used to return a value outside of the procedure.</a:t>
            </a:r>
          </a:p>
          <a:p>
            <a:pPr algn="just"/>
            <a:r>
              <a:rPr lang="en-US" i="1" dirty="0" smtClean="0">
                <a:latin typeface="Cambria" panose="02040503050406030204" pitchFamily="18" charset="0"/>
                <a:ea typeface="Cambria" panose="02040503050406030204" pitchFamily="18" charset="0"/>
              </a:rPr>
              <a:t>procedure-body</a:t>
            </a:r>
            <a:r>
              <a:rPr lang="en-US" dirty="0" smtClean="0">
                <a:latin typeface="Cambria" panose="02040503050406030204" pitchFamily="18" charset="0"/>
                <a:ea typeface="Cambria" panose="02040503050406030204" pitchFamily="18" charset="0"/>
              </a:rPr>
              <a:t> contains the executable part.</a:t>
            </a:r>
          </a:p>
          <a:p>
            <a:pPr algn="just"/>
            <a:r>
              <a:rPr lang="en-US" dirty="0" smtClean="0">
                <a:latin typeface="Cambria" panose="02040503050406030204" pitchFamily="18" charset="0"/>
                <a:ea typeface="Cambria" panose="02040503050406030204" pitchFamily="18" charset="0"/>
              </a:rPr>
              <a:t>The AS keyword is used instead of the IS keyword for creating a standalone procedure. </a:t>
            </a:r>
          </a:p>
          <a:p>
            <a:pPr algn="just"/>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Executing a Standalone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r>
              <a:rPr lang="en-US" dirty="0" smtClean="0">
                <a:latin typeface="Cambria" panose="02040503050406030204" pitchFamily="18" charset="0"/>
                <a:ea typeface="Cambria" panose="02040503050406030204" pitchFamily="18" charset="0"/>
              </a:rPr>
              <a:t>A standalone procedure can be called in two ways:</a:t>
            </a:r>
          </a:p>
          <a:p>
            <a:r>
              <a:rPr lang="en-US" dirty="0" smtClean="0">
                <a:latin typeface="Cambria" panose="02040503050406030204" pitchFamily="18" charset="0"/>
                <a:ea typeface="Cambria" panose="02040503050406030204" pitchFamily="18" charset="0"/>
              </a:rPr>
              <a:t>Using the EXECUTE keyword</a:t>
            </a:r>
          </a:p>
          <a:p>
            <a:r>
              <a:rPr lang="en-US" dirty="0" smtClean="0">
                <a:latin typeface="Cambria" panose="02040503050406030204" pitchFamily="18" charset="0"/>
                <a:ea typeface="Cambria" panose="02040503050406030204" pitchFamily="18" charset="0"/>
              </a:rPr>
              <a:t>Calling the name of the procedure from a PL/SQL block</a:t>
            </a:r>
          </a:p>
          <a:p>
            <a:r>
              <a:rPr lang="en-US" dirty="0" smtClean="0">
                <a:latin typeface="Cambria" panose="02040503050406030204" pitchFamily="18" charset="0"/>
                <a:ea typeface="Cambria" panose="02040503050406030204" pitchFamily="18" charset="0"/>
              </a:rPr>
              <a:t>The above procedure named 'greetings' can be called with the EXECUTE keyword as:</a:t>
            </a:r>
          </a:p>
          <a:p>
            <a:endParaRPr lang="en-US" dirty="0" smtClean="0">
              <a:latin typeface="Cambria" panose="02040503050406030204" pitchFamily="18" charset="0"/>
              <a:ea typeface="Cambria" panose="02040503050406030204" pitchFamily="18" charset="0"/>
            </a:endParaRPr>
          </a:p>
          <a:p>
            <a:pPr>
              <a:buNone/>
            </a:pPr>
            <a:r>
              <a:rPr lang="en-US" dirty="0" smtClean="0">
                <a:latin typeface="Cambria" panose="02040503050406030204" pitchFamily="18" charset="0"/>
                <a:ea typeface="Cambria" panose="02040503050406030204" pitchFamily="18" charset="0"/>
              </a:rPr>
              <a:t>EXECUTE greetings;</a:t>
            </a:r>
          </a:p>
          <a:p>
            <a:pPr>
              <a:buNone/>
            </a:pPr>
            <a:r>
              <a:rPr lang="en-US" dirty="0">
                <a:latin typeface="Cambria" panose="02040503050406030204" pitchFamily="18" charset="0"/>
                <a:ea typeface="Cambria" panose="02040503050406030204" pitchFamily="18" charset="0"/>
              </a:rPr>
              <a:t>e</a:t>
            </a:r>
            <a:r>
              <a:rPr lang="en-US" dirty="0" smtClean="0">
                <a:latin typeface="Cambria" panose="02040503050406030204" pitchFamily="18" charset="0"/>
                <a:ea typeface="Cambria" panose="02040503050406030204" pitchFamily="18" charset="0"/>
              </a:rPr>
              <a:t>xec greetings;</a:t>
            </a:r>
          </a:p>
          <a:p>
            <a:endParaRPr lang="en-US" dirty="0">
              <a:latin typeface="Cambria" panose="02040503050406030204" pitchFamily="18" charset="0"/>
              <a:ea typeface="Cambria" panose="020405030504060302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800600"/>
            <a:ext cx="55435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Cambria" panose="02040503050406030204" pitchFamily="18" charset="0"/>
                <a:ea typeface="Cambria" panose="02040503050406030204" pitchFamily="18" charset="0"/>
              </a:rPr>
              <a:t>Creating a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lgn="just">
              <a:buNone/>
            </a:pPr>
            <a:r>
              <a:rPr lang="en-US" dirty="0" smtClean="0">
                <a:latin typeface="Cambria" panose="02040503050406030204" pitchFamily="18" charset="0"/>
                <a:ea typeface="Cambria" panose="02040503050406030204" pitchFamily="18" charset="0"/>
              </a:rPr>
              <a:t>Example:</a:t>
            </a:r>
          </a:p>
          <a:p>
            <a:pPr algn="just">
              <a:buNone/>
            </a:pPr>
            <a:r>
              <a:rPr lang="en-US" dirty="0">
                <a:latin typeface="Cambria" panose="02040503050406030204" pitchFamily="18" charset="0"/>
                <a:ea typeface="Cambria" panose="02040503050406030204" pitchFamily="18" charset="0"/>
              </a:rPr>
              <a:t>create or replace procedure greetings as</a:t>
            </a:r>
          </a:p>
          <a:p>
            <a:pPr algn="just">
              <a:buNone/>
            </a:pPr>
            <a:r>
              <a:rPr lang="en-US" dirty="0">
                <a:latin typeface="Cambria" panose="02040503050406030204" pitchFamily="18" charset="0"/>
                <a:ea typeface="Cambria" panose="02040503050406030204" pitchFamily="18" charset="0"/>
              </a:rPr>
              <a:t>begin</a:t>
            </a:r>
          </a:p>
          <a:p>
            <a:pPr algn="just">
              <a:buNone/>
            </a:pP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('Hello World!'); </a:t>
            </a:r>
          </a:p>
          <a:p>
            <a:pPr algn="just">
              <a:buNone/>
            </a:pPr>
            <a:r>
              <a:rPr lang="en-US" dirty="0" smtClean="0">
                <a:latin typeface="Cambria" panose="02040503050406030204" pitchFamily="18" charset="0"/>
                <a:ea typeface="Cambria" panose="02040503050406030204" pitchFamily="18" charset="0"/>
              </a:rPr>
              <a:t>End;</a:t>
            </a:r>
            <a:endParaRPr lang="en-US" dirty="0">
              <a:latin typeface="Cambria" panose="02040503050406030204" pitchFamily="18" charset="0"/>
              <a:ea typeface="Cambria" panose="02040503050406030204" pitchFamily="18" charset="0"/>
            </a:endParaRPr>
          </a:p>
          <a:p>
            <a:pPr algn="just">
              <a:buNone/>
            </a:pPr>
            <a:r>
              <a:rPr lang="en-US" dirty="0">
                <a:latin typeface="Cambria" panose="02040503050406030204" pitchFamily="18" charset="0"/>
                <a:ea typeface="Cambria" panose="02040503050406030204" pitchFamily="18" charset="0"/>
              </a:rPr>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599" y="3200400"/>
            <a:ext cx="6048375"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22679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Executing a Standalone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r>
              <a:rPr lang="en-US" dirty="0" smtClean="0">
                <a:latin typeface="Cambria" panose="02040503050406030204" pitchFamily="18" charset="0"/>
                <a:ea typeface="Cambria" panose="02040503050406030204" pitchFamily="18" charset="0"/>
              </a:rPr>
              <a:t>The procedure can also be called from another PL/SQL block:</a:t>
            </a:r>
          </a:p>
          <a:p>
            <a:pPr>
              <a:buNone/>
            </a:pPr>
            <a:r>
              <a:rPr lang="en-US" dirty="0" smtClean="0">
                <a:latin typeface="Cambria" panose="02040503050406030204" pitchFamily="18" charset="0"/>
                <a:ea typeface="Cambria" panose="02040503050406030204" pitchFamily="18" charset="0"/>
              </a:rPr>
              <a:t>   </a:t>
            </a:r>
          </a:p>
          <a:p>
            <a:pPr>
              <a:buNone/>
            </a:pPr>
            <a:r>
              <a:rPr lang="en-US" dirty="0" smtClean="0">
                <a:latin typeface="Cambria" panose="02040503050406030204" pitchFamily="18" charset="0"/>
                <a:ea typeface="Cambria" panose="02040503050406030204" pitchFamily="18" charset="0"/>
              </a:rPr>
              <a:t>begin</a:t>
            </a:r>
          </a:p>
          <a:p>
            <a:pPr>
              <a:buNone/>
            </a:pPr>
            <a:r>
              <a:rPr lang="en-US" dirty="0" smtClean="0">
                <a:latin typeface="Cambria" panose="02040503050406030204" pitchFamily="18" charset="0"/>
                <a:ea typeface="Cambria" panose="02040503050406030204" pitchFamily="18" charset="0"/>
              </a:rPr>
              <a:t>   greetings; </a:t>
            </a:r>
          </a:p>
          <a:p>
            <a:pPr>
              <a:buNone/>
            </a:pPr>
            <a:r>
              <a:rPr lang="en-US" dirty="0" smtClean="0">
                <a:latin typeface="Cambria" panose="02040503050406030204" pitchFamily="18" charset="0"/>
                <a:ea typeface="Cambria" panose="02040503050406030204" pitchFamily="18" charset="0"/>
              </a:rPr>
              <a:t>end;</a:t>
            </a:r>
          </a:p>
          <a:p>
            <a:pPr>
              <a:buNone/>
            </a:pPr>
            <a:r>
              <a:rPr lang="en-US" dirty="0" smtClean="0">
                <a:latin typeface="Cambria" panose="02040503050406030204" pitchFamily="18" charset="0"/>
                <a:ea typeface="Cambria" panose="02040503050406030204" pitchFamily="18" charset="0"/>
              </a:rPr>
              <a:t> / </a:t>
            </a:r>
          </a:p>
          <a:p>
            <a:pPr>
              <a:buNone/>
            </a:pPr>
            <a:endParaRPr lang="en-US" dirty="0" smtClean="0">
              <a:latin typeface="Cambria" panose="02040503050406030204" pitchFamily="18" charset="0"/>
              <a:ea typeface="Cambria" panose="020405030504060302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333625"/>
            <a:ext cx="535305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Deleting a Standalone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algn="just"/>
            <a:r>
              <a:rPr lang="en-US" dirty="0" smtClean="0">
                <a:latin typeface="Cambria" panose="02040503050406030204" pitchFamily="18" charset="0"/>
                <a:ea typeface="Cambria" panose="02040503050406030204" pitchFamily="18" charset="0"/>
              </a:rPr>
              <a:t>A standalone procedure is deleted with the DROP PROCEDURE statement. Syntax for deleting a procedure is:</a:t>
            </a:r>
          </a:p>
          <a:p>
            <a:pPr algn="just">
              <a:buNone/>
            </a:pPr>
            <a:r>
              <a:rPr lang="en-US" dirty="0" smtClean="0">
                <a:latin typeface="Cambria" panose="02040503050406030204" pitchFamily="18" charset="0"/>
                <a:ea typeface="Cambria" panose="02040503050406030204" pitchFamily="18" charset="0"/>
              </a:rPr>
              <a:t>    DROP PROCEDURE </a:t>
            </a:r>
            <a:r>
              <a:rPr lang="en-US" dirty="0" err="1" smtClean="0">
                <a:latin typeface="Cambria" panose="02040503050406030204" pitchFamily="18" charset="0"/>
                <a:ea typeface="Cambria" panose="02040503050406030204" pitchFamily="18" charset="0"/>
              </a:rPr>
              <a:t>procedure</a:t>
            </a:r>
            <a:r>
              <a:rPr lang="en-US" dirty="0" smtClean="0">
                <a:latin typeface="Cambria" panose="02040503050406030204" pitchFamily="18" charset="0"/>
                <a:ea typeface="Cambria" panose="02040503050406030204" pitchFamily="18" charset="0"/>
              </a:rPr>
              <a:t>-name;</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mbria" panose="02040503050406030204" pitchFamily="18" charset="0"/>
                <a:ea typeface="Cambria" panose="02040503050406030204" pitchFamily="18" charset="0"/>
              </a:rPr>
              <a:t>Parameter Modes in PL/SQL – Procedures represented as functions</a:t>
            </a:r>
            <a:endParaRPr lang="en-US" dirty="0">
              <a:latin typeface="Cambria" panose="02040503050406030204" pitchFamily="18" charset="0"/>
              <a:ea typeface="Cambria" panose="0204050305040603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09521164"/>
              </p:ext>
            </p:extLst>
          </p:nvPr>
        </p:nvGraphicFramePr>
        <p:xfrm>
          <a:off x="228600" y="1219200"/>
          <a:ext cx="8382000" cy="5478960"/>
        </p:xfrm>
        <a:graphic>
          <a:graphicData uri="http://schemas.openxmlformats.org/drawingml/2006/table">
            <a:tbl>
              <a:tblPr/>
              <a:tblGrid>
                <a:gridCol w="533400"/>
                <a:gridCol w="7848600"/>
              </a:tblGrid>
              <a:tr h="200338">
                <a:tc>
                  <a:txBody>
                    <a:bodyPr/>
                    <a:lstStyle/>
                    <a:p>
                      <a:r>
                        <a:rPr lang="en-US" sz="1600" dirty="0"/>
                        <a:t>S.N.</a:t>
                      </a:r>
                    </a:p>
                  </a:txBody>
                  <a:tcPr marL="28620" marR="28620" marT="14310" marB="14310" anchor="ctr">
                    <a:lnL>
                      <a:noFill/>
                    </a:lnL>
                    <a:lnR>
                      <a:noFill/>
                    </a:lnR>
                    <a:lnT>
                      <a:noFill/>
                    </a:lnT>
                    <a:lnB>
                      <a:noFill/>
                    </a:lnB>
                  </a:tcPr>
                </a:tc>
                <a:tc>
                  <a:txBody>
                    <a:bodyPr/>
                    <a:lstStyle/>
                    <a:p>
                      <a:pPr algn="just"/>
                      <a:r>
                        <a:rPr lang="en-US" sz="1600" dirty="0"/>
                        <a:t>Parameter Mode &amp; Description</a:t>
                      </a:r>
                    </a:p>
                  </a:txBody>
                  <a:tcPr marL="28620" marR="28620" marT="14310" marB="14310" anchor="ctr">
                    <a:lnL>
                      <a:noFill/>
                    </a:lnL>
                    <a:lnR>
                      <a:noFill/>
                    </a:lnR>
                    <a:lnT>
                      <a:noFill/>
                    </a:lnT>
                    <a:lnB>
                      <a:noFill/>
                    </a:lnB>
                  </a:tcPr>
                </a:tc>
              </a:tr>
              <a:tr h="1574084">
                <a:tc>
                  <a:txBody>
                    <a:bodyPr/>
                    <a:lstStyle/>
                    <a:p>
                      <a:r>
                        <a:rPr lang="en-US" sz="1600"/>
                        <a:t>1</a:t>
                      </a:r>
                    </a:p>
                  </a:txBody>
                  <a:tcPr marL="28620" marR="28620" marT="14310" marB="14310" anchor="ctr">
                    <a:lnL>
                      <a:noFill/>
                    </a:lnL>
                    <a:lnR>
                      <a:noFill/>
                    </a:lnR>
                    <a:lnT>
                      <a:noFill/>
                    </a:lnT>
                    <a:lnB>
                      <a:noFill/>
                    </a:lnB>
                  </a:tcPr>
                </a:tc>
                <a:tc>
                  <a:txBody>
                    <a:bodyPr/>
                    <a:lstStyle/>
                    <a:p>
                      <a:pPr algn="just"/>
                      <a:r>
                        <a:rPr lang="en-US" sz="1600" b="1" dirty="0" smtClean="0"/>
                        <a:t>IN</a:t>
                      </a:r>
                    </a:p>
                    <a:p>
                      <a:pPr algn="just"/>
                      <a:r>
                        <a:rPr lang="en-US" sz="1600" dirty="0"/>
                        <a:t/>
                      </a:r>
                      <a:br>
                        <a:rPr lang="en-US" sz="1600" dirty="0"/>
                      </a:br>
                      <a:r>
                        <a:rPr lang="en-US" sz="1600" dirty="0"/>
                        <a:t>An IN parameter lets you pass a value to the subprogram. </a:t>
                      </a:r>
                      <a:r>
                        <a:rPr lang="en-US" sz="1600" b="1" dirty="0"/>
                        <a:t>It is a read-only parameter</a:t>
                      </a:r>
                      <a:r>
                        <a:rPr lang="en-US" sz="1600" dirty="0"/>
                        <a:t>. Inside the subprogram, an IN parameter acts like a constant. It cannot be assigned a value. You can pass a constant, literal, initialized variable, or expression as an IN parameter. You can also initialize it to a default value; however, in that case, it is omitted from the subprogram call. </a:t>
                      </a:r>
                      <a:r>
                        <a:rPr lang="en-US" sz="1600" b="1" dirty="0"/>
                        <a:t>It is the default mode of parameter passing. Parameters are passed by reference.</a:t>
                      </a:r>
                      <a:endParaRPr lang="en-US" sz="1600" dirty="0"/>
                    </a:p>
                  </a:txBody>
                  <a:tcPr marL="28620" marR="28620" marT="14310" marB="14310" anchor="ctr">
                    <a:lnL>
                      <a:noFill/>
                    </a:lnL>
                    <a:lnR>
                      <a:noFill/>
                    </a:lnR>
                    <a:lnT>
                      <a:noFill/>
                    </a:lnT>
                    <a:lnB>
                      <a:noFill/>
                    </a:lnB>
                  </a:tcPr>
                </a:tc>
              </a:tr>
              <a:tr h="973070">
                <a:tc>
                  <a:txBody>
                    <a:bodyPr/>
                    <a:lstStyle/>
                    <a:p>
                      <a:r>
                        <a:rPr lang="en-US" sz="1600"/>
                        <a:t>2</a:t>
                      </a:r>
                    </a:p>
                  </a:txBody>
                  <a:tcPr marL="28620" marR="28620" marT="14310" marB="14310" anchor="ctr">
                    <a:lnL>
                      <a:noFill/>
                    </a:lnL>
                    <a:lnR>
                      <a:noFill/>
                    </a:lnR>
                    <a:lnT>
                      <a:noFill/>
                    </a:lnT>
                    <a:lnB>
                      <a:noFill/>
                    </a:lnB>
                  </a:tcPr>
                </a:tc>
                <a:tc>
                  <a:txBody>
                    <a:bodyPr/>
                    <a:lstStyle/>
                    <a:p>
                      <a:pPr algn="just"/>
                      <a:endParaRPr lang="en-US" sz="1600" b="1" dirty="0" smtClean="0"/>
                    </a:p>
                    <a:p>
                      <a:pPr algn="just"/>
                      <a:r>
                        <a:rPr lang="en-US" sz="1600" b="1" dirty="0" smtClean="0"/>
                        <a:t>OUT</a:t>
                      </a:r>
                    </a:p>
                    <a:p>
                      <a:pPr algn="just"/>
                      <a:r>
                        <a:rPr lang="en-US" sz="1600" dirty="0"/>
                        <a:t/>
                      </a:r>
                      <a:br>
                        <a:rPr lang="en-US" sz="1600" dirty="0"/>
                      </a:br>
                      <a:r>
                        <a:rPr lang="en-US" sz="1600" dirty="0"/>
                        <a:t>An OUT parameter returns a value to the calling program. Inside the subprogram, an OUT parameter acts like a variable. You can change its value and reference the value after assigning it. </a:t>
                      </a:r>
                      <a:r>
                        <a:rPr lang="en-US" sz="1600" b="1" dirty="0"/>
                        <a:t>The actual parameter must be variable and it is passed by value</a:t>
                      </a:r>
                      <a:r>
                        <a:rPr lang="en-US" sz="1600" dirty="0"/>
                        <a:t>.</a:t>
                      </a:r>
                    </a:p>
                  </a:txBody>
                  <a:tcPr marL="28620" marR="28620" marT="14310" marB="14310" anchor="ctr">
                    <a:lnL>
                      <a:noFill/>
                    </a:lnL>
                    <a:lnR>
                      <a:noFill/>
                    </a:lnR>
                    <a:lnT>
                      <a:noFill/>
                    </a:lnT>
                    <a:lnB>
                      <a:noFill/>
                    </a:lnB>
                  </a:tcPr>
                </a:tc>
              </a:tr>
              <a:tr h="1316507">
                <a:tc>
                  <a:txBody>
                    <a:bodyPr/>
                    <a:lstStyle/>
                    <a:p>
                      <a:r>
                        <a:rPr lang="en-US" sz="1600"/>
                        <a:t>2</a:t>
                      </a:r>
                    </a:p>
                  </a:txBody>
                  <a:tcPr marL="28620" marR="28620" marT="14310" marB="14310" anchor="ctr">
                    <a:lnL>
                      <a:noFill/>
                    </a:lnL>
                    <a:lnR>
                      <a:noFill/>
                    </a:lnR>
                    <a:lnT>
                      <a:noFill/>
                    </a:lnT>
                    <a:lnB>
                      <a:noFill/>
                    </a:lnB>
                  </a:tcPr>
                </a:tc>
                <a:tc>
                  <a:txBody>
                    <a:bodyPr/>
                    <a:lstStyle/>
                    <a:p>
                      <a:pPr algn="just"/>
                      <a:endParaRPr lang="en-US" sz="1600" b="1" dirty="0" smtClean="0"/>
                    </a:p>
                    <a:p>
                      <a:pPr algn="just"/>
                      <a:r>
                        <a:rPr lang="en-US" sz="1600" b="1" dirty="0" smtClean="0"/>
                        <a:t>IN OUT</a:t>
                      </a:r>
                    </a:p>
                    <a:p>
                      <a:pPr algn="just"/>
                      <a:r>
                        <a:rPr lang="en-US" sz="1600" dirty="0"/>
                        <a:t/>
                      </a:r>
                      <a:br>
                        <a:rPr lang="en-US" sz="1600" dirty="0"/>
                      </a:br>
                      <a:r>
                        <a:rPr lang="en-US" sz="1600" dirty="0"/>
                        <a:t>An IN OUT parameter passes an initial value to a subprogram and returns an updated value to the caller. It can be assigned a value and its value can be read.</a:t>
                      </a:r>
                      <a:br>
                        <a:rPr lang="en-US" sz="1600" dirty="0"/>
                      </a:br>
                      <a:r>
                        <a:rPr lang="en-US" sz="1600" dirty="0"/>
                        <a:t>The actual parameter corresponding to an IN OUT formal parameter must be a variable, not a constant or an expression. Formal parameter must be assigned a value. </a:t>
                      </a:r>
                      <a:r>
                        <a:rPr lang="en-US" sz="1600" b="1" dirty="0"/>
                        <a:t>Actual parameter is passed by value.</a:t>
                      </a:r>
                      <a:endParaRPr lang="en-US" sz="1600" dirty="0"/>
                    </a:p>
                  </a:txBody>
                  <a:tcPr marL="28620" marR="28620" marT="14310" marB="14310"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IN &amp; OUT Mode Example 1</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2000" dirty="0" smtClean="0">
                <a:latin typeface="Cambria" panose="02040503050406030204" pitchFamily="18" charset="0"/>
                <a:ea typeface="Cambria" panose="02040503050406030204" pitchFamily="18" charset="0"/>
              </a:rPr>
              <a:t>declare</a:t>
            </a:r>
          </a:p>
          <a:p>
            <a:pPr>
              <a:buNone/>
            </a:pPr>
            <a:r>
              <a:rPr lang="en-US" sz="2000" dirty="0" smtClean="0">
                <a:latin typeface="Cambria" panose="02040503050406030204" pitchFamily="18" charset="0"/>
                <a:ea typeface="Cambria" panose="02040503050406030204" pitchFamily="18" charset="0"/>
              </a:rPr>
              <a:t>   a number;</a:t>
            </a:r>
          </a:p>
          <a:p>
            <a:pPr>
              <a:buNone/>
            </a:pPr>
            <a:r>
              <a:rPr lang="en-US" sz="2000" dirty="0" smtClean="0">
                <a:latin typeface="Cambria" panose="02040503050406030204" pitchFamily="18" charset="0"/>
                <a:ea typeface="Cambria" panose="02040503050406030204" pitchFamily="18" charset="0"/>
              </a:rPr>
              <a:t>   b number;</a:t>
            </a:r>
          </a:p>
          <a:p>
            <a:pPr>
              <a:buNone/>
            </a:pPr>
            <a:r>
              <a:rPr lang="en-US" sz="2000" dirty="0" smtClean="0">
                <a:latin typeface="Cambria" panose="02040503050406030204" pitchFamily="18" charset="0"/>
                <a:ea typeface="Cambria" panose="02040503050406030204" pitchFamily="18" charset="0"/>
              </a:rPr>
              <a:t>   c number;</a:t>
            </a:r>
          </a:p>
          <a:p>
            <a:pPr>
              <a:buNone/>
            </a:pPr>
            <a:r>
              <a:rPr lang="en-US" sz="2000" dirty="0" smtClean="0">
                <a:latin typeface="Cambria" panose="02040503050406030204" pitchFamily="18" charset="0"/>
                <a:ea typeface="Cambria" panose="02040503050406030204" pitchFamily="18" charset="0"/>
              </a:rPr>
              <a:t>procedure </a:t>
            </a:r>
            <a:r>
              <a:rPr lang="en-US" sz="2000" dirty="0" err="1" smtClean="0">
                <a:latin typeface="Cambria" panose="02040503050406030204" pitchFamily="18" charset="0"/>
                <a:ea typeface="Cambria" panose="02040503050406030204" pitchFamily="18" charset="0"/>
              </a:rPr>
              <a:t>findmin</a:t>
            </a:r>
            <a:r>
              <a:rPr lang="en-US" sz="2000" dirty="0" smtClean="0">
                <a:latin typeface="Cambria" panose="02040503050406030204" pitchFamily="18" charset="0"/>
                <a:ea typeface="Cambria" panose="02040503050406030204" pitchFamily="18" charset="0"/>
              </a:rPr>
              <a:t>(x in number, y in number, z out number) is</a:t>
            </a:r>
          </a:p>
          <a:p>
            <a:pPr>
              <a:buNone/>
            </a:pPr>
            <a:r>
              <a:rPr lang="en-US" sz="2000" dirty="0" smtClean="0">
                <a:latin typeface="Cambria" panose="02040503050406030204" pitchFamily="18" charset="0"/>
                <a:ea typeface="Cambria" panose="02040503050406030204" pitchFamily="18" charset="0"/>
              </a:rPr>
              <a:t>begin</a:t>
            </a:r>
          </a:p>
          <a:p>
            <a:pPr>
              <a:buNone/>
            </a:pPr>
            <a:r>
              <a:rPr lang="en-US" sz="2000" dirty="0" smtClean="0">
                <a:latin typeface="Cambria" panose="02040503050406030204" pitchFamily="18" charset="0"/>
                <a:ea typeface="Cambria" panose="02040503050406030204" pitchFamily="18" charset="0"/>
              </a:rPr>
              <a:t>   if x &lt; y then</a:t>
            </a:r>
          </a:p>
          <a:p>
            <a:pPr>
              <a:buNone/>
            </a:pPr>
            <a:r>
              <a:rPr lang="en-US" sz="2000" dirty="0" smtClean="0">
                <a:latin typeface="Cambria" panose="02040503050406030204" pitchFamily="18" charset="0"/>
                <a:ea typeface="Cambria" panose="02040503050406030204" pitchFamily="18" charset="0"/>
              </a:rPr>
              <a:t>      z:= x;</a:t>
            </a:r>
          </a:p>
          <a:p>
            <a:pPr>
              <a:buNone/>
            </a:pPr>
            <a:r>
              <a:rPr lang="en-US" sz="2000" dirty="0" smtClean="0">
                <a:latin typeface="Cambria" panose="02040503050406030204" pitchFamily="18" charset="0"/>
                <a:ea typeface="Cambria" panose="02040503050406030204" pitchFamily="18" charset="0"/>
              </a:rPr>
              <a:t>   else</a:t>
            </a:r>
          </a:p>
          <a:p>
            <a:pPr>
              <a:buNone/>
            </a:pPr>
            <a:r>
              <a:rPr lang="en-US" sz="2000" dirty="0" smtClean="0">
                <a:latin typeface="Cambria" panose="02040503050406030204" pitchFamily="18" charset="0"/>
                <a:ea typeface="Cambria" panose="02040503050406030204" pitchFamily="18" charset="0"/>
              </a:rPr>
              <a:t>      z:= y;</a:t>
            </a:r>
          </a:p>
          <a:p>
            <a:pPr>
              <a:buNone/>
            </a:pPr>
            <a:r>
              <a:rPr lang="en-US" sz="2000" dirty="0" smtClean="0">
                <a:latin typeface="Cambria" panose="02040503050406030204" pitchFamily="18" charset="0"/>
                <a:ea typeface="Cambria" panose="02040503050406030204" pitchFamily="18" charset="0"/>
              </a:rPr>
              <a:t>   end if;</a:t>
            </a:r>
          </a:p>
          <a:p>
            <a:pPr>
              <a:buNone/>
            </a:pPr>
            <a:r>
              <a:rPr lang="en-US" sz="2000" dirty="0" smtClean="0">
                <a:latin typeface="Cambria" panose="02040503050406030204" pitchFamily="18" charset="0"/>
                <a:ea typeface="Cambria" panose="02040503050406030204" pitchFamily="18" charset="0"/>
              </a:rPr>
              <a:t>end;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IN &amp; OUT Mode Example 1</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2000" dirty="0" smtClean="0">
                <a:latin typeface="Cambria" panose="02040503050406030204" pitchFamily="18" charset="0"/>
                <a:ea typeface="Cambria" panose="02040503050406030204" pitchFamily="18" charset="0"/>
              </a:rPr>
              <a:t>begin</a:t>
            </a:r>
          </a:p>
          <a:p>
            <a:pPr>
              <a:buNone/>
            </a:pPr>
            <a:r>
              <a:rPr lang="en-US" sz="2000" dirty="0" smtClean="0">
                <a:latin typeface="Cambria" panose="02040503050406030204" pitchFamily="18" charset="0"/>
                <a:ea typeface="Cambria" panose="02040503050406030204" pitchFamily="18" charset="0"/>
              </a:rPr>
              <a:t>   a:= 23;</a:t>
            </a:r>
          </a:p>
          <a:p>
            <a:pPr>
              <a:buNone/>
            </a:pPr>
            <a:r>
              <a:rPr lang="en-US" sz="2000" dirty="0" smtClean="0">
                <a:latin typeface="Cambria" panose="02040503050406030204" pitchFamily="18" charset="0"/>
                <a:ea typeface="Cambria" panose="02040503050406030204" pitchFamily="18" charset="0"/>
              </a:rPr>
              <a:t>   b:= 45;</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findmin</a:t>
            </a:r>
            <a:r>
              <a:rPr lang="en-US" sz="2000" dirty="0" smtClean="0">
                <a:latin typeface="Cambria" panose="02040503050406030204" pitchFamily="18" charset="0"/>
                <a:ea typeface="Cambria" panose="02040503050406030204" pitchFamily="18" charset="0"/>
              </a:rPr>
              <a:t>(a, b, c);</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dbms_output.put_line</a:t>
            </a:r>
            <a:r>
              <a:rPr lang="en-US" sz="2000" dirty="0" smtClean="0">
                <a:latin typeface="Cambria" panose="02040503050406030204" pitchFamily="18" charset="0"/>
                <a:ea typeface="Cambria" panose="02040503050406030204" pitchFamily="18" charset="0"/>
              </a:rPr>
              <a:t>(' minimum of (23, 45) : ' || c);</a:t>
            </a:r>
          </a:p>
          <a:p>
            <a:pPr>
              <a:buNone/>
            </a:pPr>
            <a:r>
              <a:rPr lang="en-US" sz="2000" dirty="0" smtClean="0">
                <a:latin typeface="Cambria" panose="02040503050406030204" pitchFamily="18" charset="0"/>
                <a:ea typeface="Cambria" panose="02040503050406030204" pitchFamily="18" charset="0"/>
              </a:rPr>
              <a:t>end;</a:t>
            </a:r>
          </a:p>
          <a:p>
            <a:pPr>
              <a:buNone/>
            </a:pPr>
            <a:r>
              <a:rPr lang="en-US" sz="2000" dirty="0" smtClean="0">
                <a:latin typeface="Cambria" panose="02040503050406030204" pitchFamily="18" charset="0"/>
                <a:ea typeface="Cambria" panose="02040503050406030204" pitchFamily="18" charset="0"/>
              </a:rPr>
              <a:t>/</a:t>
            </a:r>
          </a:p>
          <a:p>
            <a:pPr>
              <a:buNone/>
            </a:pPr>
            <a:endParaRPr lang="en-US" sz="2000" dirty="0" smtClean="0">
              <a:latin typeface="Cambria" panose="02040503050406030204" pitchFamily="18" charset="0"/>
              <a:ea typeface="Cambria" panose="02040503050406030204" pitchFamily="18" charset="0"/>
            </a:endParaRPr>
          </a:p>
          <a:p>
            <a:pPr>
              <a:buNone/>
            </a:pPr>
            <a:r>
              <a:rPr lang="en-US" sz="2000" dirty="0" smtClean="0">
                <a:latin typeface="Cambria" panose="02040503050406030204" pitchFamily="18" charset="0"/>
                <a:ea typeface="Cambria" panose="02040503050406030204" pitchFamily="18" charset="0"/>
              </a:rPr>
              <a:t>O/P</a:t>
            </a:r>
          </a:p>
          <a:p>
            <a:pPr>
              <a:buNone/>
            </a:pPr>
            <a:r>
              <a:rPr lang="en-US" sz="2000" dirty="0" smtClean="0">
                <a:latin typeface="Cambria" panose="02040503050406030204" pitchFamily="18" charset="0"/>
                <a:ea typeface="Cambria" panose="02040503050406030204" pitchFamily="18" charset="0"/>
              </a:rPr>
              <a:t>Minimum of (23, 45) : 23</a:t>
            </a:r>
          </a:p>
          <a:p>
            <a:pPr>
              <a:buNone/>
            </a:pPr>
            <a:endParaRPr lang="en-US" sz="2000" dirty="0" smtClean="0">
              <a:latin typeface="Cambria" panose="02040503050406030204" pitchFamily="18" charset="0"/>
              <a:ea typeface="Cambria" panose="02040503050406030204" pitchFamily="18" charset="0"/>
            </a:endParaRPr>
          </a:p>
          <a:p>
            <a:pPr>
              <a:buNone/>
            </a:pPr>
            <a:r>
              <a:rPr lang="en-US" sz="2000" dirty="0" smtClean="0">
                <a:latin typeface="Cambria" panose="02040503050406030204" pitchFamily="18" charset="0"/>
                <a:ea typeface="Cambria" panose="02040503050406030204" pitchFamily="18" charset="0"/>
              </a:rPr>
              <a:t>PL/SQL procedure successfully completed.</a:t>
            </a:r>
            <a:endParaRPr lang="en-US" sz="20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8" y="190500"/>
            <a:ext cx="8886825"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20473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
            <a:ext cx="8781222"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85233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anose="02040503050406030204" pitchFamily="18" charset="0"/>
                <a:ea typeface="Cambria" panose="02040503050406030204" pitchFamily="18" charset="0"/>
              </a:rPr>
              <a:t>IN &amp; OUT Mode Example 2</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2000" dirty="0" smtClean="0">
                <a:latin typeface="Cambria" panose="02040503050406030204" pitchFamily="18" charset="0"/>
                <a:ea typeface="Cambria" panose="02040503050406030204" pitchFamily="18" charset="0"/>
              </a:rPr>
              <a:t>declare</a:t>
            </a:r>
          </a:p>
          <a:p>
            <a:pPr>
              <a:buNone/>
            </a:pPr>
            <a:r>
              <a:rPr lang="en-US" sz="2000" dirty="0" smtClean="0">
                <a:latin typeface="Cambria" panose="02040503050406030204" pitchFamily="18" charset="0"/>
                <a:ea typeface="Cambria" panose="02040503050406030204" pitchFamily="18" charset="0"/>
              </a:rPr>
              <a:t>   a number;</a:t>
            </a:r>
          </a:p>
          <a:p>
            <a:pPr>
              <a:buNone/>
            </a:pPr>
            <a:r>
              <a:rPr lang="en-US" sz="2000" dirty="0" smtClean="0">
                <a:latin typeface="Cambria" panose="02040503050406030204" pitchFamily="18" charset="0"/>
                <a:ea typeface="Cambria" panose="02040503050406030204" pitchFamily="18" charset="0"/>
              </a:rPr>
              <a:t>procedure </a:t>
            </a:r>
            <a:r>
              <a:rPr lang="en-US" sz="2000" dirty="0" err="1" smtClean="0">
                <a:latin typeface="Cambria" panose="02040503050406030204" pitchFamily="18" charset="0"/>
                <a:ea typeface="Cambria" panose="02040503050406030204" pitchFamily="18" charset="0"/>
              </a:rPr>
              <a:t>squarenum</a:t>
            </a:r>
            <a:r>
              <a:rPr lang="en-US" sz="2000" dirty="0" smtClean="0">
                <a:latin typeface="Cambria" panose="02040503050406030204" pitchFamily="18" charset="0"/>
                <a:ea typeface="Cambria" panose="02040503050406030204" pitchFamily="18" charset="0"/>
              </a:rPr>
              <a:t>(x in out number) is</a:t>
            </a:r>
          </a:p>
          <a:p>
            <a:pPr>
              <a:buNone/>
            </a:pPr>
            <a:r>
              <a:rPr lang="en-US" sz="2000" dirty="0" smtClean="0">
                <a:latin typeface="Cambria" panose="02040503050406030204" pitchFamily="18" charset="0"/>
                <a:ea typeface="Cambria" panose="02040503050406030204" pitchFamily="18" charset="0"/>
              </a:rPr>
              <a:t>begin</a:t>
            </a:r>
          </a:p>
          <a:p>
            <a:pPr>
              <a:buNone/>
            </a:pPr>
            <a:r>
              <a:rPr lang="en-US" sz="2000" dirty="0" smtClean="0">
                <a:latin typeface="Cambria" panose="02040503050406030204" pitchFamily="18" charset="0"/>
                <a:ea typeface="Cambria" panose="02040503050406030204" pitchFamily="18" charset="0"/>
              </a:rPr>
              <a:t>  x := x * x;</a:t>
            </a:r>
          </a:p>
          <a:p>
            <a:pPr>
              <a:buNone/>
            </a:pPr>
            <a:r>
              <a:rPr lang="en-US" sz="2000" dirty="0" smtClean="0">
                <a:latin typeface="Cambria" panose="02040503050406030204" pitchFamily="18" charset="0"/>
                <a:ea typeface="Cambria" panose="02040503050406030204" pitchFamily="18" charset="0"/>
              </a:rPr>
              <a:t>end; </a:t>
            </a:r>
          </a:p>
          <a:p>
            <a:pPr>
              <a:buNone/>
            </a:pPr>
            <a:r>
              <a:rPr lang="en-US" sz="2000" dirty="0" smtClean="0">
                <a:latin typeface="Cambria" panose="02040503050406030204" pitchFamily="18" charset="0"/>
                <a:ea typeface="Cambria" panose="02040503050406030204" pitchFamily="18" charset="0"/>
              </a:rPr>
              <a:t>begin</a:t>
            </a:r>
          </a:p>
          <a:p>
            <a:pPr>
              <a:buNone/>
            </a:pPr>
            <a:r>
              <a:rPr lang="en-US" sz="2000" dirty="0" smtClean="0">
                <a:latin typeface="Cambria" panose="02040503050406030204" pitchFamily="18" charset="0"/>
                <a:ea typeface="Cambria" panose="02040503050406030204" pitchFamily="18" charset="0"/>
              </a:rPr>
              <a:t>   a:= 23;</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squarenum</a:t>
            </a:r>
            <a:r>
              <a:rPr lang="en-US" sz="2000" dirty="0" smtClean="0">
                <a:latin typeface="Cambria" panose="02040503050406030204" pitchFamily="18" charset="0"/>
                <a:ea typeface="Cambria" panose="02040503050406030204" pitchFamily="18" charset="0"/>
              </a:rPr>
              <a:t>(a);</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dbms_output.put_line</a:t>
            </a:r>
            <a:r>
              <a:rPr lang="en-US" sz="2000" dirty="0" smtClean="0">
                <a:latin typeface="Cambria" panose="02040503050406030204" pitchFamily="18" charset="0"/>
                <a:ea typeface="Cambria" panose="02040503050406030204" pitchFamily="18" charset="0"/>
              </a:rPr>
              <a:t>(' square of (23): ' || a);</a:t>
            </a:r>
          </a:p>
          <a:p>
            <a:pPr>
              <a:buNone/>
            </a:pPr>
            <a:r>
              <a:rPr lang="en-US" sz="2000" dirty="0" smtClean="0">
                <a:latin typeface="Cambria" panose="02040503050406030204" pitchFamily="18" charset="0"/>
                <a:ea typeface="Cambria" panose="02040503050406030204" pitchFamily="18" charset="0"/>
              </a:rPr>
              <a:t>end;</a:t>
            </a:r>
          </a:p>
          <a:p>
            <a:pPr>
              <a:buNone/>
            </a:pP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306" y="228600"/>
            <a:ext cx="6386512" cy="3933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625" y="4343400"/>
            <a:ext cx="53721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71925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Procedure accessing Tables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lgn="just">
              <a:buNone/>
            </a:pPr>
            <a:endParaRPr lang="en-US" dirty="0">
              <a:latin typeface="Cambria" panose="02040503050406030204" pitchFamily="18" charset="0"/>
              <a:ea typeface="Cambria" panose="02040503050406030204" pitchFamily="18" charset="0"/>
              <a:cs typeface="Courier New" pitchFamily="49"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81200"/>
            <a:ext cx="862716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Procedure – student table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533400" y="1295400"/>
            <a:ext cx="8229600" cy="4937760"/>
          </a:xfrm>
        </p:spPr>
        <p:txBody>
          <a:bodyPr>
            <a:normAutofit fontScale="92500" lnSpcReduction="20000"/>
          </a:bodyPr>
          <a:lstStyle/>
          <a:p>
            <a:pPr>
              <a:buNone/>
            </a:pPr>
            <a:r>
              <a:rPr lang="en-US" dirty="0" smtClean="0">
                <a:latin typeface="Cambria" panose="02040503050406030204" pitchFamily="18" charset="0"/>
                <a:ea typeface="Cambria" panose="02040503050406030204" pitchFamily="18" charset="0"/>
              </a:rPr>
              <a:t>create or replace procedure </a:t>
            </a:r>
            <a:r>
              <a:rPr lang="en-US" dirty="0" err="1" smtClean="0">
                <a:latin typeface="Cambria" panose="02040503050406030204" pitchFamily="18" charset="0"/>
                <a:ea typeface="Cambria" panose="02040503050406030204" pitchFamily="18" charset="0"/>
              </a:rPr>
              <a:t>pro_insert</a:t>
            </a:r>
            <a:r>
              <a:rPr lang="en-US" dirty="0" smtClean="0">
                <a:latin typeface="Cambria" panose="02040503050406030204" pitchFamily="18" charset="0"/>
                <a:ea typeface="Cambria" panose="02040503050406030204" pitchFamily="18" charset="0"/>
              </a:rPr>
              <a:t>(x1 varchar,x2 char,x3 date) as</a:t>
            </a:r>
          </a:p>
          <a:p>
            <a:pPr>
              <a:buNone/>
            </a:pPr>
            <a:r>
              <a:rPr lang="en-US" dirty="0" err="1" smtClean="0">
                <a:latin typeface="Cambria" panose="02040503050406030204" pitchFamily="18" charset="0"/>
                <a:ea typeface="Cambria" panose="02040503050406030204" pitchFamily="18" charset="0"/>
              </a:rPr>
              <a:t>sturegno</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varchar</a:t>
            </a:r>
            <a:r>
              <a:rPr lang="en-US" dirty="0" smtClean="0">
                <a:latin typeface="Cambria" panose="02040503050406030204" pitchFamily="18" charset="0"/>
                <a:ea typeface="Cambria" panose="02040503050406030204" pitchFamily="18" charset="0"/>
              </a:rPr>
              <a:t>(8);</a:t>
            </a:r>
          </a:p>
          <a:p>
            <a:pPr>
              <a:buNone/>
            </a:pPr>
            <a:r>
              <a:rPr lang="en-US" dirty="0" err="1" smtClean="0">
                <a:latin typeface="Cambria" panose="02040503050406030204" pitchFamily="18" charset="0"/>
                <a:ea typeface="Cambria" panose="02040503050406030204" pitchFamily="18" charset="0"/>
              </a:rPr>
              <a:t>stuname</a:t>
            </a:r>
            <a:r>
              <a:rPr lang="en-US" dirty="0" smtClean="0">
                <a:latin typeface="Cambria" panose="02040503050406030204" pitchFamily="18" charset="0"/>
                <a:ea typeface="Cambria" panose="02040503050406030204" pitchFamily="18" charset="0"/>
              </a:rPr>
              <a:t> char(10);</a:t>
            </a:r>
          </a:p>
          <a:p>
            <a:pPr>
              <a:buNone/>
            </a:pPr>
            <a:r>
              <a:rPr lang="en-US" dirty="0" smtClean="0">
                <a:latin typeface="Cambria" panose="02040503050406030204" pitchFamily="18" charset="0"/>
                <a:ea typeface="Cambria" panose="02040503050406030204" pitchFamily="18" charset="0"/>
              </a:rPr>
              <a:t>dob date;</a:t>
            </a:r>
          </a:p>
          <a:p>
            <a:pPr>
              <a:buNone/>
            </a:pPr>
            <a:r>
              <a:rPr lang="en-US" dirty="0" smtClean="0">
                <a:latin typeface="Cambria" panose="02040503050406030204" pitchFamily="18" charset="0"/>
                <a:ea typeface="Cambria" panose="02040503050406030204" pitchFamily="18" charset="0"/>
              </a:rPr>
              <a:t>Begin</a:t>
            </a:r>
          </a:p>
          <a:p>
            <a:pPr>
              <a:buNone/>
            </a:pPr>
            <a:r>
              <a:rPr lang="en-US" dirty="0" err="1" smtClean="0">
                <a:latin typeface="Cambria" panose="02040503050406030204" pitchFamily="18" charset="0"/>
                <a:ea typeface="Cambria" panose="02040503050406030204" pitchFamily="18" charset="0"/>
              </a:rPr>
              <a:t>sturegno</a:t>
            </a:r>
            <a:r>
              <a:rPr lang="en-US" dirty="0" smtClean="0">
                <a:latin typeface="Cambria" panose="02040503050406030204" pitchFamily="18" charset="0"/>
                <a:ea typeface="Cambria" panose="02040503050406030204" pitchFamily="18" charset="0"/>
              </a:rPr>
              <a:t>:=x1;</a:t>
            </a:r>
          </a:p>
          <a:p>
            <a:pPr>
              <a:buNone/>
            </a:pPr>
            <a:r>
              <a:rPr lang="en-US" dirty="0" err="1" smtClean="0">
                <a:latin typeface="Cambria" panose="02040503050406030204" pitchFamily="18" charset="0"/>
                <a:ea typeface="Cambria" panose="02040503050406030204" pitchFamily="18" charset="0"/>
              </a:rPr>
              <a:t>stuname</a:t>
            </a:r>
            <a:r>
              <a:rPr lang="en-US" dirty="0" smtClean="0">
                <a:latin typeface="Cambria" panose="02040503050406030204" pitchFamily="18" charset="0"/>
                <a:ea typeface="Cambria" panose="02040503050406030204" pitchFamily="18" charset="0"/>
              </a:rPr>
              <a:t>:=x2;</a:t>
            </a:r>
          </a:p>
          <a:p>
            <a:pPr>
              <a:buNone/>
            </a:pPr>
            <a:r>
              <a:rPr lang="en-US" dirty="0" smtClean="0">
                <a:latin typeface="Cambria" panose="02040503050406030204" pitchFamily="18" charset="0"/>
                <a:ea typeface="Cambria" panose="02040503050406030204" pitchFamily="18" charset="0"/>
              </a:rPr>
              <a:t>dob:=x3;</a:t>
            </a:r>
          </a:p>
          <a:p>
            <a:pPr>
              <a:buNone/>
            </a:pPr>
            <a:r>
              <a:rPr lang="en-US" dirty="0" smtClean="0">
                <a:latin typeface="Cambria" panose="02040503050406030204" pitchFamily="18" charset="0"/>
                <a:ea typeface="Cambria" panose="02040503050406030204" pitchFamily="18" charset="0"/>
              </a:rPr>
              <a:t>insert into student values(</a:t>
            </a:r>
            <a:r>
              <a:rPr lang="en-US" dirty="0" err="1" smtClean="0">
                <a:latin typeface="Cambria" panose="02040503050406030204" pitchFamily="18" charset="0"/>
                <a:ea typeface="Cambria" panose="02040503050406030204" pitchFamily="18" charset="0"/>
              </a:rPr>
              <a:t>sturegno</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stuname</a:t>
            </a:r>
            <a:r>
              <a:rPr lang="en-US" dirty="0" smtClean="0">
                <a:latin typeface="Cambria" panose="02040503050406030204" pitchFamily="18" charset="0"/>
                <a:ea typeface="Cambria" panose="02040503050406030204" pitchFamily="18" charset="0"/>
              </a:rPr>
              <a:t>, dob);</a:t>
            </a:r>
          </a:p>
          <a:p>
            <a:pPr>
              <a:buNone/>
            </a:pPr>
            <a:r>
              <a:rPr lang="en-US" dirty="0" err="1" smtClean="0">
                <a:latin typeface="Cambria" panose="02040503050406030204" pitchFamily="18" charset="0"/>
                <a:ea typeface="Cambria" panose="02040503050406030204" pitchFamily="18" charset="0"/>
              </a:rPr>
              <a:t>dbms_output.put_line</a:t>
            </a:r>
            <a:r>
              <a:rPr lang="en-US" dirty="0" smtClean="0">
                <a:latin typeface="Cambria" panose="02040503050406030204" pitchFamily="18" charset="0"/>
                <a:ea typeface="Cambria" panose="02040503050406030204" pitchFamily="18" charset="0"/>
              </a:rPr>
              <a:t>('Record Inserted');</a:t>
            </a:r>
          </a:p>
          <a:p>
            <a:pPr>
              <a:buNone/>
            </a:pPr>
            <a:r>
              <a:rPr lang="en-US" dirty="0" smtClean="0">
                <a:latin typeface="Cambria" panose="02040503050406030204" pitchFamily="18" charset="0"/>
                <a:ea typeface="Cambria" panose="02040503050406030204" pitchFamily="18" charset="0"/>
              </a:rPr>
              <a:t>end;</a:t>
            </a:r>
          </a:p>
          <a:p>
            <a:pPr>
              <a:buNone/>
            </a:pP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334" y="381000"/>
            <a:ext cx="7428171"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ambria" panose="02040503050406030204" pitchFamily="18" charset="0"/>
                <a:ea typeface="Cambria" panose="02040503050406030204" pitchFamily="18" charset="0"/>
              </a:rPr>
              <a:t>Inventory Table</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r>
              <a:rPr lang="en-US" sz="2800" dirty="0" err="1" smtClean="0">
                <a:latin typeface="Cambria" panose="02040503050406030204" pitchFamily="18" charset="0"/>
                <a:ea typeface="Cambria" panose="02040503050406030204" pitchFamily="18" charset="0"/>
                <a:cs typeface="Courier New" pitchFamily="49" charset="0"/>
              </a:rPr>
              <a:t>procode</a:t>
            </a:r>
            <a:endParaRPr lang="en-US" sz="2800" dirty="0" smtClean="0">
              <a:latin typeface="Cambria" panose="02040503050406030204" pitchFamily="18" charset="0"/>
              <a:ea typeface="Cambria" panose="02040503050406030204" pitchFamily="18" charset="0"/>
              <a:cs typeface="Courier New" pitchFamily="49" charset="0"/>
            </a:endParaRPr>
          </a:p>
          <a:p>
            <a:pPr marL="0" indent="0">
              <a:buNone/>
            </a:pPr>
            <a:r>
              <a:rPr lang="en-US" sz="2800" dirty="0" err="1" smtClean="0">
                <a:latin typeface="Cambria" panose="02040503050406030204" pitchFamily="18" charset="0"/>
                <a:ea typeface="Cambria" panose="02040503050406030204" pitchFamily="18" charset="0"/>
                <a:cs typeface="Courier New" pitchFamily="49" charset="0"/>
              </a:rPr>
              <a:t>proname</a:t>
            </a:r>
            <a:endParaRPr lang="en-US" sz="2800" dirty="0" smtClean="0">
              <a:latin typeface="Cambria" panose="02040503050406030204" pitchFamily="18" charset="0"/>
              <a:ea typeface="Cambria" panose="02040503050406030204" pitchFamily="18" charset="0"/>
              <a:cs typeface="Courier New" pitchFamily="49" charset="0"/>
            </a:endParaRPr>
          </a:p>
          <a:p>
            <a:pPr marL="0" indent="0">
              <a:buNone/>
            </a:pPr>
            <a:r>
              <a:rPr lang="en-US" sz="2800" dirty="0" err="1" smtClean="0">
                <a:latin typeface="Cambria" panose="02040503050406030204" pitchFamily="18" charset="0"/>
                <a:ea typeface="Cambria" panose="02040503050406030204" pitchFamily="18" charset="0"/>
                <a:cs typeface="Courier New" pitchFamily="49" charset="0"/>
              </a:rPr>
              <a:t>pqty</a:t>
            </a:r>
            <a:endParaRPr lang="en-US" sz="2800" dirty="0" smtClean="0">
              <a:latin typeface="Cambria" panose="02040503050406030204" pitchFamily="18" charset="0"/>
              <a:ea typeface="Cambria" panose="02040503050406030204" pitchFamily="18" charset="0"/>
              <a:cs typeface="Courier New" pitchFamily="49" charset="0"/>
            </a:endParaRPr>
          </a:p>
          <a:p>
            <a:pPr marL="0" indent="0">
              <a:buNone/>
            </a:pPr>
            <a:r>
              <a:rPr lang="en-US" sz="2800" dirty="0" err="1" smtClean="0">
                <a:latin typeface="Cambria" panose="02040503050406030204" pitchFamily="18" charset="0"/>
                <a:ea typeface="Cambria" panose="02040503050406030204" pitchFamily="18" charset="0"/>
                <a:cs typeface="Courier New" pitchFamily="49" charset="0"/>
              </a:rPr>
              <a:t>pprice</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5755311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Insert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1600" dirty="0" smtClean="0">
                <a:latin typeface="Courier New" pitchFamily="49" charset="0"/>
                <a:cs typeface="Courier New" pitchFamily="49" charset="0"/>
              </a:rPr>
              <a:t>SQL&gt; </a:t>
            </a:r>
            <a:r>
              <a:rPr lang="en-US" sz="1600" dirty="0" err="1" smtClean="0">
                <a:latin typeface="Courier New" pitchFamily="49" charset="0"/>
                <a:cs typeface="Courier New" pitchFamily="49" charset="0"/>
              </a:rPr>
              <a:t>ed</a:t>
            </a:r>
            <a:r>
              <a:rPr lang="en-US" sz="1600" dirty="0" smtClean="0">
                <a:latin typeface="Courier New" pitchFamily="49" charset="0"/>
                <a:cs typeface="Courier New" pitchFamily="49" charset="0"/>
              </a:rPr>
              <a:t> ex1;</a:t>
            </a:r>
          </a:p>
          <a:p>
            <a:pPr>
              <a:buNone/>
            </a:pPr>
            <a:r>
              <a:rPr lang="en-US" sz="1600" dirty="0" smtClean="0">
                <a:latin typeface="Courier New" pitchFamily="49" charset="0"/>
                <a:cs typeface="Courier New" pitchFamily="49" charset="0"/>
              </a:rPr>
              <a:t>create or replace procedure </a:t>
            </a:r>
            <a:r>
              <a:rPr lang="en-US" sz="1600" dirty="0" err="1" smtClean="0">
                <a:latin typeface="Courier New" pitchFamily="49" charset="0"/>
                <a:cs typeface="Courier New" pitchFamily="49" charset="0"/>
              </a:rPr>
              <a:t>pro_insert</a:t>
            </a:r>
            <a:r>
              <a:rPr lang="en-US" sz="1600" dirty="0" smtClean="0">
                <a:latin typeface="Courier New" pitchFamily="49" charset="0"/>
                <a:cs typeface="Courier New" pitchFamily="49" charset="0"/>
              </a:rPr>
              <a:t>(x1 varchar,x2 varchar,x3 number,x4 number) as</a:t>
            </a:r>
          </a:p>
          <a:p>
            <a:pPr>
              <a:buNone/>
            </a:pPr>
            <a:r>
              <a:rPr lang="en-US" sz="1600" dirty="0" err="1" smtClean="0">
                <a:latin typeface="Courier New" pitchFamily="49" charset="0"/>
                <a:cs typeface="Courier New" pitchFamily="49" charset="0"/>
              </a:rPr>
              <a:t>procode</a:t>
            </a:r>
            <a:r>
              <a:rPr lang="en-US" sz="1600" dirty="0" smtClean="0">
                <a:latin typeface="Courier New" pitchFamily="49" charset="0"/>
                <a:cs typeface="Courier New" pitchFamily="49" charset="0"/>
              </a:rPr>
              <a:t> varchar2(5);</a:t>
            </a:r>
          </a:p>
          <a:p>
            <a:pPr>
              <a:buNone/>
            </a:pPr>
            <a:r>
              <a:rPr lang="en-US" sz="1600" dirty="0" err="1" smtClean="0">
                <a:latin typeface="Courier New" pitchFamily="49" charset="0"/>
                <a:cs typeface="Courier New" pitchFamily="49" charset="0"/>
              </a:rPr>
              <a:t>proname</a:t>
            </a:r>
            <a:r>
              <a:rPr lang="en-US" sz="1600" dirty="0" smtClean="0">
                <a:latin typeface="Courier New" pitchFamily="49" charset="0"/>
                <a:cs typeface="Courier New" pitchFamily="49" charset="0"/>
              </a:rPr>
              <a:t> varchar2(10);</a:t>
            </a:r>
          </a:p>
          <a:p>
            <a:pPr>
              <a:buNone/>
            </a:pPr>
            <a:r>
              <a:rPr lang="en-US" sz="1600" dirty="0" err="1" smtClean="0">
                <a:latin typeface="Courier New" pitchFamily="49" charset="0"/>
                <a:cs typeface="Courier New" pitchFamily="49" charset="0"/>
              </a:rPr>
              <a:t>pqty</a:t>
            </a:r>
            <a:r>
              <a:rPr lang="en-US" sz="1600" dirty="0" smtClean="0">
                <a:latin typeface="Courier New" pitchFamily="49" charset="0"/>
                <a:cs typeface="Courier New" pitchFamily="49" charset="0"/>
              </a:rPr>
              <a:t> number(4);</a:t>
            </a:r>
          </a:p>
          <a:p>
            <a:pPr>
              <a:buNone/>
            </a:pPr>
            <a:r>
              <a:rPr lang="en-US" sz="1600" dirty="0" err="1" smtClean="0">
                <a:latin typeface="Courier New" pitchFamily="49" charset="0"/>
                <a:cs typeface="Courier New" pitchFamily="49" charset="0"/>
              </a:rPr>
              <a:t>pprice</a:t>
            </a:r>
            <a:r>
              <a:rPr lang="en-US" sz="1600" dirty="0" smtClean="0">
                <a:latin typeface="Courier New" pitchFamily="49" charset="0"/>
                <a:cs typeface="Courier New" pitchFamily="49" charset="0"/>
              </a:rPr>
              <a:t> number(5);</a:t>
            </a:r>
          </a:p>
          <a:p>
            <a:pPr>
              <a:buNone/>
            </a:pPr>
            <a:endParaRPr lang="en-US" sz="1600" dirty="0" smtClean="0">
              <a:latin typeface="Courier New" pitchFamily="49" charset="0"/>
              <a:cs typeface="Courier New" pitchFamily="49" charset="0"/>
            </a:endParaRPr>
          </a:p>
          <a:p>
            <a:pPr>
              <a:buNone/>
            </a:pPr>
            <a:r>
              <a:rPr lang="en-US" sz="1600" dirty="0" smtClean="0">
                <a:latin typeface="Courier New" pitchFamily="49" charset="0"/>
                <a:cs typeface="Courier New" pitchFamily="49" charset="0"/>
              </a:rPr>
              <a:t>Begin</a:t>
            </a:r>
          </a:p>
          <a:p>
            <a:pPr>
              <a:buNone/>
            </a:pPr>
            <a:r>
              <a:rPr lang="en-US" sz="1600" dirty="0" err="1" smtClean="0">
                <a:latin typeface="Courier New" pitchFamily="49" charset="0"/>
                <a:cs typeface="Courier New" pitchFamily="49" charset="0"/>
              </a:rPr>
              <a:t>procode</a:t>
            </a:r>
            <a:r>
              <a:rPr lang="en-US" sz="1600" dirty="0" smtClean="0">
                <a:latin typeface="Courier New" pitchFamily="49" charset="0"/>
                <a:cs typeface="Courier New" pitchFamily="49" charset="0"/>
              </a:rPr>
              <a:t>:=x1;</a:t>
            </a:r>
          </a:p>
          <a:p>
            <a:pPr>
              <a:buNone/>
            </a:pPr>
            <a:r>
              <a:rPr lang="en-US" sz="1600" dirty="0" err="1" smtClean="0">
                <a:latin typeface="Courier New" pitchFamily="49" charset="0"/>
                <a:cs typeface="Courier New" pitchFamily="49" charset="0"/>
              </a:rPr>
              <a:t>proname</a:t>
            </a:r>
            <a:r>
              <a:rPr lang="en-US" sz="1600" dirty="0" smtClean="0">
                <a:latin typeface="Courier New" pitchFamily="49" charset="0"/>
                <a:cs typeface="Courier New" pitchFamily="49" charset="0"/>
              </a:rPr>
              <a:t>:=x2;</a:t>
            </a:r>
          </a:p>
          <a:p>
            <a:pPr>
              <a:buNone/>
            </a:pPr>
            <a:r>
              <a:rPr lang="en-US" sz="1600" dirty="0" err="1" smtClean="0">
                <a:latin typeface="Courier New" pitchFamily="49" charset="0"/>
                <a:cs typeface="Courier New" pitchFamily="49" charset="0"/>
              </a:rPr>
              <a:t>pqty</a:t>
            </a:r>
            <a:r>
              <a:rPr lang="en-US" sz="1600" dirty="0" smtClean="0">
                <a:latin typeface="Courier New" pitchFamily="49" charset="0"/>
                <a:cs typeface="Courier New" pitchFamily="49" charset="0"/>
              </a:rPr>
              <a:t>:=x3;</a:t>
            </a:r>
          </a:p>
          <a:p>
            <a:pPr>
              <a:buNone/>
            </a:pPr>
            <a:r>
              <a:rPr lang="en-US" sz="1600" dirty="0" err="1" smtClean="0">
                <a:latin typeface="Courier New" pitchFamily="49" charset="0"/>
                <a:cs typeface="Courier New" pitchFamily="49" charset="0"/>
              </a:rPr>
              <a:t>pprice</a:t>
            </a:r>
            <a:r>
              <a:rPr lang="en-US" sz="1600" dirty="0" smtClean="0">
                <a:latin typeface="Courier New" pitchFamily="49" charset="0"/>
                <a:cs typeface="Courier New" pitchFamily="49" charset="0"/>
              </a:rPr>
              <a:t>:=x4;</a:t>
            </a:r>
          </a:p>
          <a:p>
            <a:pPr>
              <a:buNone/>
            </a:pPr>
            <a:r>
              <a:rPr lang="en-US" sz="1600" dirty="0" smtClean="0">
                <a:latin typeface="Courier New" pitchFamily="49" charset="0"/>
                <a:cs typeface="Courier New" pitchFamily="49" charset="0"/>
              </a:rPr>
              <a:t>insert into inventory values(</a:t>
            </a:r>
            <a:r>
              <a:rPr lang="en-US" sz="1600" dirty="0" err="1" smtClean="0">
                <a:latin typeface="Courier New" pitchFamily="49" charset="0"/>
                <a:cs typeface="Courier New" pitchFamily="49" charset="0"/>
              </a:rPr>
              <a:t>procode,proname,pqty,pprice</a:t>
            </a:r>
            <a:r>
              <a:rPr lang="en-US" sz="1600" dirty="0" smtClean="0">
                <a:latin typeface="Courier New" pitchFamily="49" charset="0"/>
                <a:cs typeface="Courier New" pitchFamily="49" charset="0"/>
              </a:rPr>
              <a:t>);</a:t>
            </a:r>
          </a:p>
          <a:p>
            <a:pPr>
              <a:buNone/>
            </a:pPr>
            <a:r>
              <a:rPr lang="en-US" sz="1600" dirty="0" err="1" smtClean="0">
                <a:latin typeface="Courier New" pitchFamily="49" charset="0"/>
                <a:cs typeface="Courier New" pitchFamily="49" charset="0"/>
              </a:rPr>
              <a:t>dbms_output.put_line</a:t>
            </a:r>
            <a:r>
              <a:rPr lang="en-US" sz="1600" dirty="0" smtClean="0">
                <a:latin typeface="Courier New" pitchFamily="49" charset="0"/>
                <a:cs typeface="Courier New" pitchFamily="49" charset="0"/>
              </a:rPr>
              <a:t>('Record Inserted');</a:t>
            </a:r>
          </a:p>
          <a:p>
            <a:pPr>
              <a:buNone/>
            </a:pPr>
            <a:r>
              <a:rPr lang="en-US" sz="1600" dirty="0" smtClean="0">
                <a:latin typeface="Courier New" pitchFamily="49" charset="0"/>
                <a:cs typeface="Courier New" pitchFamily="49" charset="0"/>
              </a:rPr>
              <a:t>end;</a:t>
            </a:r>
          </a:p>
          <a:p>
            <a:pPr>
              <a:buNone/>
            </a:pPr>
            <a:r>
              <a:rPr lang="en-US" sz="1600" dirty="0" smtClean="0">
                <a:latin typeface="Courier New" pitchFamily="49" charset="0"/>
                <a:cs typeface="Courier New" pitchFamily="49" charset="0"/>
              </a:rPr>
              <a:t>/</a:t>
            </a:r>
          </a:p>
          <a:p>
            <a:pPr>
              <a:buNone/>
            </a:pPr>
            <a:endParaRPr lang="en-US" sz="1600"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Compiling and Executing</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lvl="1"/>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Execution</a:t>
            </a:r>
          </a:p>
          <a:p>
            <a:pPr lvl="1"/>
            <a:r>
              <a:rPr lang="en-US" dirty="0" smtClean="0">
                <a:latin typeface="Cambria" panose="02040503050406030204" pitchFamily="18" charset="0"/>
                <a:ea typeface="Cambria" panose="02040503050406030204" pitchFamily="18" charset="0"/>
              </a:rPr>
              <a:t>exec procedure-name</a:t>
            </a:r>
          </a:p>
          <a:p>
            <a:pPr lvl="1"/>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Executing Insert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1800" dirty="0" smtClean="0">
                <a:latin typeface="Courier New" pitchFamily="49" charset="0"/>
                <a:cs typeface="Courier New" pitchFamily="49" charset="0"/>
              </a:rPr>
              <a:t>SQL&gt; exec </a:t>
            </a:r>
            <a:r>
              <a:rPr lang="en-US" sz="1800" dirty="0" err="1" smtClean="0">
                <a:latin typeface="Courier New" pitchFamily="49" charset="0"/>
                <a:cs typeface="Courier New" pitchFamily="49" charset="0"/>
              </a:rPr>
              <a:t>pro_insert</a:t>
            </a:r>
            <a:r>
              <a:rPr lang="en-US" sz="1800" dirty="0" smtClean="0">
                <a:latin typeface="Courier New" pitchFamily="49" charset="0"/>
                <a:cs typeface="Courier New" pitchFamily="49" charset="0"/>
              </a:rPr>
              <a:t>('p1','book',50,10);</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Record Inserted</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 </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PL/SQL procedure successfully completed.</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SQL&gt; exec </a:t>
            </a:r>
            <a:r>
              <a:rPr lang="en-US" sz="1800" dirty="0" err="1" smtClean="0">
                <a:latin typeface="Courier New" pitchFamily="49" charset="0"/>
                <a:cs typeface="Courier New" pitchFamily="49" charset="0"/>
              </a:rPr>
              <a:t>pro_insert</a:t>
            </a:r>
            <a:r>
              <a:rPr lang="en-US" sz="1800" dirty="0" smtClean="0">
                <a:latin typeface="Courier New" pitchFamily="49" charset="0"/>
                <a:cs typeface="Courier New" pitchFamily="49" charset="0"/>
              </a:rPr>
              <a:t>('p2','pen',60,20);</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Record Inserted</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 </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PL/SQL procedure successfully completed.</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 </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SQL&gt; exec </a:t>
            </a:r>
            <a:r>
              <a:rPr lang="en-US" sz="1800" dirty="0" err="1" smtClean="0">
                <a:latin typeface="Courier New" pitchFamily="49" charset="0"/>
                <a:cs typeface="Courier New" pitchFamily="49" charset="0"/>
              </a:rPr>
              <a:t>pro_insert</a:t>
            </a:r>
            <a:r>
              <a:rPr lang="en-US" sz="1800" dirty="0" smtClean="0">
                <a:latin typeface="Courier New" pitchFamily="49" charset="0"/>
                <a:cs typeface="Courier New" pitchFamily="49" charset="0"/>
              </a:rPr>
              <a:t>('p3','pencil',30,50);</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Record Inserted</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 </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PL/SQL procedure successfully completed.</a:t>
            </a:r>
            <a:endParaRPr lang="en-US" sz="2400" dirty="0" smtClean="0">
              <a:latin typeface="Courier New" pitchFamily="49" charset="0"/>
              <a:cs typeface="Courier New" pitchFamily="49" charset="0"/>
            </a:endParaRPr>
          </a:p>
          <a:p>
            <a:pPr>
              <a:buNone/>
            </a:pPr>
            <a:r>
              <a:rPr lang="en-US" sz="1800" dirty="0" smtClean="0">
                <a:latin typeface="Courier New" pitchFamily="49" charset="0"/>
                <a:cs typeface="Courier New" pitchFamily="49" charset="0"/>
              </a:rPr>
              <a:t> </a:t>
            </a:r>
            <a:endParaRPr lang="en-US" sz="2400" dirty="0" smtClean="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Executing Insert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2000" dirty="0" smtClean="0">
                <a:latin typeface="Courier New" pitchFamily="49" charset="0"/>
                <a:cs typeface="Courier New" pitchFamily="49" charset="0"/>
              </a:rPr>
              <a:t>SQL&gt; exec </a:t>
            </a:r>
            <a:r>
              <a:rPr lang="en-US" sz="2000" dirty="0" err="1" smtClean="0">
                <a:latin typeface="Courier New" pitchFamily="49" charset="0"/>
                <a:cs typeface="Courier New" pitchFamily="49" charset="0"/>
              </a:rPr>
              <a:t>pro_insert</a:t>
            </a:r>
            <a:r>
              <a:rPr lang="en-US" sz="2000" dirty="0" smtClean="0">
                <a:latin typeface="Courier New" pitchFamily="49" charset="0"/>
                <a:cs typeface="Courier New" pitchFamily="49" charset="0"/>
              </a:rPr>
              <a:t>('p4','ink',10,10);</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Record Inserted</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 </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PL/SQL procedure successfully completed.</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 </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SQL&gt;  exec </a:t>
            </a:r>
            <a:r>
              <a:rPr lang="en-US" sz="2000" dirty="0" err="1" smtClean="0">
                <a:latin typeface="Courier New" pitchFamily="49" charset="0"/>
                <a:cs typeface="Courier New" pitchFamily="49" charset="0"/>
              </a:rPr>
              <a:t>pro_insert</a:t>
            </a:r>
            <a:r>
              <a:rPr lang="en-US" sz="2000" dirty="0" smtClean="0">
                <a:latin typeface="Courier New" pitchFamily="49" charset="0"/>
                <a:cs typeface="Courier New" pitchFamily="49" charset="0"/>
              </a:rPr>
              <a:t>('p5','scale',20,5);</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Record Inserted</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 </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PL/SQL procedure successfully completed.</a:t>
            </a:r>
            <a:endParaRPr lang="en-US" sz="2800" dirty="0" smtClean="0">
              <a:latin typeface="Courier New" pitchFamily="49" charset="0"/>
              <a:cs typeface="Courier New" pitchFamily="49" charset="0"/>
            </a:endParaRPr>
          </a:p>
          <a:p>
            <a:pPr>
              <a:buNone/>
            </a:pPr>
            <a:r>
              <a:rPr lang="en-US" sz="2000" dirty="0" smtClean="0">
                <a:latin typeface="Courier New" pitchFamily="49" charset="0"/>
                <a:cs typeface="Courier New" pitchFamily="49" charset="0"/>
              </a:rPr>
              <a:t> </a:t>
            </a:r>
            <a:endParaRPr lang="en-US" sz="2800" dirty="0" smtClean="0">
              <a:latin typeface="Courier New" pitchFamily="49" charset="0"/>
              <a:cs typeface="Courier New" pitchFamily="49" charset="0"/>
            </a:endParaRPr>
          </a:p>
          <a:p>
            <a:pPr lvl="1">
              <a:buNone/>
            </a:pPr>
            <a:endParaRPr lang="en-US" sz="1600"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Executing Insert Procedure: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Autofit/>
          </a:bodyPr>
          <a:lstStyle/>
          <a:p>
            <a:pPr>
              <a:buNone/>
            </a:pPr>
            <a:r>
              <a:rPr lang="en-US" sz="2000" dirty="0" smtClean="0">
                <a:latin typeface="Courier New" pitchFamily="49" charset="0"/>
                <a:cs typeface="Courier New" pitchFamily="49" charset="0"/>
              </a:rPr>
              <a:t> </a:t>
            </a:r>
          </a:p>
          <a:p>
            <a:pPr>
              <a:buNone/>
            </a:pPr>
            <a:r>
              <a:rPr lang="en-US" sz="2000" dirty="0" smtClean="0">
                <a:latin typeface="Courier New" pitchFamily="49" charset="0"/>
                <a:cs typeface="Courier New" pitchFamily="49" charset="0"/>
              </a:rPr>
              <a:t>SQL&gt; select * from inventory;</a:t>
            </a:r>
          </a:p>
          <a:p>
            <a:pPr>
              <a:buNone/>
            </a:pPr>
            <a:r>
              <a:rPr lang="en-US" sz="2000" dirty="0" smtClean="0">
                <a:latin typeface="Courier New" pitchFamily="49" charset="0"/>
                <a:cs typeface="Courier New" pitchFamily="49" charset="0"/>
              </a:rPr>
              <a:t> </a:t>
            </a:r>
          </a:p>
          <a:p>
            <a:pPr>
              <a:buNone/>
            </a:pPr>
            <a:r>
              <a:rPr lang="en-US" sz="2000" dirty="0" smtClean="0">
                <a:latin typeface="Courier New" pitchFamily="49" charset="0"/>
                <a:cs typeface="Courier New" pitchFamily="49" charset="0"/>
              </a:rPr>
              <a:t>PCODE PNAME            PQTY     PPRICE</a:t>
            </a:r>
          </a:p>
          <a:p>
            <a:pPr>
              <a:buNone/>
            </a:pPr>
            <a:r>
              <a:rPr lang="en-US" sz="2000" dirty="0" smtClean="0">
                <a:latin typeface="Courier New" pitchFamily="49" charset="0"/>
                <a:cs typeface="Courier New" pitchFamily="49" charset="0"/>
              </a:rPr>
              <a:t>----- ---------- ---------- ----------</a:t>
            </a:r>
          </a:p>
          <a:p>
            <a:pPr>
              <a:buNone/>
            </a:pPr>
            <a:r>
              <a:rPr lang="en-US" sz="2000" dirty="0" smtClean="0">
                <a:latin typeface="Courier New" pitchFamily="49" charset="0"/>
                <a:cs typeface="Courier New" pitchFamily="49" charset="0"/>
              </a:rPr>
              <a:t>p1    book               50         10</a:t>
            </a:r>
          </a:p>
          <a:p>
            <a:pPr>
              <a:buNone/>
            </a:pPr>
            <a:r>
              <a:rPr lang="en-US" sz="2000" dirty="0" smtClean="0">
                <a:latin typeface="Courier New" pitchFamily="49" charset="0"/>
                <a:cs typeface="Courier New" pitchFamily="49" charset="0"/>
              </a:rPr>
              <a:t>p2    pen                60         20</a:t>
            </a:r>
          </a:p>
          <a:p>
            <a:pPr>
              <a:buNone/>
            </a:pPr>
            <a:r>
              <a:rPr lang="en-US" sz="2000" dirty="0" smtClean="0">
                <a:latin typeface="Courier New" pitchFamily="49" charset="0"/>
                <a:cs typeface="Courier New" pitchFamily="49" charset="0"/>
              </a:rPr>
              <a:t>p3    pencil             30         50</a:t>
            </a:r>
          </a:p>
          <a:p>
            <a:pPr>
              <a:buNone/>
            </a:pPr>
            <a:r>
              <a:rPr lang="en-US" sz="2000" dirty="0" smtClean="0">
                <a:latin typeface="Courier New" pitchFamily="49" charset="0"/>
                <a:cs typeface="Courier New" pitchFamily="49" charset="0"/>
              </a:rPr>
              <a:t>p4    ink                10         10</a:t>
            </a:r>
          </a:p>
          <a:p>
            <a:pPr>
              <a:buNone/>
            </a:pPr>
            <a:r>
              <a:rPr lang="en-US" sz="2000" dirty="0" smtClean="0">
                <a:latin typeface="Courier New" pitchFamily="49" charset="0"/>
                <a:cs typeface="Courier New" pitchFamily="49" charset="0"/>
              </a:rPr>
              <a:t>p5    scale              20          5</a:t>
            </a:r>
            <a:endParaRPr lang="en-US" sz="2000"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Delete Procedure:</a:t>
            </a:r>
            <a:endParaRPr lang="en-US" dirty="0"/>
          </a:p>
        </p:txBody>
      </p:sp>
      <p:sp>
        <p:nvSpPr>
          <p:cNvPr id="3" name="Content Placeholder 2"/>
          <p:cNvSpPr>
            <a:spLocks noGrp="1"/>
          </p:cNvSpPr>
          <p:nvPr>
            <p:ph sz="quarter" idx="1"/>
          </p:nvPr>
        </p:nvSpPr>
        <p:spPr/>
        <p:txBody>
          <a:bodyPr>
            <a:normAutofit fontScale="92500" lnSpcReduction="20000"/>
          </a:bodyPr>
          <a:lstStyle/>
          <a:p>
            <a:pPr>
              <a:buNone/>
            </a:pPr>
            <a:r>
              <a:rPr lang="en-US" dirty="0" smtClean="0">
                <a:latin typeface="Courier New" pitchFamily="49" charset="0"/>
                <a:cs typeface="Courier New" pitchFamily="49" charset="0"/>
              </a:rPr>
              <a:t>SQL&gt; </a:t>
            </a:r>
            <a:r>
              <a:rPr lang="en-US" dirty="0" err="1" smtClean="0">
                <a:latin typeface="Courier New" pitchFamily="49" charset="0"/>
                <a:cs typeface="Courier New" pitchFamily="49" charset="0"/>
              </a:rPr>
              <a:t>ed</a:t>
            </a:r>
            <a:r>
              <a:rPr lang="en-US" dirty="0" smtClean="0">
                <a:latin typeface="Courier New" pitchFamily="49" charset="0"/>
                <a:cs typeface="Courier New" pitchFamily="49" charset="0"/>
              </a:rPr>
              <a:t> ex2;</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create or replace procedure </a:t>
            </a:r>
            <a:r>
              <a:rPr lang="en-US" dirty="0" err="1" smtClean="0">
                <a:latin typeface="Courier New" pitchFamily="49" charset="0"/>
                <a:cs typeface="Courier New" pitchFamily="49" charset="0"/>
              </a:rPr>
              <a:t>pro_del</a:t>
            </a:r>
            <a:r>
              <a:rPr lang="en-US" dirty="0" smtClean="0">
                <a:latin typeface="Courier New" pitchFamily="49" charset="0"/>
                <a:cs typeface="Courier New" pitchFamily="49" charset="0"/>
              </a:rPr>
              <a:t>(x1 </a:t>
            </a:r>
            <a:r>
              <a:rPr lang="en-US" dirty="0" err="1" smtClean="0">
                <a:latin typeface="Courier New" pitchFamily="49" charset="0"/>
                <a:cs typeface="Courier New" pitchFamily="49" charset="0"/>
              </a:rPr>
              <a:t>varchar</a:t>
            </a:r>
            <a:r>
              <a:rPr lang="en-US" dirty="0" smtClean="0">
                <a:latin typeface="Courier New" pitchFamily="49" charset="0"/>
                <a:cs typeface="Courier New" pitchFamily="49" charset="0"/>
              </a:rPr>
              <a:t>) as</a:t>
            </a:r>
          </a:p>
          <a:p>
            <a:pPr>
              <a:buNone/>
            </a:pPr>
            <a:r>
              <a:rPr lang="en-US" dirty="0" err="1" smtClean="0">
                <a:latin typeface="Courier New" pitchFamily="49" charset="0"/>
                <a:cs typeface="Courier New" pitchFamily="49" charset="0"/>
              </a:rPr>
              <a:t>procode</a:t>
            </a:r>
            <a:r>
              <a:rPr lang="en-US" dirty="0" smtClean="0">
                <a:latin typeface="Courier New" pitchFamily="49" charset="0"/>
                <a:cs typeface="Courier New" pitchFamily="49" charset="0"/>
              </a:rPr>
              <a:t> varchar2(5);</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begin</a:t>
            </a:r>
          </a:p>
          <a:p>
            <a:pPr>
              <a:buNone/>
            </a:pPr>
            <a:r>
              <a:rPr lang="en-US" dirty="0" smtClean="0">
                <a:latin typeface="Courier New" pitchFamily="49" charset="0"/>
                <a:cs typeface="Courier New" pitchFamily="49" charset="0"/>
              </a:rPr>
              <a:t> </a:t>
            </a:r>
          </a:p>
          <a:p>
            <a:pPr>
              <a:buNone/>
            </a:pPr>
            <a:r>
              <a:rPr lang="en-US" dirty="0" err="1" smtClean="0">
                <a:latin typeface="Courier New" pitchFamily="49" charset="0"/>
                <a:cs typeface="Courier New" pitchFamily="49" charset="0"/>
              </a:rPr>
              <a:t>procode</a:t>
            </a:r>
            <a:r>
              <a:rPr lang="en-US" dirty="0" smtClean="0">
                <a:latin typeface="Courier New" pitchFamily="49" charset="0"/>
                <a:cs typeface="Courier New" pitchFamily="49" charset="0"/>
              </a:rPr>
              <a:t>:=x1;</a:t>
            </a:r>
          </a:p>
          <a:p>
            <a:pPr>
              <a:buNone/>
            </a:pPr>
            <a:r>
              <a:rPr lang="en-US" dirty="0" smtClean="0">
                <a:latin typeface="Courier New" pitchFamily="49" charset="0"/>
                <a:cs typeface="Courier New" pitchFamily="49" charset="0"/>
              </a:rPr>
              <a:t>delete from inventory where </a:t>
            </a:r>
            <a:r>
              <a:rPr lang="en-US" dirty="0" err="1" smtClean="0">
                <a:latin typeface="Courier New" pitchFamily="49" charset="0"/>
                <a:cs typeface="Courier New" pitchFamily="49" charset="0"/>
              </a:rPr>
              <a:t>pcode</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procode</a:t>
            </a:r>
            <a:r>
              <a:rPr lang="en-US" dirty="0" smtClean="0">
                <a:latin typeface="Courier New" pitchFamily="49" charset="0"/>
                <a:cs typeface="Courier New" pitchFamily="49" charset="0"/>
              </a:rPr>
              <a:t>;</a:t>
            </a:r>
          </a:p>
          <a:p>
            <a:pPr>
              <a:buNone/>
            </a:pPr>
            <a:r>
              <a:rPr lang="en-US" dirty="0" err="1" smtClean="0">
                <a:latin typeface="Courier New" pitchFamily="49" charset="0"/>
                <a:cs typeface="Courier New" pitchFamily="49" charset="0"/>
              </a:rPr>
              <a:t>dbms_output.put_line</a:t>
            </a:r>
            <a:r>
              <a:rPr lang="en-US" dirty="0" smtClean="0">
                <a:latin typeface="Courier New" pitchFamily="49" charset="0"/>
                <a:cs typeface="Courier New" pitchFamily="49" charset="0"/>
              </a:rPr>
              <a:t>('Record Deleted');</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end;</a:t>
            </a:r>
          </a:p>
          <a:p>
            <a:pPr>
              <a:buNone/>
            </a:pPr>
            <a:endParaRPr lang="en-US"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Executing Delete Procedure:</a:t>
            </a:r>
            <a:endParaRPr lang="en-US" dirty="0"/>
          </a:p>
        </p:txBody>
      </p:sp>
      <p:sp>
        <p:nvSpPr>
          <p:cNvPr id="3" name="Content Placeholder 2"/>
          <p:cNvSpPr>
            <a:spLocks noGrp="1"/>
          </p:cNvSpPr>
          <p:nvPr>
            <p:ph sz="quarter" idx="1"/>
          </p:nvPr>
        </p:nvSpPr>
        <p:spPr/>
        <p:txBody>
          <a:bodyPr>
            <a:normAutofit fontScale="92500" lnSpcReduction="20000"/>
          </a:bodyPr>
          <a:lstStyle/>
          <a:p>
            <a:pPr>
              <a:buNone/>
            </a:pPr>
            <a:r>
              <a:rPr lang="en-US" dirty="0" smtClean="0">
                <a:latin typeface="Courier New" pitchFamily="49" charset="0"/>
                <a:cs typeface="Courier New" pitchFamily="49" charset="0"/>
              </a:rPr>
              <a:t>SQL&gt; exec </a:t>
            </a:r>
            <a:r>
              <a:rPr lang="en-US" dirty="0" err="1" smtClean="0">
                <a:latin typeface="Courier New" pitchFamily="49" charset="0"/>
                <a:cs typeface="Courier New" pitchFamily="49" charset="0"/>
              </a:rPr>
              <a:t>pro_del</a:t>
            </a:r>
            <a:r>
              <a:rPr lang="en-US" dirty="0" smtClean="0">
                <a:latin typeface="Courier New" pitchFamily="49" charset="0"/>
                <a:cs typeface="Courier New" pitchFamily="49" charset="0"/>
              </a:rPr>
              <a:t>('p5');</a:t>
            </a:r>
          </a:p>
          <a:p>
            <a:pPr>
              <a:buNone/>
            </a:pPr>
            <a:r>
              <a:rPr lang="en-US" dirty="0" smtClean="0">
                <a:latin typeface="Courier New" pitchFamily="49" charset="0"/>
                <a:cs typeface="Courier New" pitchFamily="49" charset="0"/>
              </a:rPr>
              <a:t>Record Deleted</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PL/SQL procedure successfully completed.</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SQL&gt; select * from inventory;</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PCODE PNAME            PQTY     PPRICE</a:t>
            </a:r>
          </a:p>
          <a:p>
            <a:pPr>
              <a:buNone/>
            </a:pPr>
            <a:r>
              <a:rPr lang="en-US" dirty="0" smtClean="0">
                <a:latin typeface="Courier New" pitchFamily="49" charset="0"/>
                <a:cs typeface="Courier New" pitchFamily="49" charset="0"/>
              </a:rPr>
              <a:t>----- ---------- ---------- ----------</a:t>
            </a:r>
          </a:p>
          <a:p>
            <a:pPr>
              <a:buNone/>
            </a:pPr>
            <a:r>
              <a:rPr lang="en-US" dirty="0" smtClean="0">
                <a:latin typeface="Courier New" pitchFamily="49" charset="0"/>
                <a:cs typeface="Courier New" pitchFamily="49" charset="0"/>
              </a:rPr>
              <a:t>p1    book               50         10</a:t>
            </a:r>
          </a:p>
          <a:p>
            <a:pPr>
              <a:buNone/>
            </a:pPr>
            <a:r>
              <a:rPr lang="en-US" dirty="0" smtClean="0">
                <a:latin typeface="Courier New" pitchFamily="49" charset="0"/>
                <a:cs typeface="Courier New" pitchFamily="49" charset="0"/>
              </a:rPr>
              <a:t>p2    pen                60         20</a:t>
            </a:r>
          </a:p>
          <a:p>
            <a:pPr>
              <a:buNone/>
            </a:pPr>
            <a:r>
              <a:rPr lang="en-US" dirty="0" smtClean="0">
                <a:latin typeface="Courier New" pitchFamily="49" charset="0"/>
                <a:cs typeface="Courier New" pitchFamily="49" charset="0"/>
              </a:rPr>
              <a:t>p3    pencil             30         50</a:t>
            </a:r>
          </a:p>
          <a:p>
            <a:pPr>
              <a:buNone/>
            </a:pPr>
            <a:r>
              <a:rPr lang="en-US" dirty="0" smtClean="0">
                <a:latin typeface="Courier New" pitchFamily="49" charset="0"/>
                <a:cs typeface="Courier New" pitchFamily="49" charset="0"/>
              </a:rPr>
              <a:t>p4    ink                10         10</a:t>
            </a:r>
            <a:endParaRPr lang="en-US"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Update Procedure:</a:t>
            </a:r>
            <a:endParaRPr lang="en-US" dirty="0"/>
          </a:p>
        </p:txBody>
      </p:sp>
      <p:sp>
        <p:nvSpPr>
          <p:cNvPr id="3" name="Content Placeholder 2"/>
          <p:cNvSpPr>
            <a:spLocks noGrp="1"/>
          </p:cNvSpPr>
          <p:nvPr>
            <p:ph sz="quarter" idx="1"/>
          </p:nvPr>
        </p:nvSpPr>
        <p:spPr/>
        <p:txBody>
          <a:bodyPr>
            <a:noAutofit/>
          </a:bodyPr>
          <a:lstStyle/>
          <a:p>
            <a:pPr>
              <a:buNone/>
            </a:pPr>
            <a:r>
              <a:rPr lang="en-US" sz="1500" dirty="0" smtClean="0">
                <a:latin typeface="Courier New" pitchFamily="49" charset="0"/>
                <a:cs typeface="Courier New" pitchFamily="49" charset="0"/>
              </a:rPr>
              <a:t>SQL&gt; </a:t>
            </a:r>
            <a:r>
              <a:rPr lang="en-US" sz="1500" dirty="0" err="1" smtClean="0">
                <a:latin typeface="Courier New" pitchFamily="49" charset="0"/>
                <a:cs typeface="Courier New" pitchFamily="49" charset="0"/>
              </a:rPr>
              <a:t>ed</a:t>
            </a:r>
            <a:r>
              <a:rPr lang="en-US" sz="1500" dirty="0" smtClean="0">
                <a:latin typeface="Courier New" pitchFamily="49" charset="0"/>
                <a:cs typeface="Courier New" pitchFamily="49" charset="0"/>
              </a:rPr>
              <a:t> ex3;</a:t>
            </a:r>
          </a:p>
          <a:p>
            <a:pPr>
              <a:buNone/>
            </a:pPr>
            <a:r>
              <a:rPr lang="en-US" sz="1500" dirty="0" smtClean="0">
                <a:latin typeface="Courier New" pitchFamily="49" charset="0"/>
                <a:cs typeface="Courier New" pitchFamily="49" charset="0"/>
              </a:rPr>
              <a:t>create or replace procedure </a:t>
            </a:r>
            <a:r>
              <a:rPr lang="en-US" sz="1500" dirty="0" err="1" smtClean="0">
                <a:latin typeface="Courier New" pitchFamily="49" charset="0"/>
                <a:cs typeface="Courier New" pitchFamily="49" charset="0"/>
              </a:rPr>
              <a:t>pro_update</a:t>
            </a:r>
            <a:r>
              <a:rPr lang="en-US" sz="1500" dirty="0" smtClean="0">
                <a:latin typeface="Courier New" pitchFamily="49" charset="0"/>
                <a:cs typeface="Courier New" pitchFamily="49" charset="0"/>
              </a:rPr>
              <a:t>(x1 varchar,x2 number) as</a:t>
            </a:r>
          </a:p>
          <a:p>
            <a:pPr>
              <a:buNone/>
            </a:pPr>
            <a:r>
              <a:rPr lang="en-US" sz="1500" dirty="0" err="1" smtClean="0">
                <a:latin typeface="Courier New" pitchFamily="49" charset="0"/>
                <a:cs typeface="Courier New" pitchFamily="49" charset="0"/>
              </a:rPr>
              <a:t>tpcode</a:t>
            </a:r>
            <a:r>
              <a:rPr lang="en-US" sz="1500" dirty="0" smtClean="0">
                <a:latin typeface="Courier New" pitchFamily="49" charset="0"/>
                <a:cs typeface="Courier New" pitchFamily="49" charset="0"/>
              </a:rPr>
              <a:t> varchar2(5);</a:t>
            </a:r>
          </a:p>
          <a:p>
            <a:pPr>
              <a:buNone/>
            </a:pPr>
            <a:r>
              <a:rPr lang="en-US" sz="1500" dirty="0" err="1" smtClean="0">
                <a:latin typeface="Courier New" pitchFamily="49" charset="0"/>
                <a:cs typeface="Courier New" pitchFamily="49" charset="0"/>
              </a:rPr>
              <a:t>tqty</a:t>
            </a:r>
            <a:r>
              <a:rPr lang="en-US" sz="1500" dirty="0" smtClean="0">
                <a:latin typeface="Courier New" pitchFamily="49" charset="0"/>
                <a:cs typeface="Courier New" pitchFamily="49" charset="0"/>
              </a:rPr>
              <a:t> number(4);</a:t>
            </a:r>
          </a:p>
          <a:p>
            <a:pPr>
              <a:buNone/>
            </a:pPr>
            <a:r>
              <a:rPr lang="en-US" sz="1500" dirty="0" err="1" smtClean="0">
                <a:latin typeface="Courier New" pitchFamily="49" charset="0"/>
                <a:cs typeface="Courier New" pitchFamily="49" charset="0"/>
              </a:rPr>
              <a:t>tpqty</a:t>
            </a:r>
            <a:r>
              <a:rPr lang="en-US" sz="1500" dirty="0" smtClean="0">
                <a:latin typeface="Courier New" pitchFamily="49" charset="0"/>
                <a:cs typeface="Courier New" pitchFamily="49" charset="0"/>
              </a:rPr>
              <a:t> number(10);</a:t>
            </a:r>
          </a:p>
          <a:p>
            <a:pPr>
              <a:buNone/>
            </a:pPr>
            <a:r>
              <a:rPr lang="en-US" sz="1500" dirty="0" smtClean="0">
                <a:latin typeface="Courier New" pitchFamily="49" charset="0"/>
                <a:cs typeface="Courier New" pitchFamily="49" charset="0"/>
              </a:rPr>
              <a:t>Begin</a:t>
            </a:r>
          </a:p>
          <a:p>
            <a:pPr>
              <a:buNone/>
            </a:pPr>
            <a:r>
              <a:rPr lang="en-US" sz="1500" dirty="0" err="1" smtClean="0">
                <a:latin typeface="Courier New" pitchFamily="49" charset="0"/>
                <a:cs typeface="Courier New" pitchFamily="49" charset="0"/>
              </a:rPr>
              <a:t>tpcode</a:t>
            </a:r>
            <a:r>
              <a:rPr lang="en-US" sz="1500" dirty="0" smtClean="0">
                <a:latin typeface="Courier New" pitchFamily="49" charset="0"/>
                <a:cs typeface="Courier New" pitchFamily="49" charset="0"/>
              </a:rPr>
              <a:t>:=x1;</a:t>
            </a:r>
          </a:p>
          <a:p>
            <a:pPr>
              <a:buNone/>
            </a:pPr>
            <a:r>
              <a:rPr lang="en-US" sz="1500" dirty="0" err="1" smtClean="0">
                <a:latin typeface="Courier New" pitchFamily="49" charset="0"/>
                <a:cs typeface="Courier New" pitchFamily="49" charset="0"/>
              </a:rPr>
              <a:t>tqty</a:t>
            </a:r>
            <a:r>
              <a:rPr lang="en-US" sz="1500" dirty="0" smtClean="0">
                <a:latin typeface="Courier New" pitchFamily="49" charset="0"/>
                <a:cs typeface="Courier New" pitchFamily="49" charset="0"/>
              </a:rPr>
              <a:t>:=x2;</a:t>
            </a:r>
          </a:p>
          <a:p>
            <a:pPr>
              <a:buNone/>
            </a:pPr>
            <a:r>
              <a:rPr lang="en-US" sz="1500" dirty="0" smtClean="0">
                <a:latin typeface="Courier New" pitchFamily="49" charset="0"/>
                <a:cs typeface="Courier New" pitchFamily="49" charset="0"/>
              </a:rPr>
              <a:t> select </a:t>
            </a:r>
            <a:r>
              <a:rPr lang="en-US" sz="1500" dirty="0" err="1" smtClean="0">
                <a:latin typeface="Courier New" pitchFamily="49" charset="0"/>
                <a:cs typeface="Courier New" pitchFamily="49" charset="0"/>
              </a:rPr>
              <a:t>tqty</a:t>
            </a:r>
            <a:r>
              <a:rPr lang="en-US" sz="1500" dirty="0" smtClean="0">
                <a:latin typeface="Courier New" pitchFamily="49" charset="0"/>
                <a:cs typeface="Courier New" pitchFamily="49" charset="0"/>
              </a:rPr>
              <a:t> into </a:t>
            </a:r>
            <a:r>
              <a:rPr lang="en-US" sz="1500" dirty="0" err="1" smtClean="0">
                <a:latin typeface="Courier New" pitchFamily="49" charset="0"/>
                <a:cs typeface="Courier New" pitchFamily="49" charset="0"/>
              </a:rPr>
              <a:t>tpqty</a:t>
            </a:r>
            <a:r>
              <a:rPr lang="en-US" sz="1500" dirty="0" smtClean="0">
                <a:latin typeface="Courier New" pitchFamily="49" charset="0"/>
                <a:cs typeface="Courier New" pitchFamily="49" charset="0"/>
              </a:rPr>
              <a:t> from inventory where </a:t>
            </a:r>
            <a:r>
              <a:rPr lang="en-US" sz="1500" dirty="0" err="1" smtClean="0">
                <a:latin typeface="Courier New" pitchFamily="49" charset="0"/>
                <a:cs typeface="Courier New" pitchFamily="49" charset="0"/>
              </a:rPr>
              <a:t>pcode</a:t>
            </a:r>
            <a:r>
              <a:rPr lang="en-US" sz="1500" dirty="0" smtClean="0">
                <a:latin typeface="Courier New" pitchFamily="49" charset="0"/>
                <a:cs typeface="Courier New" pitchFamily="49" charset="0"/>
              </a:rPr>
              <a:t>=</a:t>
            </a:r>
            <a:r>
              <a:rPr lang="en-US" sz="1500" dirty="0" err="1" smtClean="0">
                <a:latin typeface="Courier New" pitchFamily="49" charset="0"/>
                <a:cs typeface="Courier New" pitchFamily="49" charset="0"/>
              </a:rPr>
              <a:t>tpcode</a:t>
            </a:r>
            <a:r>
              <a:rPr lang="en-US" sz="1500" dirty="0" smtClean="0">
                <a:latin typeface="Courier New" pitchFamily="49" charset="0"/>
                <a:cs typeface="Courier New" pitchFamily="49" charset="0"/>
              </a:rPr>
              <a:t>;</a:t>
            </a:r>
          </a:p>
          <a:p>
            <a:pPr>
              <a:buNone/>
            </a:pPr>
            <a:r>
              <a:rPr lang="en-US" sz="1500" dirty="0" smtClean="0">
                <a:latin typeface="Courier New" pitchFamily="49" charset="0"/>
                <a:cs typeface="Courier New" pitchFamily="49" charset="0"/>
              </a:rPr>
              <a:t>if SQL%FOUND then</a:t>
            </a:r>
          </a:p>
          <a:p>
            <a:pPr>
              <a:buNone/>
            </a:pPr>
            <a:r>
              <a:rPr lang="en-US" sz="1500" dirty="0" smtClean="0">
                <a:latin typeface="Courier New" pitchFamily="49" charset="0"/>
                <a:cs typeface="Courier New" pitchFamily="49" charset="0"/>
              </a:rPr>
              <a:t>	update inventory set </a:t>
            </a:r>
            <a:r>
              <a:rPr lang="en-US" sz="1500" dirty="0" err="1" smtClean="0">
                <a:latin typeface="Courier New" pitchFamily="49" charset="0"/>
                <a:cs typeface="Courier New" pitchFamily="49" charset="0"/>
              </a:rPr>
              <a:t>pqty</a:t>
            </a:r>
            <a:r>
              <a:rPr lang="en-US" sz="1500" dirty="0" smtClean="0">
                <a:latin typeface="Courier New" pitchFamily="49" charset="0"/>
                <a:cs typeface="Courier New" pitchFamily="49" charset="0"/>
              </a:rPr>
              <a:t>=</a:t>
            </a:r>
            <a:r>
              <a:rPr lang="en-US" sz="1500" dirty="0" err="1" smtClean="0">
                <a:latin typeface="Courier New" pitchFamily="49" charset="0"/>
                <a:cs typeface="Courier New" pitchFamily="49" charset="0"/>
              </a:rPr>
              <a:t>tpqty</a:t>
            </a:r>
            <a:r>
              <a:rPr lang="en-US" sz="1500" dirty="0" smtClean="0">
                <a:latin typeface="Courier New" pitchFamily="49" charset="0"/>
                <a:cs typeface="Courier New" pitchFamily="49" charset="0"/>
              </a:rPr>
              <a:t> where </a:t>
            </a:r>
            <a:r>
              <a:rPr lang="en-US" sz="1500" dirty="0" err="1" smtClean="0">
                <a:latin typeface="Courier New" pitchFamily="49" charset="0"/>
                <a:cs typeface="Courier New" pitchFamily="49" charset="0"/>
              </a:rPr>
              <a:t>pcode</a:t>
            </a:r>
            <a:r>
              <a:rPr lang="en-US" sz="1500" dirty="0" smtClean="0">
                <a:latin typeface="Courier New" pitchFamily="49" charset="0"/>
                <a:cs typeface="Courier New" pitchFamily="49" charset="0"/>
              </a:rPr>
              <a:t>=</a:t>
            </a:r>
            <a:r>
              <a:rPr lang="en-US" sz="1500" dirty="0" err="1" smtClean="0">
                <a:latin typeface="Courier New" pitchFamily="49" charset="0"/>
                <a:cs typeface="Courier New" pitchFamily="49" charset="0"/>
              </a:rPr>
              <a:t>tpcode</a:t>
            </a:r>
            <a:r>
              <a:rPr lang="en-US" sz="1500" dirty="0" smtClean="0">
                <a:latin typeface="Courier New" pitchFamily="49" charset="0"/>
                <a:cs typeface="Courier New" pitchFamily="49" charset="0"/>
              </a:rPr>
              <a:t>;</a:t>
            </a:r>
          </a:p>
          <a:p>
            <a:pPr>
              <a:buNone/>
            </a:pPr>
            <a:r>
              <a:rPr lang="en-US" sz="1500" dirty="0" smtClean="0">
                <a:latin typeface="Courier New" pitchFamily="49" charset="0"/>
                <a:cs typeface="Courier New" pitchFamily="49" charset="0"/>
              </a:rPr>
              <a:t>	</a:t>
            </a:r>
            <a:r>
              <a:rPr lang="en-US" sz="1500" dirty="0" err="1" smtClean="0">
                <a:latin typeface="Courier New" pitchFamily="49" charset="0"/>
                <a:cs typeface="Courier New" pitchFamily="49" charset="0"/>
              </a:rPr>
              <a:t>dbms_output.put_line</a:t>
            </a:r>
            <a:r>
              <a:rPr lang="en-US" sz="1500" dirty="0" smtClean="0">
                <a:latin typeface="Courier New" pitchFamily="49" charset="0"/>
                <a:cs typeface="Courier New" pitchFamily="49" charset="0"/>
              </a:rPr>
              <a:t>('Record Updated');</a:t>
            </a:r>
          </a:p>
          <a:p>
            <a:pPr>
              <a:buNone/>
            </a:pPr>
            <a:r>
              <a:rPr lang="en-US" sz="1500" dirty="0" smtClean="0">
                <a:latin typeface="Courier New" pitchFamily="49" charset="0"/>
                <a:cs typeface="Courier New" pitchFamily="49" charset="0"/>
              </a:rPr>
              <a:t>else</a:t>
            </a:r>
          </a:p>
          <a:p>
            <a:pPr>
              <a:buNone/>
            </a:pPr>
            <a:r>
              <a:rPr lang="en-US" sz="1500" dirty="0" smtClean="0">
                <a:latin typeface="Courier New" pitchFamily="49" charset="0"/>
                <a:cs typeface="Courier New" pitchFamily="49" charset="0"/>
              </a:rPr>
              <a:t>	</a:t>
            </a:r>
            <a:r>
              <a:rPr lang="en-US" sz="1500" dirty="0" err="1" smtClean="0">
                <a:latin typeface="Courier New" pitchFamily="49" charset="0"/>
                <a:cs typeface="Courier New" pitchFamily="49" charset="0"/>
              </a:rPr>
              <a:t>dbms_output.put_line</a:t>
            </a:r>
            <a:r>
              <a:rPr lang="en-US" sz="1500" dirty="0" smtClean="0">
                <a:latin typeface="Courier New" pitchFamily="49" charset="0"/>
                <a:cs typeface="Courier New" pitchFamily="49" charset="0"/>
              </a:rPr>
              <a:t>('No Record Found');</a:t>
            </a:r>
          </a:p>
          <a:p>
            <a:pPr>
              <a:buNone/>
            </a:pPr>
            <a:r>
              <a:rPr lang="en-US" sz="1500" dirty="0" smtClean="0">
                <a:latin typeface="Courier New" pitchFamily="49" charset="0"/>
                <a:cs typeface="Courier New" pitchFamily="49" charset="0"/>
              </a:rPr>
              <a:t>end if;</a:t>
            </a:r>
          </a:p>
          <a:p>
            <a:pPr>
              <a:buNone/>
            </a:pPr>
            <a:r>
              <a:rPr lang="en-US" sz="1500" dirty="0" smtClean="0">
                <a:latin typeface="Courier New" pitchFamily="49" charset="0"/>
                <a:cs typeface="Courier New" pitchFamily="49" charset="0"/>
              </a:rPr>
              <a:t> end;</a:t>
            </a:r>
          </a:p>
          <a:p>
            <a:pPr>
              <a:buNone/>
            </a:pPr>
            <a:endParaRPr lang="en-US" sz="1500"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Update Procedure:</a:t>
            </a:r>
            <a:endParaRPr lang="en-US" dirty="0"/>
          </a:p>
        </p:txBody>
      </p:sp>
      <p:sp>
        <p:nvSpPr>
          <p:cNvPr id="3" name="Content Placeholder 2"/>
          <p:cNvSpPr>
            <a:spLocks noGrp="1"/>
          </p:cNvSpPr>
          <p:nvPr>
            <p:ph sz="quarter" idx="1"/>
          </p:nvPr>
        </p:nvSpPr>
        <p:spPr/>
        <p:txBody>
          <a:bodyPr>
            <a:noAutofit/>
          </a:bodyPr>
          <a:lstStyle/>
          <a:p>
            <a:pPr>
              <a:buNone/>
            </a:pPr>
            <a:r>
              <a:rPr lang="en-US" sz="1600" b="1" dirty="0" smtClean="0">
                <a:latin typeface="Courier New" pitchFamily="49" charset="0"/>
                <a:cs typeface="Courier New" pitchFamily="49" charset="0"/>
              </a:rPr>
              <a:t>Executing Update Procedure:</a:t>
            </a:r>
            <a:endParaRPr lang="en-US" sz="1600" dirty="0" smtClean="0">
              <a:latin typeface="Courier New" pitchFamily="49" charset="0"/>
              <a:cs typeface="Courier New" pitchFamily="49" charset="0"/>
            </a:endParaRPr>
          </a:p>
          <a:p>
            <a:pPr>
              <a:buNone/>
            </a:pPr>
            <a:r>
              <a:rPr lang="en-US" sz="1600" dirty="0" smtClean="0">
                <a:latin typeface="Courier New" pitchFamily="49" charset="0"/>
                <a:cs typeface="Courier New" pitchFamily="49" charset="0"/>
              </a:rPr>
              <a:t> </a:t>
            </a:r>
          </a:p>
          <a:p>
            <a:pPr>
              <a:buNone/>
            </a:pPr>
            <a:r>
              <a:rPr lang="en-US" sz="1600" dirty="0" smtClean="0">
                <a:latin typeface="Courier New" pitchFamily="49" charset="0"/>
                <a:cs typeface="Courier New" pitchFamily="49" charset="0"/>
              </a:rPr>
              <a:t>SQL&gt; exec </a:t>
            </a:r>
            <a:r>
              <a:rPr lang="en-US" sz="1600" dirty="0" err="1" smtClean="0">
                <a:latin typeface="Courier New" pitchFamily="49" charset="0"/>
                <a:cs typeface="Courier New" pitchFamily="49" charset="0"/>
              </a:rPr>
              <a:t>pro_update</a:t>
            </a:r>
            <a:r>
              <a:rPr lang="en-US" sz="1600" dirty="0" smtClean="0">
                <a:latin typeface="Courier New" pitchFamily="49" charset="0"/>
                <a:cs typeface="Courier New" pitchFamily="49" charset="0"/>
              </a:rPr>
              <a:t>('p4',50);</a:t>
            </a:r>
          </a:p>
          <a:p>
            <a:pPr>
              <a:buNone/>
            </a:pPr>
            <a:r>
              <a:rPr lang="en-US" sz="1600" dirty="0" smtClean="0">
                <a:latin typeface="Courier New" pitchFamily="49" charset="0"/>
                <a:cs typeface="Courier New" pitchFamily="49" charset="0"/>
              </a:rPr>
              <a:t>Record Updated</a:t>
            </a:r>
          </a:p>
          <a:p>
            <a:pPr>
              <a:buNone/>
            </a:pPr>
            <a:r>
              <a:rPr lang="en-US" sz="1600" dirty="0" smtClean="0">
                <a:latin typeface="Courier New" pitchFamily="49" charset="0"/>
                <a:cs typeface="Courier New" pitchFamily="49" charset="0"/>
              </a:rPr>
              <a:t> </a:t>
            </a:r>
          </a:p>
          <a:p>
            <a:pPr>
              <a:buNone/>
            </a:pPr>
            <a:r>
              <a:rPr lang="en-US" sz="1600" dirty="0" smtClean="0">
                <a:latin typeface="Courier New" pitchFamily="49" charset="0"/>
                <a:cs typeface="Courier New" pitchFamily="49" charset="0"/>
              </a:rPr>
              <a:t>PL/SQL procedure successfully completed.</a:t>
            </a:r>
          </a:p>
          <a:p>
            <a:pPr>
              <a:buNone/>
            </a:pPr>
            <a:r>
              <a:rPr lang="en-US" sz="1600" dirty="0" smtClean="0">
                <a:latin typeface="Courier New" pitchFamily="49" charset="0"/>
                <a:cs typeface="Courier New" pitchFamily="49" charset="0"/>
              </a:rPr>
              <a:t> </a:t>
            </a:r>
          </a:p>
          <a:p>
            <a:pPr>
              <a:buNone/>
            </a:pPr>
            <a:r>
              <a:rPr lang="en-US" sz="1600" dirty="0" smtClean="0">
                <a:latin typeface="Courier New" pitchFamily="49" charset="0"/>
                <a:cs typeface="Courier New" pitchFamily="49" charset="0"/>
              </a:rPr>
              <a:t>SQL&gt; select * from inventory;</a:t>
            </a:r>
          </a:p>
          <a:p>
            <a:pPr>
              <a:buNone/>
            </a:pPr>
            <a:r>
              <a:rPr lang="en-US" sz="1600" dirty="0" smtClean="0">
                <a:latin typeface="Courier New" pitchFamily="49" charset="0"/>
                <a:cs typeface="Courier New" pitchFamily="49" charset="0"/>
              </a:rPr>
              <a:t> </a:t>
            </a:r>
          </a:p>
          <a:p>
            <a:pPr>
              <a:buNone/>
            </a:pPr>
            <a:r>
              <a:rPr lang="en-US" sz="1600" dirty="0" smtClean="0">
                <a:latin typeface="Courier New" pitchFamily="49" charset="0"/>
                <a:cs typeface="Courier New" pitchFamily="49" charset="0"/>
              </a:rPr>
              <a:t>PCODE PNAME            PQTY     PPRICE</a:t>
            </a:r>
          </a:p>
          <a:p>
            <a:pPr>
              <a:buNone/>
            </a:pPr>
            <a:r>
              <a:rPr lang="en-US" sz="1600" dirty="0" smtClean="0">
                <a:latin typeface="Courier New" pitchFamily="49" charset="0"/>
                <a:cs typeface="Courier New" pitchFamily="49" charset="0"/>
              </a:rPr>
              <a:t>----- ---------- ---------- ----------</a:t>
            </a:r>
          </a:p>
          <a:p>
            <a:pPr>
              <a:buNone/>
            </a:pPr>
            <a:r>
              <a:rPr lang="en-US" sz="1600" dirty="0" smtClean="0">
                <a:latin typeface="Courier New" pitchFamily="49" charset="0"/>
                <a:cs typeface="Courier New" pitchFamily="49" charset="0"/>
              </a:rPr>
              <a:t>p1    book               50         10</a:t>
            </a:r>
          </a:p>
          <a:p>
            <a:pPr>
              <a:buNone/>
            </a:pPr>
            <a:r>
              <a:rPr lang="en-US" sz="1600" dirty="0" smtClean="0">
                <a:latin typeface="Courier New" pitchFamily="49" charset="0"/>
                <a:cs typeface="Courier New" pitchFamily="49" charset="0"/>
              </a:rPr>
              <a:t>p2    pen                60         20</a:t>
            </a:r>
          </a:p>
          <a:p>
            <a:pPr>
              <a:buNone/>
            </a:pPr>
            <a:r>
              <a:rPr lang="en-US" sz="1600" dirty="0" smtClean="0">
                <a:latin typeface="Courier New" pitchFamily="49" charset="0"/>
                <a:cs typeface="Courier New" pitchFamily="49" charset="0"/>
              </a:rPr>
              <a:t>p3    pencil             30         50</a:t>
            </a:r>
          </a:p>
          <a:p>
            <a:pPr>
              <a:buNone/>
            </a:pPr>
            <a:r>
              <a:rPr lang="en-US" sz="1600" dirty="0" smtClean="0">
                <a:latin typeface="Courier New" pitchFamily="49" charset="0"/>
                <a:cs typeface="Courier New" pitchFamily="49" charset="0"/>
              </a:rPr>
              <a:t>p4    ink                50         10</a:t>
            </a:r>
            <a:endParaRPr lang="en-US" sz="1600"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Creating a Function</a:t>
            </a:r>
            <a:endParaRPr lang="en-US" dirty="0"/>
          </a:p>
        </p:txBody>
      </p:sp>
      <p:sp>
        <p:nvSpPr>
          <p:cNvPr id="3" name="Content Placeholder 2"/>
          <p:cNvSpPr>
            <a:spLocks noGrp="1"/>
          </p:cNvSpPr>
          <p:nvPr>
            <p:ph sz="quarter" idx="1"/>
          </p:nvPr>
        </p:nvSpPr>
        <p:spPr/>
        <p:txBody>
          <a:bodyPr/>
          <a:lstStyle/>
          <a:p>
            <a:pPr>
              <a:buNone/>
            </a:pPr>
            <a:r>
              <a:rPr lang="en-US" dirty="0" smtClean="0"/>
              <a:t>CREATE [OR REPLACE] FUNCTION </a:t>
            </a:r>
            <a:r>
              <a:rPr lang="en-US" dirty="0" err="1" smtClean="0"/>
              <a:t>function_name</a:t>
            </a:r>
            <a:endParaRPr lang="en-US" dirty="0" smtClean="0"/>
          </a:p>
          <a:p>
            <a:pPr>
              <a:buNone/>
            </a:pPr>
            <a:r>
              <a:rPr lang="en-US" dirty="0" smtClean="0"/>
              <a:t>[(</a:t>
            </a:r>
            <a:r>
              <a:rPr lang="en-US" dirty="0" err="1" smtClean="0"/>
              <a:t>parameter_name</a:t>
            </a:r>
            <a:r>
              <a:rPr lang="en-US" dirty="0" smtClean="0"/>
              <a:t> [IN | OUT | IN OUT] type [, ...])]</a:t>
            </a:r>
          </a:p>
          <a:p>
            <a:pPr>
              <a:buNone/>
            </a:pPr>
            <a:r>
              <a:rPr lang="en-US" dirty="0" smtClean="0"/>
              <a:t>RETURN </a:t>
            </a:r>
            <a:r>
              <a:rPr lang="en-US" dirty="0" err="1" smtClean="0"/>
              <a:t>return_datatype</a:t>
            </a:r>
            <a:endParaRPr lang="en-US" dirty="0" smtClean="0"/>
          </a:p>
          <a:p>
            <a:pPr>
              <a:buNone/>
            </a:pPr>
            <a:r>
              <a:rPr lang="en-US" dirty="0" smtClean="0"/>
              <a:t>{IS | AS}</a:t>
            </a:r>
          </a:p>
          <a:p>
            <a:pPr>
              <a:buNone/>
            </a:pPr>
            <a:r>
              <a:rPr lang="en-US" dirty="0" smtClean="0"/>
              <a:t>BEGIN</a:t>
            </a:r>
          </a:p>
          <a:p>
            <a:pPr>
              <a:buNone/>
            </a:pPr>
            <a:r>
              <a:rPr lang="en-US" dirty="0" smtClean="0"/>
              <a:t>   &lt; </a:t>
            </a:r>
            <a:r>
              <a:rPr lang="en-US" dirty="0" err="1" smtClean="0"/>
              <a:t>function_body</a:t>
            </a:r>
            <a:r>
              <a:rPr lang="en-US" dirty="0" smtClean="0"/>
              <a:t> &gt;</a:t>
            </a:r>
          </a:p>
          <a:p>
            <a:pPr>
              <a:buNone/>
            </a:pPr>
            <a:r>
              <a:rPr lang="en-US" dirty="0" smtClean="0"/>
              <a:t>END [</a:t>
            </a:r>
            <a:r>
              <a:rPr lang="en-US" dirty="0" err="1" smtClean="0"/>
              <a:t>function_name</a:t>
            </a:r>
            <a:r>
              <a:rPr lang="en-US" dirty="0" smtClean="0"/>
              <a:t>];</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Creating a Function</a:t>
            </a:r>
            <a:endParaRPr lang="en-US" dirty="0"/>
          </a:p>
        </p:txBody>
      </p:sp>
      <p:sp>
        <p:nvSpPr>
          <p:cNvPr id="3" name="Content Placeholder 2"/>
          <p:cNvSpPr>
            <a:spLocks noGrp="1"/>
          </p:cNvSpPr>
          <p:nvPr>
            <p:ph sz="quarter" idx="1"/>
          </p:nvPr>
        </p:nvSpPr>
        <p:spPr/>
        <p:txBody>
          <a:bodyPr>
            <a:normAutofit fontScale="92500" lnSpcReduction="10000"/>
          </a:bodyPr>
          <a:lstStyle/>
          <a:p>
            <a:pPr algn="just"/>
            <a:r>
              <a:rPr lang="en-US" dirty="0" smtClean="0"/>
              <a:t>Where,</a:t>
            </a:r>
          </a:p>
          <a:p>
            <a:pPr algn="just"/>
            <a:r>
              <a:rPr lang="en-US" i="1" dirty="0" smtClean="0"/>
              <a:t>function-name</a:t>
            </a:r>
            <a:r>
              <a:rPr lang="en-US" dirty="0" smtClean="0"/>
              <a:t> specifies the name of the function.</a:t>
            </a:r>
          </a:p>
          <a:p>
            <a:pPr algn="just"/>
            <a:r>
              <a:rPr lang="en-US" dirty="0" smtClean="0"/>
              <a:t>[OR REPLACE] option allows modifying an existing function.</a:t>
            </a:r>
          </a:p>
          <a:p>
            <a:pPr algn="just"/>
            <a:r>
              <a:rPr lang="en-US" dirty="0" smtClean="0"/>
              <a:t>The optional parameter list contains name, mode and types of the parameters. IN represents that value will be passed from outside and OUT represents that this parameter will be used to return a value outside of the procedure.</a:t>
            </a:r>
          </a:p>
          <a:p>
            <a:pPr algn="just"/>
            <a:r>
              <a:rPr lang="en-US" dirty="0" smtClean="0"/>
              <a:t>The function must contain a </a:t>
            </a:r>
            <a:r>
              <a:rPr lang="en-US" b="1" dirty="0" smtClean="0"/>
              <a:t>return</a:t>
            </a:r>
            <a:r>
              <a:rPr lang="en-US" dirty="0" smtClean="0"/>
              <a:t> statement.</a:t>
            </a:r>
          </a:p>
          <a:p>
            <a:pPr algn="just"/>
            <a:r>
              <a:rPr lang="en-US" i="1" dirty="0" smtClean="0"/>
              <a:t>RETURN</a:t>
            </a:r>
            <a:r>
              <a:rPr lang="en-US" dirty="0" smtClean="0"/>
              <a:t> clause specifies that data type you are going to return from the function.</a:t>
            </a:r>
          </a:p>
          <a:p>
            <a:pPr algn="just"/>
            <a:r>
              <a:rPr lang="en-US" i="1" dirty="0" smtClean="0"/>
              <a:t>function-body</a:t>
            </a:r>
            <a:r>
              <a:rPr lang="en-US" dirty="0" smtClean="0"/>
              <a:t> contains the executable part.</a:t>
            </a:r>
          </a:p>
          <a:p>
            <a:pPr algn="just"/>
            <a:r>
              <a:rPr lang="en-US" dirty="0" smtClean="0"/>
              <a:t>The AS keyword is used instead of the IS keyword for creating a standalone function.</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function</a:t>
            </a:r>
            <a:endParaRPr lang="en-US" dirty="0"/>
          </a:p>
        </p:txBody>
      </p:sp>
      <p:sp>
        <p:nvSpPr>
          <p:cNvPr id="3" name="Content Placeholder 2"/>
          <p:cNvSpPr>
            <a:spLocks noGrp="1"/>
          </p:cNvSpPr>
          <p:nvPr>
            <p:ph sz="quarter" idx="1"/>
          </p:nvPr>
        </p:nvSpPr>
        <p:spPr/>
        <p:txBody>
          <a:bodyPr>
            <a:normAutofit fontScale="77500" lnSpcReduction="20000"/>
          </a:bodyPr>
          <a:lstStyle/>
          <a:p>
            <a:pPr>
              <a:buNone/>
            </a:pPr>
            <a:r>
              <a:rPr lang="en-US" dirty="0" smtClean="0"/>
              <a:t>create or replace function call(x in number) return number is</a:t>
            </a:r>
          </a:p>
          <a:p>
            <a:pPr>
              <a:buNone/>
            </a:pPr>
            <a:r>
              <a:rPr lang="en-US" dirty="0" smtClean="0"/>
              <a:t>begin</a:t>
            </a:r>
          </a:p>
          <a:p>
            <a:pPr>
              <a:buNone/>
            </a:pPr>
            <a:r>
              <a:rPr lang="en-US" dirty="0" smtClean="0"/>
              <a:t>return x;</a:t>
            </a:r>
          </a:p>
          <a:p>
            <a:pPr>
              <a:buNone/>
            </a:pPr>
            <a:r>
              <a:rPr lang="en-US" dirty="0" smtClean="0"/>
              <a:t>end;</a:t>
            </a:r>
          </a:p>
          <a:p>
            <a:pPr>
              <a:buNone/>
            </a:pPr>
            <a:r>
              <a:rPr lang="en-US" dirty="0" smtClean="0"/>
              <a:t>/</a:t>
            </a:r>
          </a:p>
          <a:p>
            <a:pPr>
              <a:buNone/>
            </a:pPr>
            <a:endParaRPr lang="en-US" dirty="0" smtClean="0"/>
          </a:p>
          <a:p>
            <a:pPr>
              <a:buNone/>
            </a:pPr>
            <a:r>
              <a:rPr lang="en-US" dirty="0" smtClean="0"/>
              <a:t>declare</a:t>
            </a:r>
          </a:p>
          <a:p>
            <a:pPr>
              <a:buNone/>
            </a:pPr>
            <a:r>
              <a:rPr lang="en-US" dirty="0" smtClean="0"/>
              <a:t>a number;</a:t>
            </a:r>
          </a:p>
          <a:p>
            <a:pPr>
              <a:buNone/>
            </a:pPr>
            <a:r>
              <a:rPr lang="en-US" dirty="0" smtClean="0"/>
              <a:t>x number;</a:t>
            </a:r>
          </a:p>
          <a:p>
            <a:pPr>
              <a:buNone/>
            </a:pPr>
            <a:r>
              <a:rPr lang="en-US" dirty="0" smtClean="0"/>
              <a:t>begin</a:t>
            </a:r>
          </a:p>
          <a:p>
            <a:pPr>
              <a:buNone/>
            </a:pPr>
            <a:r>
              <a:rPr lang="en-US" dirty="0" smtClean="0"/>
              <a:t>x:=2;</a:t>
            </a:r>
          </a:p>
          <a:p>
            <a:pPr>
              <a:buNone/>
            </a:pPr>
            <a:r>
              <a:rPr lang="en-US" dirty="0" smtClean="0"/>
              <a:t>a:=call(x);</a:t>
            </a:r>
          </a:p>
          <a:p>
            <a:pPr>
              <a:buNone/>
            </a:pPr>
            <a:r>
              <a:rPr lang="en-US" dirty="0" err="1" smtClean="0"/>
              <a:t>dbms_output.put_line</a:t>
            </a:r>
            <a:r>
              <a:rPr lang="en-US" dirty="0" smtClean="0"/>
              <a:t>('value: '||a);</a:t>
            </a:r>
          </a:p>
          <a:p>
            <a:pPr>
              <a:buNone/>
            </a:pPr>
            <a:r>
              <a:rPr lang="en-US" dirty="0" smtClean="0"/>
              <a:t>end;</a:t>
            </a:r>
          </a:p>
          <a:p>
            <a:pPr>
              <a:buNone/>
            </a:pPr>
            <a:r>
              <a:rPr lang="en-US" dirty="0" smtClean="0"/>
              <a:t>/</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Output</a:t>
            </a:r>
            <a:br>
              <a:rPr lang="en-US" dirty="0"/>
            </a:br>
            <a:endParaRPr lang="en-US" dirty="0"/>
          </a:p>
        </p:txBody>
      </p:sp>
      <p:sp>
        <p:nvSpPr>
          <p:cNvPr id="3" name="Content Placeholder 2"/>
          <p:cNvSpPr>
            <a:spLocks noGrp="1"/>
          </p:cNvSpPr>
          <p:nvPr>
            <p:ph sz="quarter" idx="1"/>
          </p:nvPr>
        </p:nvSpPr>
        <p:spPr/>
        <p:txBody>
          <a:bodyPr/>
          <a:lstStyle/>
          <a:p>
            <a:pPr>
              <a:buNone/>
            </a:pPr>
            <a:r>
              <a:rPr lang="en-US" dirty="0" smtClean="0"/>
              <a:t>value: 2 </a:t>
            </a:r>
          </a:p>
          <a:p>
            <a:pPr>
              <a:buNone/>
            </a:pPr>
            <a:r>
              <a:rPr lang="en-US" dirty="0" smtClean="0"/>
              <a:t>Statement processed. </a:t>
            </a:r>
          </a:p>
          <a:p>
            <a:pPr>
              <a:buNone/>
            </a:pPr>
            <a:r>
              <a:rPr lang="en-US" dirty="0" smtClean="0"/>
              <a:t>0.01 seconds</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133600"/>
            <a:ext cx="6848974"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0"/>
            <a:ext cx="8229600" cy="6553200"/>
          </a:xfrm>
        </p:spPr>
        <p:txBody>
          <a:bodyPr>
            <a:noAutofit/>
          </a:bodyPr>
          <a:lstStyle/>
          <a:p>
            <a:pPr>
              <a:buNone/>
            </a:pPr>
            <a:r>
              <a:rPr lang="en-US" sz="1400" dirty="0" smtClean="0">
                <a:latin typeface="Courier New" pitchFamily="49" charset="0"/>
                <a:cs typeface="Courier New" pitchFamily="49" charset="0"/>
              </a:rPr>
              <a:t>DECLARE</a:t>
            </a:r>
          </a:p>
          <a:p>
            <a:pPr>
              <a:buNone/>
            </a:pPr>
            <a:r>
              <a:rPr lang="en-US" sz="1400" dirty="0" smtClean="0">
                <a:latin typeface="Courier New" pitchFamily="49" charset="0"/>
                <a:cs typeface="Courier New" pitchFamily="49" charset="0"/>
              </a:rPr>
              <a:t>   a number;</a:t>
            </a:r>
          </a:p>
          <a:p>
            <a:pPr>
              <a:buNone/>
            </a:pPr>
            <a:r>
              <a:rPr lang="en-US" sz="1400" dirty="0" smtClean="0">
                <a:latin typeface="Courier New" pitchFamily="49" charset="0"/>
                <a:cs typeface="Courier New" pitchFamily="49" charset="0"/>
              </a:rPr>
              <a:t>   b number;</a:t>
            </a:r>
          </a:p>
          <a:p>
            <a:pPr>
              <a:buNone/>
            </a:pPr>
            <a:r>
              <a:rPr lang="en-US" sz="1400" dirty="0" smtClean="0">
                <a:latin typeface="Courier New" pitchFamily="49" charset="0"/>
                <a:cs typeface="Courier New" pitchFamily="49" charset="0"/>
              </a:rPr>
              <a:t>   c number;</a:t>
            </a:r>
          </a:p>
          <a:p>
            <a:pPr>
              <a:buNone/>
            </a:pPr>
            <a:r>
              <a:rPr lang="en-US" sz="1400" dirty="0" smtClean="0">
                <a:latin typeface="Courier New" pitchFamily="49" charset="0"/>
                <a:cs typeface="Courier New" pitchFamily="49" charset="0"/>
              </a:rPr>
              <a:t>function </a:t>
            </a:r>
            <a:r>
              <a:rPr lang="en-US" sz="1400" dirty="0" err="1" smtClean="0">
                <a:latin typeface="Courier New" pitchFamily="49" charset="0"/>
                <a:cs typeface="Courier New" pitchFamily="49" charset="0"/>
              </a:rPr>
              <a:t>findmax</a:t>
            </a:r>
            <a:r>
              <a:rPr lang="en-US" sz="1400" dirty="0" smtClean="0">
                <a:latin typeface="Courier New" pitchFamily="49" charset="0"/>
                <a:cs typeface="Courier New" pitchFamily="49" charset="0"/>
              </a:rPr>
              <a:t>(x in number, y in number) </a:t>
            </a:r>
          </a:p>
          <a:p>
            <a:pPr>
              <a:buNone/>
            </a:pPr>
            <a:r>
              <a:rPr lang="en-US" sz="1400" dirty="0" smtClean="0">
                <a:latin typeface="Courier New" pitchFamily="49" charset="0"/>
                <a:cs typeface="Courier New" pitchFamily="49" charset="0"/>
              </a:rPr>
              <a:t>return number</a:t>
            </a:r>
          </a:p>
          <a:p>
            <a:pPr>
              <a:buNone/>
            </a:pPr>
            <a:r>
              <a:rPr lang="en-US" sz="1400" dirty="0" smtClean="0">
                <a:latin typeface="Courier New" pitchFamily="49" charset="0"/>
                <a:cs typeface="Courier New" pitchFamily="49" charset="0"/>
              </a:rPr>
              <a:t>is</a:t>
            </a:r>
          </a:p>
          <a:p>
            <a:pPr>
              <a:buNone/>
            </a:pPr>
            <a:r>
              <a:rPr lang="en-US" sz="1400" dirty="0" smtClean="0">
                <a:latin typeface="Courier New" pitchFamily="49" charset="0"/>
                <a:cs typeface="Courier New" pitchFamily="49" charset="0"/>
              </a:rPr>
              <a:t>    z number;</a:t>
            </a:r>
          </a:p>
          <a:p>
            <a:pPr>
              <a:buNone/>
            </a:pPr>
            <a:r>
              <a:rPr lang="en-US" sz="1400" dirty="0" smtClean="0">
                <a:latin typeface="Courier New" pitchFamily="49" charset="0"/>
                <a:cs typeface="Courier New" pitchFamily="49" charset="0"/>
              </a:rPr>
              <a:t>begin</a:t>
            </a:r>
          </a:p>
          <a:p>
            <a:pPr>
              <a:buNone/>
            </a:pPr>
            <a:r>
              <a:rPr lang="en-US" sz="1400" dirty="0" smtClean="0">
                <a:latin typeface="Courier New" pitchFamily="49" charset="0"/>
                <a:cs typeface="Courier New" pitchFamily="49" charset="0"/>
              </a:rPr>
              <a:t>   if x &gt; y then</a:t>
            </a:r>
          </a:p>
          <a:p>
            <a:pPr>
              <a:buNone/>
            </a:pPr>
            <a:r>
              <a:rPr lang="en-US" sz="1400" dirty="0" smtClean="0">
                <a:latin typeface="Courier New" pitchFamily="49" charset="0"/>
                <a:cs typeface="Courier New" pitchFamily="49" charset="0"/>
              </a:rPr>
              <a:t>      z:= x;</a:t>
            </a:r>
          </a:p>
          <a:p>
            <a:pPr>
              <a:buNone/>
            </a:pPr>
            <a:r>
              <a:rPr lang="en-US" sz="1400" dirty="0" smtClean="0">
                <a:latin typeface="Courier New" pitchFamily="49" charset="0"/>
                <a:cs typeface="Courier New" pitchFamily="49" charset="0"/>
              </a:rPr>
              <a:t>   else</a:t>
            </a:r>
          </a:p>
          <a:p>
            <a:pPr>
              <a:buNone/>
            </a:pPr>
            <a:r>
              <a:rPr lang="en-US" sz="1400" dirty="0" smtClean="0">
                <a:latin typeface="Courier New" pitchFamily="49" charset="0"/>
                <a:cs typeface="Courier New" pitchFamily="49" charset="0"/>
              </a:rPr>
              <a:t>      z:= y;</a:t>
            </a:r>
          </a:p>
          <a:p>
            <a:pPr>
              <a:buNone/>
            </a:pPr>
            <a:r>
              <a:rPr lang="en-US" sz="1400" dirty="0" smtClean="0">
                <a:latin typeface="Courier New" pitchFamily="49" charset="0"/>
                <a:cs typeface="Courier New" pitchFamily="49" charset="0"/>
              </a:rPr>
              <a:t>   end if;</a:t>
            </a:r>
          </a:p>
          <a:p>
            <a:pPr>
              <a:buNone/>
            </a:pPr>
            <a:r>
              <a:rPr lang="en-US" sz="1400" dirty="0" smtClean="0">
                <a:latin typeface="Courier New" pitchFamily="49" charset="0"/>
                <a:cs typeface="Courier New" pitchFamily="49" charset="0"/>
              </a:rPr>
              <a:t>   return z;</a:t>
            </a:r>
          </a:p>
          <a:p>
            <a:pPr>
              <a:buNone/>
            </a:pPr>
            <a:r>
              <a:rPr lang="en-US" sz="1400" dirty="0" smtClean="0">
                <a:latin typeface="Courier New" pitchFamily="49" charset="0"/>
                <a:cs typeface="Courier New" pitchFamily="49" charset="0"/>
              </a:rPr>
              <a:t>end; </a:t>
            </a:r>
          </a:p>
          <a:p>
            <a:pPr>
              <a:buNone/>
            </a:pPr>
            <a:r>
              <a:rPr lang="en-US" sz="1400" dirty="0" smtClean="0">
                <a:latin typeface="Courier New" pitchFamily="49" charset="0"/>
                <a:cs typeface="Courier New" pitchFamily="49" charset="0"/>
              </a:rPr>
              <a:t>BEGIN</a:t>
            </a:r>
          </a:p>
          <a:p>
            <a:pPr>
              <a:buNone/>
            </a:pPr>
            <a:r>
              <a:rPr lang="en-US" sz="1400" dirty="0" smtClean="0">
                <a:latin typeface="Courier New" pitchFamily="49" charset="0"/>
                <a:cs typeface="Courier New" pitchFamily="49" charset="0"/>
              </a:rPr>
              <a:t>   a:= 23;</a:t>
            </a:r>
          </a:p>
          <a:p>
            <a:pPr>
              <a:buNone/>
            </a:pPr>
            <a:r>
              <a:rPr lang="en-US" sz="1400" dirty="0" smtClean="0">
                <a:latin typeface="Courier New" pitchFamily="49" charset="0"/>
                <a:cs typeface="Courier New" pitchFamily="49" charset="0"/>
              </a:rPr>
              <a:t>   b:= 45;</a:t>
            </a:r>
          </a:p>
          <a:p>
            <a:pPr>
              <a:buNone/>
            </a:pPr>
            <a:endParaRPr lang="en-US" sz="1400" dirty="0" smtClean="0">
              <a:latin typeface="Courier New" pitchFamily="49" charset="0"/>
              <a:cs typeface="Courier New" pitchFamily="49" charset="0"/>
            </a:endParaRPr>
          </a:p>
          <a:p>
            <a:pPr>
              <a:buNone/>
            </a:pPr>
            <a:r>
              <a:rPr lang="en-US" sz="1400" dirty="0" smtClean="0">
                <a:latin typeface="Courier New" pitchFamily="49" charset="0"/>
                <a:cs typeface="Courier New" pitchFamily="49" charset="0"/>
              </a:rPr>
              <a:t>   c := </a:t>
            </a:r>
            <a:r>
              <a:rPr lang="en-US" sz="1400" dirty="0" err="1" smtClean="0">
                <a:latin typeface="Courier New" pitchFamily="49" charset="0"/>
                <a:cs typeface="Courier New" pitchFamily="49" charset="0"/>
              </a:rPr>
              <a:t>findMax</a:t>
            </a:r>
            <a:r>
              <a:rPr lang="en-US" sz="1400" dirty="0" smtClean="0">
                <a:latin typeface="Courier New" pitchFamily="49" charset="0"/>
                <a:cs typeface="Courier New" pitchFamily="49" charset="0"/>
              </a:rPr>
              <a:t>(a, b);</a:t>
            </a:r>
          </a:p>
          <a:p>
            <a:pPr>
              <a:buNone/>
            </a:pPr>
            <a:r>
              <a:rPr lang="en-US" sz="1400" dirty="0" smtClean="0">
                <a:latin typeface="Courier New" pitchFamily="49" charset="0"/>
                <a:cs typeface="Courier New" pitchFamily="49" charset="0"/>
              </a:rPr>
              <a:t>   </a:t>
            </a:r>
            <a:r>
              <a:rPr lang="en-US" sz="1400" dirty="0" err="1" smtClean="0">
                <a:latin typeface="Courier New" pitchFamily="49" charset="0"/>
                <a:cs typeface="Courier New" pitchFamily="49" charset="0"/>
              </a:rPr>
              <a:t>dbms_output.put_line</a:t>
            </a:r>
            <a:r>
              <a:rPr lang="en-US" sz="1400" dirty="0" smtClean="0">
                <a:latin typeface="Courier New" pitchFamily="49" charset="0"/>
                <a:cs typeface="Courier New" pitchFamily="49" charset="0"/>
              </a:rPr>
              <a:t>(' Maximum of (23,45): ' || c);</a:t>
            </a:r>
          </a:p>
          <a:p>
            <a:pPr>
              <a:buNone/>
            </a:pPr>
            <a:r>
              <a:rPr lang="en-US" sz="1400" dirty="0" smtClean="0">
                <a:latin typeface="Courier New" pitchFamily="49" charset="0"/>
                <a:cs typeface="Courier New" pitchFamily="49" charset="0"/>
              </a:rPr>
              <a:t>END;</a:t>
            </a:r>
          </a:p>
          <a:p>
            <a:pPr>
              <a:buNone/>
            </a:pPr>
            <a:r>
              <a:rPr lang="en-US" sz="1400" dirty="0" smtClean="0">
                <a:latin typeface="Courier New" pitchFamily="49" charset="0"/>
                <a:cs typeface="Courier New" pitchFamily="49" charset="0"/>
              </a:rPr>
              <a:t>/</a:t>
            </a:r>
            <a:endParaRPr lang="en-US" sz="1400"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4046"/>
            <a:ext cx="7239000" cy="6716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2868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589137"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296136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Example:</a:t>
            </a:r>
            <a:endParaRPr lang="en-US" dirty="0"/>
          </a:p>
        </p:txBody>
      </p:sp>
      <p:sp>
        <p:nvSpPr>
          <p:cNvPr id="3" name="Content Placeholder 2"/>
          <p:cNvSpPr>
            <a:spLocks noGrp="1"/>
          </p:cNvSpPr>
          <p:nvPr>
            <p:ph sz="quarter" idx="1"/>
          </p:nvPr>
        </p:nvSpPr>
        <p:spPr/>
        <p:txBody>
          <a:bodyPr>
            <a:normAutofit fontScale="85000" lnSpcReduction="10000"/>
          </a:bodyPr>
          <a:lstStyle/>
          <a:p>
            <a:pPr>
              <a:buNone/>
            </a:pPr>
            <a:r>
              <a:rPr lang="en-US" dirty="0" smtClean="0">
                <a:latin typeface="Courier New" pitchFamily="49" charset="0"/>
                <a:cs typeface="Courier New" pitchFamily="49" charset="0"/>
              </a:rPr>
              <a:t>Select * from customer;</a:t>
            </a:r>
          </a:p>
          <a:p>
            <a:pPr>
              <a:buNone/>
            </a:pPr>
            <a:endParaRPr lang="en-US" dirty="0" smtClean="0">
              <a:latin typeface="Courier New" pitchFamily="49" charset="0"/>
              <a:cs typeface="Courier New" pitchFamily="49" charset="0"/>
            </a:endParaRPr>
          </a:p>
          <a:p>
            <a:pPr>
              <a:buNone/>
            </a:pPr>
            <a:r>
              <a:rPr lang="en-US" dirty="0" smtClean="0">
                <a:latin typeface="Courier New" pitchFamily="49" charset="0"/>
                <a:cs typeface="Courier New" pitchFamily="49" charset="0"/>
              </a:rPr>
              <a:t>+----+----------+-----+-----------+----------+</a:t>
            </a:r>
          </a:p>
          <a:p>
            <a:pPr>
              <a:buNone/>
            </a:pPr>
            <a:r>
              <a:rPr lang="en-US" dirty="0" smtClean="0">
                <a:latin typeface="Courier New" pitchFamily="49" charset="0"/>
                <a:cs typeface="Courier New" pitchFamily="49" charset="0"/>
              </a:rPr>
              <a:t>| ID | NAME     | AGE | ADDRESS   | SALARY   |</a:t>
            </a:r>
          </a:p>
          <a:p>
            <a:pPr>
              <a:buNone/>
            </a:pPr>
            <a:r>
              <a:rPr lang="en-US" dirty="0" smtClean="0">
                <a:latin typeface="Courier New" pitchFamily="49" charset="0"/>
                <a:cs typeface="Courier New" pitchFamily="49" charset="0"/>
              </a:rPr>
              <a:t>+----+----------+-----+-----------+----------+</a:t>
            </a:r>
          </a:p>
          <a:p>
            <a:pPr>
              <a:buNone/>
            </a:pPr>
            <a:r>
              <a:rPr lang="en-US" dirty="0" smtClean="0">
                <a:latin typeface="Courier New" pitchFamily="49" charset="0"/>
                <a:cs typeface="Courier New" pitchFamily="49" charset="0"/>
              </a:rPr>
              <a:t>|  1 | </a:t>
            </a:r>
            <a:r>
              <a:rPr lang="en-US" dirty="0" err="1" smtClean="0">
                <a:latin typeface="Courier New" pitchFamily="49" charset="0"/>
                <a:cs typeface="Courier New" pitchFamily="49" charset="0"/>
              </a:rPr>
              <a:t>Ramesh</a:t>
            </a:r>
            <a:r>
              <a:rPr lang="en-US" dirty="0" smtClean="0">
                <a:latin typeface="Courier New" pitchFamily="49" charset="0"/>
                <a:cs typeface="Courier New" pitchFamily="49" charset="0"/>
              </a:rPr>
              <a:t>   |  32 | Ahmedabad |  2000.00 |</a:t>
            </a:r>
          </a:p>
          <a:p>
            <a:pPr>
              <a:buNone/>
            </a:pPr>
            <a:r>
              <a:rPr lang="en-US" dirty="0" smtClean="0">
                <a:latin typeface="Courier New" pitchFamily="49" charset="0"/>
                <a:cs typeface="Courier New" pitchFamily="49" charset="0"/>
              </a:rPr>
              <a:t>|  2 | </a:t>
            </a:r>
            <a:r>
              <a:rPr lang="en-US" dirty="0" err="1" smtClean="0">
                <a:latin typeface="Courier New" pitchFamily="49" charset="0"/>
                <a:cs typeface="Courier New" pitchFamily="49" charset="0"/>
              </a:rPr>
              <a:t>Khilan</a:t>
            </a:r>
            <a:r>
              <a:rPr lang="en-US" dirty="0" smtClean="0">
                <a:latin typeface="Courier New" pitchFamily="49" charset="0"/>
                <a:cs typeface="Courier New" pitchFamily="49" charset="0"/>
              </a:rPr>
              <a:t>   |  25 | Delhi     |  1500.00 |</a:t>
            </a:r>
          </a:p>
          <a:p>
            <a:pPr>
              <a:buNone/>
            </a:pPr>
            <a:r>
              <a:rPr lang="en-US" dirty="0" smtClean="0">
                <a:latin typeface="Courier New" pitchFamily="49" charset="0"/>
                <a:cs typeface="Courier New" pitchFamily="49" charset="0"/>
              </a:rPr>
              <a:t>|  3 | </a:t>
            </a:r>
            <a:r>
              <a:rPr lang="en-US" dirty="0" err="1" smtClean="0">
                <a:latin typeface="Courier New" pitchFamily="49" charset="0"/>
                <a:cs typeface="Courier New" pitchFamily="49" charset="0"/>
              </a:rPr>
              <a:t>kaushik</a:t>
            </a:r>
            <a:r>
              <a:rPr lang="en-US" dirty="0" smtClean="0">
                <a:latin typeface="Courier New" pitchFamily="49" charset="0"/>
                <a:cs typeface="Courier New" pitchFamily="49" charset="0"/>
              </a:rPr>
              <a:t>  |  23 | Kota      |  2000.00 |</a:t>
            </a:r>
          </a:p>
          <a:p>
            <a:pPr>
              <a:buNone/>
            </a:pPr>
            <a:r>
              <a:rPr lang="en-US" dirty="0" smtClean="0">
                <a:latin typeface="Courier New" pitchFamily="49" charset="0"/>
                <a:cs typeface="Courier New" pitchFamily="49" charset="0"/>
              </a:rPr>
              <a:t>|  4 | </a:t>
            </a:r>
            <a:r>
              <a:rPr lang="en-US" dirty="0" err="1" smtClean="0">
                <a:latin typeface="Courier New" pitchFamily="49" charset="0"/>
                <a:cs typeface="Courier New" pitchFamily="49" charset="0"/>
              </a:rPr>
              <a:t>Chaitali</a:t>
            </a:r>
            <a:r>
              <a:rPr lang="en-US" dirty="0" smtClean="0">
                <a:latin typeface="Courier New" pitchFamily="49" charset="0"/>
                <a:cs typeface="Courier New" pitchFamily="49" charset="0"/>
              </a:rPr>
              <a:t> |  25 | Mumbai    |  6500.00 |</a:t>
            </a:r>
          </a:p>
          <a:p>
            <a:pPr>
              <a:buNone/>
            </a:pPr>
            <a:r>
              <a:rPr lang="en-US" dirty="0" smtClean="0">
                <a:latin typeface="Courier New" pitchFamily="49" charset="0"/>
                <a:cs typeface="Courier New" pitchFamily="49" charset="0"/>
              </a:rPr>
              <a:t>|  5 | </a:t>
            </a:r>
            <a:r>
              <a:rPr lang="en-US" dirty="0" err="1" smtClean="0">
                <a:latin typeface="Courier New" pitchFamily="49" charset="0"/>
                <a:cs typeface="Courier New" pitchFamily="49" charset="0"/>
              </a:rPr>
              <a:t>Hardik</a:t>
            </a:r>
            <a:r>
              <a:rPr lang="en-US" dirty="0" smtClean="0">
                <a:latin typeface="Courier New" pitchFamily="49" charset="0"/>
                <a:cs typeface="Courier New" pitchFamily="49" charset="0"/>
              </a:rPr>
              <a:t>   |  27 | Bhopal    |  8500.00 |</a:t>
            </a:r>
          </a:p>
          <a:p>
            <a:pPr>
              <a:buNone/>
            </a:pPr>
            <a:r>
              <a:rPr lang="en-US" dirty="0" smtClean="0">
                <a:latin typeface="Courier New" pitchFamily="49" charset="0"/>
                <a:cs typeface="Courier New" pitchFamily="49" charset="0"/>
              </a:rPr>
              <a:t>|  6 | </a:t>
            </a:r>
            <a:r>
              <a:rPr lang="en-US" dirty="0" err="1" smtClean="0">
                <a:latin typeface="Courier New" pitchFamily="49" charset="0"/>
                <a:cs typeface="Courier New" pitchFamily="49" charset="0"/>
              </a:rPr>
              <a:t>Komal</a:t>
            </a:r>
            <a:r>
              <a:rPr lang="en-US" dirty="0" smtClean="0">
                <a:latin typeface="Courier New" pitchFamily="49" charset="0"/>
                <a:cs typeface="Courier New" pitchFamily="49" charset="0"/>
              </a:rPr>
              <a:t>    |  22 | MP        |  4500.00 |</a:t>
            </a:r>
          </a:p>
          <a:p>
            <a:pPr>
              <a:buNone/>
            </a:pP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 </a:t>
            </a:r>
            <a:r>
              <a:rPr lang="en-US" dirty="0" smtClean="0"/>
              <a:t>accessing tables</a:t>
            </a:r>
            <a:endParaRPr lang="en-US" dirty="0"/>
          </a:p>
        </p:txBody>
      </p:sp>
      <p:sp>
        <p:nvSpPr>
          <p:cNvPr id="3" name="Content Placeholder 2"/>
          <p:cNvSpPr>
            <a:spLocks noGrp="1"/>
          </p:cNvSpPr>
          <p:nvPr>
            <p:ph sz="quarter" idx="1"/>
          </p:nvPr>
        </p:nvSpPr>
        <p:spPr/>
        <p:txBody>
          <a:bodyPr>
            <a:normAutofit lnSpcReduction="10000"/>
          </a:bodyPr>
          <a:lstStyle/>
          <a:p>
            <a:pPr>
              <a:buNone/>
            </a:pPr>
            <a:r>
              <a:rPr lang="en-US" dirty="0" smtClean="0">
                <a:latin typeface="Courier New" pitchFamily="49" charset="0"/>
                <a:cs typeface="Courier New" pitchFamily="49" charset="0"/>
              </a:rPr>
              <a:t>create or replace function </a:t>
            </a:r>
            <a:r>
              <a:rPr lang="en-US" dirty="0" err="1" smtClean="0">
                <a:latin typeface="Courier New" pitchFamily="49" charset="0"/>
                <a:cs typeface="Courier New" pitchFamily="49" charset="0"/>
              </a:rPr>
              <a:t>totalcustomers</a:t>
            </a:r>
            <a:endParaRPr lang="en-US" dirty="0" smtClean="0">
              <a:latin typeface="Courier New" pitchFamily="49" charset="0"/>
              <a:cs typeface="Courier New" pitchFamily="49" charset="0"/>
            </a:endParaRPr>
          </a:p>
          <a:p>
            <a:pPr>
              <a:buNone/>
            </a:pPr>
            <a:r>
              <a:rPr lang="en-US" dirty="0" smtClean="0">
                <a:latin typeface="Courier New" pitchFamily="49" charset="0"/>
                <a:cs typeface="Courier New" pitchFamily="49" charset="0"/>
              </a:rPr>
              <a:t>return number is</a:t>
            </a:r>
          </a:p>
          <a:p>
            <a:pPr>
              <a:buNone/>
            </a:pPr>
            <a:r>
              <a:rPr lang="en-US" dirty="0" smtClean="0">
                <a:latin typeface="Courier New" pitchFamily="49" charset="0"/>
                <a:cs typeface="Courier New" pitchFamily="49" charset="0"/>
              </a:rPr>
              <a:t>   total number(2) := 0;</a:t>
            </a:r>
          </a:p>
          <a:p>
            <a:pPr>
              <a:buNone/>
            </a:pPr>
            <a:r>
              <a:rPr lang="en-US" dirty="0" smtClean="0">
                <a:latin typeface="Courier New" pitchFamily="49" charset="0"/>
                <a:cs typeface="Courier New" pitchFamily="49" charset="0"/>
              </a:rPr>
              <a:t>begin</a:t>
            </a:r>
          </a:p>
          <a:p>
            <a:pPr>
              <a:buNone/>
            </a:pPr>
            <a:r>
              <a:rPr lang="en-US" dirty="0" smtClean="0">
                <a:latin typeface="Courier New" pitchFamily="49" charset="0"/>
                <a:cs typeface="Courier New" pitchFamily="49" charset="0"/>
              </a:rPr>
              <a:t>   select count(*) into total</a:t>
            </a:r>
          </a:p>
          <a:p>
            <a:pPr>
              <a:buNone/>
            </a:pPr>
            <a:r>
              <a:rPr lang="en-US" dirty="0" smtClean="0">
                <a:latin typeface="Courier New" pitchFamily="49" charset="0"/>
                <a:cs typeface="Courier New" pitchFamily="49" charset="0"/>
              </a:rPr>
              <a:t>   from customer;</a:t>
            </a:r>
          </a:p>
          <a:p>
            <a:pPr>
              <a:buNone/>
            </a:pPr>
            <a:r>
              <a:rPr lang="en-US" dirty="0" smtClean="0">
                <a:latin typeface="Courier New" pitchFamily="49" charset="0"/>
                <a:cs typeface="Courier New" pitchFamily="49" charset="0"/>
              </a:rPr>
              <a:t>   </a:t>
            </a:r>
          </a:p>
          <a:p>
            <a:pPr>
              <a:buNone/>
            </a:pPr>
            <a:r>
              <a:rPr lang="en-US" dirty="0" smtClean="0">
                <a:latin typeface="Courier New" pitchFamily="49" charset="0"/>
                <a:cs typeface="Courier New" pitchFamily="49" charset="0"/>
              </a:rPr>
              <a:t>   return total;</a:t>
            </a:r>
          </a:p>
          <a:p>
            <a:pPr>
              <a:buNone/>
            </a:pPr>
            <a:r>
              <a:rPr lang="en-US" dirty="0" smtClean="0">
                <a:latin typeface="Courier New" pitchFamily="49" charset="0"/>
                <a:cs typeface="Courier New" pitchFamily="49" charset="0"/>
              </a:rPr>
              <a:t>end;</a:t>
            </a:r>
          </a:p>
          <a:p>
            <a:pPr>
              <a:buNone/>
            </a:pP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Calling a Function</a:t>
            </a:r>
            <a:endParaRPr lang="en-US" dirty="0"/>
          </a:p>
        </p:txBody>
      </p:sp>
      <p:sp>
        <p:nvSpPr>
          <p:cNvPr id="3" name="Content Placeholder 2"/>
          <p:cNvSpPr>
            <a:spLocks noGrp="1"/>
          </p:cNvSpPr>
          <p:nvPr>
            <p:ph sz="quarter" idx="1"/>
          </p:nvPr>
        </p:nvSpPr>
        <p:spPr/>
        <p:txBody>
          <a:bodyPr>
            <a:normAutofit/>
          </a:bodyPr>
          <a:lstStyle/>
          <a:p>
            <a:pPr>
              <a:buNone/>
            </a:pPr>
            <a:r>
              <a:rPr lang="en-US" dirty="0" smtClean="0">
                <a:latin typeface="Courier New" pitchFamily="49" charset="0"/>
                <a:cs typeface="Courier New" pitchFamily="49" charset="0"/>
              </a:rPr>
              <a:t>declare</a:t>
            </a:r>
          </a:p>
          <a:p>
            <a:pPr>
              <a:buNone/>
            </a:pPr>
            <a:r>
              <a:rPr lang="en-US" dirty="0" smtClean="0">
                <a:latin typeface="Courier New" pitchFamily="49" charset="0"/>
                <a:cs typeface="Courier New" pitchFamily="49" charset="0"/>
              </a:rPr>
              <a:t>   c number(2);</a:t>
            </a:r>
          </a:p>
          <a:p>
            <a:pPr>
              <a:buNone/>
            </a:pPr>
            <a:r>
              <a:rPr lang="en-US" dirty="0" smtClean="0">
                <a:latin typeface="Courier New" pitchFamily="49" charset="0"/>
                <a:cs typeface="Courier New" pitchFamily="49" charset="0"/>
              </a:rPr>
              <a:t>begin</a:t>
            </a:r>
          </a:p>
          <a:p>
            <a:pPr>
              <a:buNone/>
            </a:pPr>
            <a:r>
              <a:rPr lang="en-US" dirty="0" smtClean="0">
                <a:latin typeface="Courier New" pitchFamily="49" charset="0"/>
                <a:cs typeface="Courier New" pitchFamily="49" charset="0"/>
              </a:rPr>
              <a:t>   c := </a:t>
            </a:r>
            <a:r>
              <a:rPr lang="en-US" dirty="0" err="1" smtClean="0">
                <a:latin typeface="Courier New" pitchFamily="49" charset="0"/>
                <a:cs typeface="Courier New" pitchFamily="49" charset="0"/>
              </a:rPr>
              <a:t>totalcustomers</a:t>
            </a:r>
            <a:r>
              <a:rPr lang="en-US" dirty="0" smtClean="0">
                <a:latin typeface="Courier New" pitchFamily="49" charset="0"/>
                <a:cs typeface="Courier New" pitchFamily="49" charset="0"/>
              </a:rPr>
              <a:t>();</a:t>
            </a:r>
          </a:p>
          <a:p>
            <a:pPr>
              <a:buNone/>
            </a:pP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dbms_output.put_line</a:t>
            </a:r>
            <a:r>
              <a:rPr lang="en-US" dirty="0" smtClean="0">
                <a:latin typeface="Courier New" pitchFamily="49" charset="0"/>
                <a:cs typeface="Courier New" pitchFamily="49" charset="0"/>
              </a:rPr>
              <a:t>('total no. of customers: ' || c);</a:t>
            </a:r>
          </a:p>
          <a:p>
            <a:pPr>
              <a:buNone/>
            </a:pPr>
            <a:r>
              <a:rPr lang="en-US" dirty="0" smtClean="0">
                <a:latin typeface="Courier New" pitchFamily="49" charset="0"/>
                <a:cs typeface="Courier New" pitchFamily="49" charset="0"/>
              </a:rPr>
              <a:t>end;</a:t>
            </a:r>
          </a:p>
          <a:p>
            <a:pPr>
              <a:buNone/>
            </a:pP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8600"/>
            <a:ext cx="5181600" cy="6081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495917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Procedure with Tables</a:t>
            </a:r>
            <a:endParaRPr lang="en-IN" dirty="0"/>
          </a:p>
        </p:txBody>
      </p:sp>
      <p:sp>
        <p:nvSpPr>
          <p:cNvPr id="3" name="Content Placeholder 2"/>
          <p:cNvSpPr>
            <a:spLocks noGrp="1"/>
          </p:cNvSpPr>
          <p:nvPr>
            <p:ph sz="quarter" idx="1"/>
          </p:nvPr>
        </p:nvSpPr>
        <p:spPr/>
        <p:txBody>
          <a:bodyPr>
            <a:normAutofit fontScale="55000" lnSpcReduction="20000"/>
          </a:bodyPr>
          <a:lstStyle/>
          <a:p>
            <a:pPr marL="0" indent="0">
              <a:buNone/>
            </a:pPr>
            <a:r>
              <a:rPr lang="en-US" dirty="0"/>
              <a:t>SQL&gt; create or replace procedure </a:t>
            </a:r>
            <a:r>
              <a:rPr lang="en-US" dirty="0" err="1"/>
              <a:t>totalcity</a:t>
            </a:r>
            <a:r>
              <a:rPr lang="en-US" dirty="0"/>
              <a:t> (total out number) is</a:t>
            </a:r>
          </a:p>
          <a:p>
            <a:pPr marL="0" indent="0">
              <a:buNone/>
            </a:pPr>
            <a:r>
              <a:rPr lang="en-US" dirty="0"/>
              <a:t>  2   begin</a:t>
            </a:r>
          </a:p>
          <a:p>
            <a:pPr marL="0" indent="0">
              <a:buNone/>
            </a:pPr>
            <a:r>
              <a:rPr lang="en-US" dirty="0"/>
              <a:t>  3     select count(distinct </a:t>
            </a:r>
            <a:r>
              <a:rPr lang="en-US" dirty="0" err="1"/>
              <a:t>custcity</a:t>
            </a:r>
            <a:r>
              <a:rPr lang="en-US" dirty="0"/>
              <a:t>) into total</a:t>
            </a:r>
          </a:p>
          <a:p>
            <a:pPr marL="0" indent="0">
              <a:buNone/>
            </a:pPr>
            <a:r>
              <a:rPr lang="en-US" dirty="0"/>
              <a:t>  4     from customer;</a:t>
            </a:r>
          </a:p>
          <a:p>
            <a:pPr marL="0" indent="0">
              <a:buNone/>
            </a:pPr>
            <a:r>
              <a:rPr lang="en-US" dirty="0"/>
              <a:t>  5     end;</a:t>
            </a:r>
          </a:p>
          <a:p>
            <a:pPr marL="0" indent="0">
              <a:buNone/>
            </a:pPr>
            <a:r>
              <a:rPr lang="en-US" dirty="0"/>
              <a:t>  6  /</a:t>
            </a:r>
          </a:p>
          <a:p>
            <a:pPr marL="0" indent="0">
              <a:buNone/>
            </a:pPr>
            <a:endParaRPr lang="en-US" dirty="0"/>
          </a:p>
          <a:p>
            <a:pPr marL="0" indent="0">
              <a:buNone/>
            </a:pPr>
            <a:r>
              <a:rPr lang="en-US" dirty="0"/>
              <a:t>Procedure created.</a:t>
            </a:r>
          </a:p>
          <a:p>
            <a:pPr marL="0" indent="0">
              <a:buNone/>
            </a:pPr>
            <a:endParaRPr lang="en-US" dirty="0"/>
          </a:p>
          <a:p>
            <a:pPr marL="0" indent="0">
              <a:buNone/>
            </a:pPr>
            <a:r>
              <a:rPr lang="en-US" dirty="0"/>
              <a:t>SQL&gt; declare</a:t>
            </a:r>
          </a:p>
          <a:p>
            <a:pPr marL="0" indent="0">
              <a:buNone/>
            </a:pPr>
            <a:r>
              <a:rPr lang="en-US" dirty="0"/>
              <a:t>  2     c number;</a:t>
            </a:r>
          </a:p>
          <a:p>
            <a:pPr marL="0" indent="0">
              <a:buNone/>
            </a:pPr>
            <a:r>
              <a:rPr lang="en-US" dirty="0"/>
              <a:t>  3  begin</a:t>
            </a:r>
          </a:p>
          <a:p>
            <a:pPr marL="0" indent="0">
              <a:buNone/>
            </a:pPr>
            <a:r>
              <a:rPr lang="en-US" dirty="0"/>
              <a:t>  4     </a:t>
            </a:r>
            <a:r>
              <a:rPr lang="en-US" dirty="0" err="1"/>
              <a:t>totalcity</a:t>
            </a:r>
            <a:r>
              <a:rPr lang="en-US" dirty="0"/>
              <a:t>(c);</a:t>
            </a:r>
          </a:p>
          <a:p>
            <a:pPr marL="0" indent="0">
              <a:buNone/>
            </a:pPr>
            <a:r>
              <a:rPr lang="en-US" dirty="0"/>
              <a:t>  5     </a:t>
            </a:r>
            <a:r>
              <a:rPr lang="en-US" dirty="0" err="1"/>
              <a:t>dbms_output.put_line</a:t>
            </a:r>
            <a:r>
              <a:rPr lang="en-US" dirty="0"/>
              <a:t>('total no. of city: ' || c);</a:t>
            </a:r>
          </a:p>
          <a:p>
            <a:pPr marL="0" indent="0">
              <a:buNone/>
            </a:pPr>
            <a:r>
              <a:rPr lang="en-US" dirty="0"/>
              <a:t>  6  end;</a:t>
            </a:r>
          </a:p>
          <a:p>
            <a:pPr marL="0" indent="0">
              <a:buNone/>
            </a:pPr>
            <a:r>
              <a:rPr lang="en-US" dirty="0"/>
              <a:t>  7  /</a:t>
            </a:r>
          </a:p>
          <a:p>
            <a:pPr marL="0" indent="0">
              <a:buNone/>
            </a:pPr>
            <a:r>
              <a:rPr lang="en-US" dirty="0"/>
              <a:t>total no. of city: 3</a:t>
            </a:r>
          </a:p>
          <a:p>
            <a:pPr marL="0" indent="0">
              <a:buNone/>
            </a:pPr>
            <a:endParaRPr lang="en-US" dirty="0"/>
          </a:p>
          <a:p>
            <a:pPr marL="0" indent="0">
              <a:buNone/>
            </a:pPr>
            <a:r>
              <a:rPr lang="en-US" dirty="0"/>
              <a:t>PL/SQL procedure successfully completed.</a:t>
            </a:r>
            <a:endParaRPr lang="en-IN" dirty="0"/>
          </a:p>
        </p:txBody>
      </p:sp>
    </p:spTree>
    <p:extLst>
      <p:ext uri="{BB962C8B-B14F-4D97-AF65-F5344CB8AC3E}">
        <p14:creationId xmlns:p14="http://schemas.microsoft.com/office/powerpoint/2010/main" val="41532977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68" y="152400"/>
            <a:ext cx="8631621"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95400" y="5943600"/>
            <a:ext cx="7239000" cy="923330"/>
          </a:xfrm>
          <a:prstGeom prst="rect">
            <a:avLst/>
          </a:prstGeom>
          <a:noFill/>
        </p:spPr>
        <p:txBody>
          <a:bodyPr wrap="square" rtlCol="0">
            <a:spAutoFit/>
          </a:bodyPr>
          <a:lstStyle/>
          <a:p>
            <a:r>
              <a:rPr lang="en-IN" dirty="0" smtClean="0"/>
              <a:t>create or replace procedure </a:t>
            </a:r>
            <a:r>
              <a:rPr lang="en-IN" dirty="0" err="1" smtClean="0"/>
              <a:t>minmax</a:t>
            </a:r>
            <a:r>
              <a:rPr lang="en-IN" dirty="0" smtClean="0"/>
              <a:t>(min out number, max out number) is</a:t>
            </a:r>
          </a:p>
          <a:p>
            <a:r>
              <a:rPr lang="en-IN" dirty="0" smtClean="0"/>
              <a:t>begin</a:t>
            </a:r>
          </a:p>
          <a:p>
            <a:r>
              <a:rPr lang="en-IN" dirty="0" smtClean="0"/>
              <a:t> select min(balance) into min, max(balance) into max from account;</a:t>
            </a:r>
            <a:endParaRPr lang="en-IN" dirty="0"/>
          </a:p>
        </p:txBody>
      </p:sp>
    </p:spTree>
    <p:extLst>
      <p:ext uri="{BB962C8B-B14F-4D97-AF65-F5344CB8AC3E}">
        <p14:creationId xmlns:p14="http://schemas.microsoft.com/office/powerpoint/2010/main" val="24709437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fault Theme">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1370</TotalTime>
  <Words>1983</Words>
  <Application>Microsoft Office PowerPoint</Application>
  <PresentationFormat>On-screen Show (4:3)</PresentationFormat>
  <Paragraphs>617</Paragraphs>
  <Slides>71</Slides>
  <Notes>0</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Default Theme</vt:lpstr>
      <vt:lpstr>PL/SQL</vt:lpstr>
      <vt:lpstr>Introduction</vt:lpstr>
      <vt:lpstr>Schema Level</vt:lpstr>
      <vt:lpstr>Package Level</vt:lpstr>
      <vt:lpstr>PL/SQL </vt:lpstr>
      <vt:lpstr>Simple Add – Addition of 2 Numbers</vt:lpstr>
      <vt:lpstr>Getting input  from user</vt:lpstr>
      <vt:lpstr>add</vt:lpstr>
      <vt:lpstr>PL/SQL Variables – Print an integer and float values</vt:lpstr>
      <vt:lpstr>PL/SQL – Constants – Find diameter, circumference, area</vt:lpstr>
      <vt:lpstr>Input from the user</vt:lpstr>
      <vt:lpstr>PowerPoint Presentation</vt:lpstr>
      <vt:lpstr>PL/SQL Basics – If Structure</vt:lpstr>
      <vt:lpstr>PL/SQL Basics – If – Example –  Given number is Greater or lesser</vt:lpstr>
      <vt:lpstr>PL/SQL Basics – If – Example –  Given number is Greater or lesser</vt:lpstr>
      <vt:lpstr>Greatest of 3 numbers</vt:lpstr>
      <vt:lpstr>PL/SQL Basics – Case Structure</vt:lpstr>
      <vt:lpstr>PL/SQL Basics – Case - Example</vt:lpstr>
      <vt:lpstr>PL/SQL Basics – Case - Output</vt:lpstr>
      <vt:lpstr>PL/SQL Basics – Loop - Structure</vt:lpstr>
      <vt:lpstr>PL/SQL Basics – Basic Loop - Structure</vt:lpstr>
      <vt:lpstr>PL/SQL Basics – Basic Loop – Example – Print 1 to 10</vt:lpstr>
      <vt:lpstr>PL/SQL Basics – While Loop - Structure</vt:lpstr>
      <vt:lpstr>PL/SQL Basics – While Loop - Example</vt:lpstr>
      <vt:lpstr>Multiples of 7</vt:lpstr>
      <vt:lpstr>PL/SQL Basics – For Loop - Structure</vt:lpstr>
      <vt:lpstr>PL/SQL Basics – For Loop – Example –  Print 1 to 10</vt:lpstr>
      <vt:lpstr>Incrementing the for loop &gt;2</vt:lpstr>
      <vt:lpstr>PL/SQL Basics – Continue</vt:lpstr>
      <vt:lpstr>PL/SQL Basics – Continue – Example </vt:lpstr>
      <vt:lpstr>PL/SQL Basics – Continue – Output </vt:lpstr>
      <vt:lpstr>Parts of a PL/SQL Subprogram </vt:lpstr>
      <vt:lpstr>Creating a Procedure</vt:lpstr>
      <vt:lpstr>Creating a Procedure</vt:lpstr>
      <vt:lpstr>Executing a Standalone Procedure</vt:lpstr>
      <vt:lpstr>Creating a Procedure</vt:lpstr>
      <vt:lpstr>Executing a Standalone Procedure</vt:lpstr>
      <vt:lpstr>Deleting a Standalone Procedure</vt:lpstr>
      <vt:lpstr>Parameter Modes in PL/SQL – Procedures represented as functions</vt:lpstr>
      <vt:lpstr>IN &amp; OUT Mode Example 1</vt:lpstr>
      <vt:lpstr>IN &amp; OUT Mode Example 1</vt:lpstr>
      <vt:lpstr>PowerPoint Presentation</vt:lpstr>
      <vt:lpstr>PowerPoint Presentation</vt:lpstr>
      <vt:lpstr>IN &amp; OUT Mode Example 2</vt:lpstr>
      <vt:lpstr>PowerPoint Presentation</vt:lpstr>
      <vt:lpstr>Procedure accessing Tables</vt:lpstr>
      <vt:lpstr>Procedure – student table</vt:lpstr>
      <vt:lpstr>PowerPoint Presentation</vt:lpstr>
      <vt:lpstr>Inventory Table</vt:lpstr>
      <vt:lpstr>Insert Procedure</vt:lpstr>
      <vt:lpstr>Compiling and Executing</vt:lpstr>
      <vt:lpstr>Executing Insert Procedure:</vt:lpstr>
      <vt:lpstr>Executing Insert Procedure:</vt:lpstr>
      <vt:lpstr>Executing Insert Procedure:</vt:lpstr>
      <vt:lpstr>Delete Procedure:</vt:lpstr>
      <vt:lpstr>Executing Delete Procedure:</vt:lpstr>
      <vt:lpstr>Update Procedure:</vt:lpstr>
      <vt:lpstr>Update Procedure:</vt:lpstr>
      <vt:lpstr>Creating a Function</vt:lpstr>
      <vt:lpstr>Creating a Function</vt:lpstr>
      <vt:lpstr>Basic function</vt:lpstr>
      <vt:lpstr>Output </vt:lpstr>
      <vt:lpstr>PowerPoint Presentation</vt:lpstr>
      <vt:lpstr>Output</vt:lpstr>
      <vt:lpstr>PowerPoint Presentation</vt:lpstr>
      <vt:lpstr> Example:</vt:lpstr>
      <vt:lpstr>Function accessing tables</vt:lpstr>
      <vt:lpstr>Calling a Function</vt:lpstr>
      <vt:lpstr>Output</vt:lpstr>
      <vt:lpstr>Procedure with Tables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PL/SQL</dc:title>
  <dc:creator>Administrator</dc:creator>
  <cp:lastModifiedBy>Premalatha M</cp:lastModifiedBy>
  <cp:revision>143</cp:revision>
  <dcterms:created xsi:type="dcterms:W3CDTF">2015-03-22T16:11:17Z</dcterms:created>
  <dcterms:modified xsi:type="dcterms:W3CDTF">2024-03-12T03:45:21Z</dcterms:modified>
</cp:coreProperties>
</file>